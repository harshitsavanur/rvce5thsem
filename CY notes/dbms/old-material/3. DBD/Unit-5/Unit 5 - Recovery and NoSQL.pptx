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59" r:id="rId5"/>
    <p:sldId id="260" r:id="rId6"/>
    <p:sldId id="261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76" r:id="rId16"/>
    <p:sldId id="266" r:id="rId17"/>
    <p:sldId id="267" r:id="rId18"/>
    <p:sldId id="268" r:id="rId19"/>
    <p:sldId id="269" r:id="rId20"/>
    <p:sldId id="270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-696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6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551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0638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15713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8599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103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89788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81663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46492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6768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28175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D74C-04EF-40BA-9F19-E8F66D5D5B64}" type="datetimeFigureOut">
              <a:rPr lang="en-US" smtClean="0"/>
              <a:pPr/>
              <a:t>8/14/2020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4206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975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1092" b="1" dirty="0" err="1"/>
              <a:t>Improvi</a:t>
            </a:r>
            <a:endParaRPr lang="en-US" sz="1092" dirty="0"/>
          </a:p>
        </p:txBody>
      </p:sp>
      <p:sp>
        <p:nvSpPr>
          <p:cNvPr id="8195" name="object 3"/>
          <p:cNvSpPr>
            <a:spLocks/>
          </p:cNvSpPr>
          <p:nvPr/>
        </p:nvSpPr>
        <p:spPr bwMode="auto">
          <a:xfrm>
            <a:off x="-14974" y="0"/>
            <a:ext cx="5686441" cy="3927659"/>
          </a:xfrm>
          <a:custGeom>
            <a:avLst/>
            <a:gdLst>
              <a:gd name="T0" fmla="*/ 768415866 w 7436484"/>
              <a:gd name="T1" fmla="*/ 0 h 5134610"/>
              <a:gd name="T2" fmla="*/ 0 w 7436484"/>
              <a:gd name="T3" fmla="*/ 0 h 5134610"/>
              <a:gd name="T4" fmla="*/ 0 w 7436484"/>
              <a:gd name="T5" fmla="*/ 534451769 h 5134610"/>
              <a:gd name="T6" fmla="*/ 768415866 w 7436484"/>
              <a:gd name="T7" fmla="*/ 0 h 513461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436484" h="5134610">
                <a:moveTo>
                  <a:pt x="7435941" y="0"/>
                </a:moveTo>
                <a:lnTo>
                  <a:pt x="0" y="0"/>
                </a:lnTo>
                <a:lnTo>
                  <a:pt x="0" y="5134513"/>
                </a:lnTo>
                <a:lnTo>
                  <a:pt x="7435941" y="0"/>
                </a:lnTo>
                <a:close/>
              </a:path>
            </a:pathLst>
          </a:custGeom>
          <a:solidFill>
            <a:srgbClr val="005893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8196" name="object 4"/>
          <p:cNvSpPr>
            <a:spLocks noChangeArrowheads="1"/>
          </p:cNvSpPr>
          <p:nvPr/>
        </p:nvSpPr>
        <p:spPr bwMode="auto">
          <a:xfrm>
            <a:off x="286339" y="252217"/>
            <a:ext cx="1119575" cy="1116687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3398623" y="810561"/>
            <a:ext cx="88565" cy="89528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6" name="object 6"/>
          <p:cNvSpPr txBox="1"/>
          <p:nvPr/>
        </p:nvSpPr>
        <p:spPr>
          <a:xfrm>
            <a:off x="1521433" y="437049"/>
            <a:ext cx="2310387" cy="739134"/>
          </a:xfrm>
          <a:prstGeom prst="rect">
            <a:avLst/>
          </a:prstGeom>
        </p:spPr>
        <p:txBody>
          <a:bodyPr lIns="0" tIns="8086" rIns="0" bIns="0">
            <a:spAutoFit/>
          </a:bodyPr>
          <a:lstStyle/>
          <a:p>
            <a:pPr marL="7701">
              <a:lnSpc>
                <a:spcPts val="2847"/>
              </a:lnSpc>
              <a:spcBef>
                <a:spcPts val="64"/>
              </a:spcBef>
              <a:defRPr/>
            </a:pPr>
            <a:r>
              <a:rPr lang="en-IN" sz="2577" b="1" spc="-21" dirty="0">
                <a:solidFill>
                  <a:srgbClr val="FFFFFF"/>
                </a:solidFill>
                <a:latin typeface="Helvetica-Bold"/>
                <a:ea typeface="ＭＳ Ｐゴシック" charset="0"/>
                <a:cs typeface="Helvetica-Bold"/>
              </a:rPr>
              <a:t>RV College of </a:t>
            </a:r>
          </a:p>
          <a:p>
            <a:pPr marL="7701">
              <a:lnSpc>
                <a:spcPts val="2847"/>
              </a:lnSpc>
              <a:spcBef>
                <a:spcPts val="64"/>
              </a:spcBef>
              <a:defRPr/>
            </a:pPr>
            <a:r>
              <a:rPr lang="en-IN" sz="2577" b="1" spc="-21" dirty="0">
                <a:solidFill>
                  <a:srgbClr val="FFFFFF"/>
                </a:solidFill>
                <a:latin typeface="Helvetica-Bold"/>
                <a:ea typeface="ＭＳ Ｐゴシック" charset="0"/>
                <a:cs typeface="Helvetica-Bold"/>
              </a:rPr>
              <a:t>Engineering</a:t>
            </a:r>
            <a:endParaRPr sz="2577" dirty="0">
              <a:latin typeface="Helvetica-Bold"/>
              <a:ea typeface="ＭＳ Ｐゴシック" charset="0"/>
              <a:cs typeface="Helvetica-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74330" y="247404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sp>
        <p:nvSpPr>
          <p:cNvPr id="820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85E639D2-DF99-4E79-9C98-C54A1FDF2458}" type="slidenum">
              <a:rPr lang="en-US" altLang="en-US" smtClean="0">
                <a:solidFill>
                  <a:srgbClr val="898989"/>
                </a:solidFill>
              </a:rPr>
              <a:pPr/>
              <a:t>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8202" name="TextBox 4"/>
          <p:cNvSpPr txBox="1">
            <a:spLocks noChangeArrowheads="1"/>
          </p:cNvSpPr>
          <p:nvPr/>
        </p:nvSpPr>
        <p:spPr bwMode="auto">
          <a:xfrm>
            <a:off x="6868377" y="4469025"/>
            <a:ext cx="4417654" cy="1691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</a:rPr>
              <a:t>Original Content:                                                        </a:t>
            </a:r>
            <a:r>
              <a:rPr lang="en-US" sz="1600" dirty="0" err="1" smtClean="0">
                <a:solidFill>
                  <a:srgbClr val="000000"/>
                </a:solidFill>
              </a:rPr>
              <a:t>Ramez</a:t>
            </a:r>
            <a:r>
              <a:rPr lang="en-US" sz="1600" dirty="0" smtClean="0">
                <a:solidFill>
                  <a:srgbClr val="000000"/>
                </a:solidFill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</a:rPr>
              <a:t>Elmasri</a:t>
            </a:r>
            <a:r>
              <a:rPr lang="en-US" sz="1600" dirty="0" smtClean="0">
                <a:solidFill>
                  <a:srgbClr val="000000"/>
                </a:solidFill>
              </a:rPr>
              <a:t> and </a:t>
            </a:r>
            <a:r>
              <a:rPr lang="en-US" sz="1600" dirty="0" err="1" smtClean="0">
                <a:solidFill>
                  <a:srgbClr val="000000"/>
                </a:solidFill>
              </a:rPr>
              <a:t>Shamkant</a:t>
            </a:r>
            <a:r>
              <a:rPr lang="en-US" sz="1600" dirty="0" smtClean="0">
                <a:solidFill>
                  <a:srgbClr val="000000"/>
                </a:solidFill>
              </a:rPr>
              <a:t> B. </a:t>
            </a:r>
            <a:r>
              <a:rPr lang="en-US" sz="1600" dirty="0" err="1" smtClean="0">
                <a:solidFill>
                  <a:srgbClr val="000000"/>
                </a:solidFill>
              </a:rPr>
              <a:t>Navathe</a:t>
            </a:r>
            <a:endParaRPr lang="en-US" altLang="en-US" sz="240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98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98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altLang="en-US" sz="1698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G. </a:t>
            </a:r>
            <a:r>
              <a:rPr lang="en-US" altLang="en-US" sz="1698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Shobha</a:t>
            </a:r>
            <a:r>
              <a:rPr lang="en-US" altLang="en-US" sz="1698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en-US" sz="1698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</a:t>
            </a:r>
            <a:r>
              <a:rPr lang="en-US" altLang="en-US" sz="1698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  <a:r>
              <a:rPr lang="en-US" altLang="en-US" sz="1698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Department</a:t>
            </a:r>
          </a:p>
          <a:p>
            <a:r>
              <a:rPr lang="en-US" altLang="en-US" sz="1698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 College of Engineering, </a:t>
            </a:r>
            <a:r>
              <a:rPr lang="en-US" altLang="en-US" sz="1698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Bengaluru</a:t>
            </a:r>
            <a:r>
              <a:rPr lang="en-US" altLang="en-US" sz="1698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31820" y="2286000"/>
            <a:ext cx="59425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Unit 5 (Recovery Concepts &amp; </a:t>
            </a:r>
            <a:r>
              <a:rPr lang="en-US" sz="4000" dirty="0" err="1" smtClean="0"/>
              <a:t>NoSql</a:t>
            </a:r>
            <a:r>
              <a:rPr lang="en-US" sz="4000" dirty="0" smtClean="0"/>
              <a:t>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xmlns="" val="372572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3" name="object 8"/>
          <p:cNvSpPr txBox="1">
            <a:spLocks noChangeArrowheads="1"/>
          </p:cNvSpPr>
          <p:nvPr/>
        </p:nvSpPr>
        <p:spPr bwMode="auto">
          <a:xfrm>
            <a:off x="2676626" y="704668"/>
            <a:ext cx="6785801" cy="380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316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61"/>
              </a:spcBef>
            </a:pPr>
            <a:r>
              <a:rPr lang="en-US" altLang="en-US" sz="2426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CONTENTS</a:t>
            </a: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95470" y="1690688"/>
            <a:ext cx="91848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Recovery algorithms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Recovery </a:t>
            </a:r>
            <a:r>
              <a:rPr lang="en-US" sz="4000" dirty="0"/>
              <a:t>concepts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sz="2400" dirty="0" smtClean="0"/>
              <a:t>Write-ahead </a:t>
            </a:r>
            <a:r>
              <a:rPr lang="en-US" sz="2400" dirty="0"/>
              <a:t>logging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In-place </a:t>
            </a:r>
            <a:r>
              <a:rPr lang="en-US" sz="2400" dirty="0"/>
              <a:t>versus shadow updates</a:t>
            </a:r>
          </a:p>
          <a:p>
            <a:r>
              <a:rPr lang="en-US" sz="2400" dirty="0" smtClean="0"/>
              <a:t>		Rollback</a:t>
            </a:r>
            <a:endParaRPr lang="en-US" sz="2400" dirty="0"/>
          </a:p>
          <a:p>
            <a:r>
              <a:rPr lang="en-US" sz="2400" dirty="0"/>
              <a:t>	</a:t>
            </a:r>
            <a:r>
              <a:rPr lang="en-US" sz="2400" dirty="0" smtClean="0"/>
              <a:t>	Deferred </a:t>
            </a:r>
            <a:r>
              <a:rPr lang="en-US" sz="2400" dirty="0"/>
              <a:t>update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Immediate </a:t>
            </a:r>
            <a:r>
              <a:rPr lang="en-US" sz="2400" dirty="0"/>
              <a:t>update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Certain </a:t>
            </a:r>
            <a:r>
              <a:rPr lang="en-US" sz="4000" dirty="0"/>
              <a:t>recovery techniques best used </a:t>
            </a:r>
            <a:r>
              <a:rPr lang="en-US" sz="4000" dirty="0" smtClean="0"/>
              <a:t>with specific </a:t>
            </a:r>
            <a:r>
              <a:rPr lang="en-US" sz="4000" dirty="0"/>
              <a:t>concurrency control methods</a:t>
            </a:r>
          </a:p>
        </p:txBody>
      </p:sp>
    </p:spTree>
    <p:extLst>
      <p:ext uri="{BB962C8B-B14F-4D97-AF65-F5344CB8AC3E}">
        <p14:creationId xmlns:p14="http://schemas.microsoft.com/office/powerpoint/2010/main" xmlns="" val="418426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180305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393" y="77783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Recovery </a:t>
            </a:r>
            <a:r>
              <a:rPr lang="en-US" dirty="0" smtClean="0"/>
              <a:t>Concepts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5563" y="2103394"/>
            <a:ext cx="95066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Recovery process restores database to </a:t>
            </a:r>
            <a:r>
              <a:rPr lang="en-US" sz="2400" dirty="0" smtClean="0"/>
              <a:t>most recent </a:t>
            </a:r>
            <a:r>
              <a:rPr lang="en-US" sz="2400" dirty="0"/>
              <a:t>consistent state before time of failure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Information </a:t>
            </a:r>
            <a:r>
              <a:rPr lang="en-US" sz="2400" dirty="0"/>
              <a:t>kept in system log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Typical </a:t>
            </a:r>
            <a:r>
              <a:rPr lang="en-US" sz="2400" dirty="0"/>
              <a:t>recovery strategies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- Restore </a:t>
            </a:r>
            <a:r>
              <a:rPr lang="en-US" sz="2400" dirty="0"/>
              <a:t>backed-up copy of database</a:t>
            </a:r>
          </a:p>
          <a:p>
            <a:r>
              <a:rPr lang="en-US" sz="2400" dirty="0" smtClean="0"/>
              <a:t>               		Best </a:t>
            </a:r>
            <a:r>
              <a:rPr lang="en-US" sz="2400" dirty="0"/>
              <a:t>in cases of extensive </a:t>
            </a:r>
            <a:r>
              <a:rPr lang="en-US" sz="2400" dirty="0" smtClean="0"/>
              <a:t>damage</a:t>
            </a:r>
          </a:p>
          <a:p>
            <a:r>
              <a:rPr lang="en-US" sz="2400" dirty="0" smtClean="0"/>
              <a:t>        		- Identify </a:t>
            </a:r>
            <a:r>
              <a:rPr lang="en-US" sz="2400" dirty="0"/>
              <a:t>any changes that may cause inconsistency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          		Best </a:t>
            </a:r>
            <a:r>
              <a:rPr lang="en-US" sz="2400" dirty="0"/>
              <a:t>in cases of </a:t>
            </a:r>
            <a:r>
              <a:rPr lang="en-US" sz="2400" dirty="0" err="1"/>
              <a:t>noncatastrophic</a:t>
            </a:r>
            <a:r>
              <a:rPr lang="en-US" sz="2400" dirty="0"/>
              <a:t> failure</a:t>
            </a:r>
          </a:p>
          <a:p>
            <a:r>
              <a:rPr lang="en-US" sz="2400" dirty="0" smtClean="0"/>
              <a:t>	     		Some </a:t>
            </a:r>
            <a:r>
              <a:rPr lang="en-US" sz="2400" dirty="0"/>
              <a:t>operations may require redo</a:t>
            </a:r>
          </a:p>
        </p:txBody>
      </p:sp>
    </p:spTree>
    <p:extLst>
      <p:ext uri="{BB962C8B-B14F-4D97-AF65-F5344CB8AC3E}">
        <p14:creationId xmlns:p14="http://schemas.microsoft.com/office/powerpoint/2010/main" xmlns="" val="229046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1432" y="1701769"/>
            <a:ext cx="7531805" cy="45933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669600" y="895015"/>
            <a:ext cx="4234613" cy="45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8434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9555" y="867072"/>
            <a:ext cx="9502015" cy="536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8398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8199" y="971051"/>
            <a:ext cx="9271715" cy="448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8809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46813" y="1426640"/>
            <a:ext cx="8263102" cy="400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1122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97229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52472" y="1080794"/>
            <a:ext cx="7226322" cy="504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7487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99197" y="1516359"/>
            <a:ext cx="5993606" cy="382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561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2067" y="1430718"/>
            <a:ext cx="5667866" cy="399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2996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66623" y="1602000"/>
            <a:ext cx="6058754" cy="36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4902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68901" y="1186031"/>
            <a:ext cx="6254197" cy="448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383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66623" y="1916015"/>
            <a:ext cx="6058754" cy="302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0457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34049" y="1263515"/>
            <a:ext cx="6123902" cy="433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459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82127" y="1126729"/>
            <a:ext cx="4397482" cy="53178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65733" y="2657238"/>
            <a:ext cx="1889289" cy="209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2712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85188" y="1137093"/>
            <a:ext cx="6221623" cy="458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37649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96919" y="1406250"/>
            <a:ext cx="5798162" cy="404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1956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50336" y="1226812"/>
            <a:ext cx="6091328" cy="440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9701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82910" y="1251281"/>
            <a:ext cx="6026180" cy="435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6238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82910" y="1267593"/>
            <a:ext cx="6026180" cy="43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2451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9692" y="895195"/>
            <a:ext cx="4788370" cy="10929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55254" y="2717674"/>
            <a:ext cx="6058754" cy="34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888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5484" y="1345078"/>
            <a:ext cx="5961032" cy="41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5401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45780" y="1263515"/>
            <a:ext cx="5700440" cy="433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0561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64345" y="1336921"/>
            <a:ext cx="5863310" cy="418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8288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66623" y="1247203"/>
            <a:ext cx="6058754" cy="436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412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31771" y="1283906"/>
            <a:ext cx="5928458" cy="429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1668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45780" y="1181953"/>
            <a:ext cx="5700440" cy="449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3119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5484" y="1349156"/>
            <a:ext cx="5961032" cy="415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5116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975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1092" b="1" dirty="0" err="1"/>
              <a:t>Improvi</a:t>
            </a:r>
            <a:endParaRPr lang="en-US" sz="1092" dirty="0"/>
          </a:p>
        </p:txBody>
      </p:sp>
      <p:sp>
        <p:nvSpPr>
          <p:cNvPr id="8195" name="object 3"/>
          <p:cNvSpPr>
            <a:spLocks/>
          </p:cNvSpPr>
          <p:nvPr/>
        </p:nvSpPr>
        <p:spPr bwMode="auto">
          <a:xfrm>
            <a:off x="-14974" y="0"/>
            <a:ext cx="5686441" cy="3927659"/>
          </a:xfrm>
          <a:custGeom>
            <a:avLst/>
            <a:gdLst>
              <a:gd name="T0" fmla="*/ 768415866 w 7436484"/>
              <a:gd name="T1" fmla="*/ 0 h 5134610"/>
              <a:gd name="T2" fmla="*/ 0 w 7436484"/>
              <a:gd name="T3" fmla="*/ 0 h 5134610"/>
              <a:gd name="T4" fmla="*/ 0 w 7436484"/>
              <a:gd name="T5" fmla="*/ 534451769 h 5134610"/>
              <a:gd name="T6" fmla="*/ 768415866 w 7436484"/>
              <a:gd name="T7" fmla="*/ 0 h 513461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436484" h="5134610">
                <a:moveTo>
                  <a:pt x="7435941" y="0"/>
                </a:moveTo>
                <a:lnTo>
                  <a:pt x="0" y="0"/>
                </a:lnTo>
                <a:lnTo>
                  <a:pt x="0" y="5134513"/>
                </a:lnTo>
                <a:lnTo>
                  <a:pt x="7435941" y="0"/>
                </a:lnTo>
                <a:close/>
              </a:path>
            </a:pathLst>
          </a:custGeom>
          <a:solidFill>
            <a:srgbClr val="005893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8196" name="object 4"/>
          <p:cNvSpPr>
            <a:spLocks noChangeArrowheads="1"/>
          </p:cNvSpPr>
          <p:nvPr/>
        </p:nvSpPr>
        <p:spPr bwMode="auto">
          <a:xfrm>
            <a:off x="286339" y="252217"/>
            <a:ext cx="1119575" cy="1116687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3398623" y="810561"/>
            <a:ext cx="88565" cy="89528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6" name="object 6"/>
          <p:cNvSpPr txBox="1"/>
          <p:nvPr/>
        </p:nvSpPr>
        <p:spPr>
          <a:xfrm>
            <a:off x="1521433" y="437049"/>
            <a:ext cx="2310387" cy="739134"/>
          </a:xfrm>
          <a:prstGeom prst="rect">
            <a:avLst/>
          </a:prstGeom>
        </p:spPr>
        <p:txBody>
          <a:bodyPr lIns="0" tIns="8086" rIns="0" bIns="0">
            <a:spAutoFit/>
          </a:bodyPr>
          <a:lstStyle/>
          <a:p>
            <a:pPr marL="7701">
              <a:lnSpc>
                <a:spcPts val="2847"/>
              </a:lnSpc>
              <a:spcBef>
                <a:spcPts val="64"/>
              </a:spcBef>
              <a:defRPr/>
            </a:pPr>
            <a:r>
              <a:rPr lang="en-IN" sz="2577" b="1" spc="-21" dirty="0">
                <a:solidFill>
                  <a:srgbClr val="FFFFFF"/>
                </a:solidFill>
                <a:latin typeface="Helvetica-Bold"/>
                <a:ea typeface="ＭＳ Ｐゴシック" charset="0"/>
                <a:cs typeface="Helvetica-Bold"/>
              </a:rPr>
              <a:t>RV College of </a:t>
            </a:r>
          </a:p>
          <a:p>
            <a:pPr marL="7701">
              <a:lnSpc>
                <a:spcPts val="2847"/>
              </a:lnSpc>
              <a:spcBef>
                <a:spcPts val="64"/>
              </a:spcBef>
              <a:defRPr/>
            </a:pPr>
            <a:r>
              <a:rPr lang="en-IN" sz="2577" b="1" spc="-21" dirty="0">
                <a:solidFill>
                  <a:srgbClr val="FFFFFF"/>
                </a:solidFill>
                <a:latin typeface="Helvetica-Bold"/>
                <a:ea typeface="ＭＳ Ｐゴシック" charset="0"/>
                <a:cs typeface="Helvetica-Bold"/>
              </a:rPr>
              <a:t>Engineering</a:t>
            </a:r>
            <a:endParaRPr sz="2577" dirty="0">
              <a:latin typeface="Helvetica-Bold"/>
              <a:ea typeface="ＭＳ Ｐゴシック" charset="0"/>
              <a:cs typeface="Helvetica-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74330" y="247404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sp>
        <p:nvSpPr>
          <p:cNvPr id="820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85E639D2-DF99-4E79-9C98-C54A1FDF2458}" type="slidenum">
              <a:rPr lang="en-US" altLang="en-US" smtClean="0">
                <a:solidFill>
                  <a:srgbClr val="898989"/>
                </a:solidFill>
              </a:rPr>
              <a:pPr/>
              <a:t>29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8202" name="TextBox 4"/>
          <p:cNvSpPr txBox="1">
            <a:spLocks noChangeArrowheads="1"/>
          </p:cNvSpPr>
          <p:nvPr/>
        </p:nvSpPr>
        <p:spPr bwMode="auto">
          <a:xfrm>
            <a:off x="8129141" y="5092479"/>
            <a:ext cx="4417654" cy="87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98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G. Shobha </a:t>
            </a:r>
          </a:p>
          <a:p>
            <a:r>
              <a:rPr lang="en-US" altLang="en-US" sz="1698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CSE Department</a:t>
            </a:r>
          </a:p>
          <a:p>
            <a:r>
              <a:rPr lang="en-US" altLang="en-US" sz="1698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 College of Engineering, Bengaluru - 59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5640" y="2446986"/>
            <a:ext cx="32712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5</a:t>
            </a:r>
          </a:p>
          <a:p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5591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85188" y="1361390"/>
            <a:ext cx="6221623" cy="413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3868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2067" y="1373625"/>
            <a:ext cx="5667866" cy="411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3818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10928" y="1377703"/>
            <a:ext cx="5570144" cy="410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1197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08649" y="1451109"/>
            <a:ext cx="5374701" cy="395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594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22658" y="1389937"/>
            <a:ext cx="5146683" cy="407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7953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92362" y="1341000"/>
            <a:ext cx="5407275" cy="41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8157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29493" y="1304296"/>
            <a:ext cx="5733014" cy="424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6155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43501" y="1467421"/>
            <a:ext cx="5504997" cy="392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1741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94980" y="1141171"/>
            <a:ext cx="4202039" cy="457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8232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29493" y="1296140"/>
            <a:ext cx="5733014" cy="426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9670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2067" y="1279828"/>
            <a:ext cx="5667866" cy="429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5440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36667" y="1267593"/>
            <a:ext cx="4918666" cy="43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9598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29493" y="1548984"/>
            <a:ext cx="5733014" cy="37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5735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53803" y="1316531"/>
            <a:ext cx="6822713" cy="422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15471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31771" y="1267593"/>
            <a:ext cx="5928458" cy="43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4143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48058" y="1430718"/>
            <a:ext cx="5895884" cy="399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00862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99197" y="1373625"/>
            <a:ext cx="5993606" cy="411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4973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59788" y="1630546"/>
            <a:ext cx="5472423" cy="359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5225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82910" y="1438875"/>
            <a:ext cx="6026180" cy="398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4038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43501" y="1328765"/>
            <a:ext cx="5504997" cy="420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241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94641" y="1341000"/>
            <a:ext cx="5602718" cy="41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2955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8354" y="1479656"/>
            <a:ext cx="5635292" cy="389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7056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29493" y="1434796"/>
            <a:ext cx="5733014" cy="398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0269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80632" y="1243125"/>
            <a:ext cx="5830736" cy="43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7136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96919" y="1398093"/>
            <a:ext cx="5798162" cy="406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4602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24936" y="2038359"/>
            <a:ext cx="5342127" cy="278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1745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22658" y="1255359"/>
            <a:ext cx="5146683" cy="434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3970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48058" y="1255359"/>
            <a:ext cx="5895884" cy="434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3989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92362" y="1349156"/>
            <a:ext cx="5407275" cy="415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0083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08649" y="1638703"/>
            <a:ext cx="5374701" cy="358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9830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94641" y="1553062"/>
            <a:ext cx="5602718" cy="37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2020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59788" y="1916015"/>
            <a:ext cx="5472423" cy="302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767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2067" y="1300218"/>
            <a:ext cx="5667866" cy="425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9806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55232" y="1809984"/>
            <a:ext cx="5081535" cy="323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9669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8354" y="1267593"/>
            <a:ext cx="5635292" cy="43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8775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69241" y="1479656"/>
            <a:ext cx="4853518" cy="389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8105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82910" y="1128937"/>
            <a:ext cx="6026180" cy="46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6511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5484" y="1267593"/>
            <a:ext cx="5961032" cy="43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0077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13206" y="1438875"/>
            <a:ext cx="5765588" cy="398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1868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2067" y="1263515"/>
            <a:ext cx="5667866" cy="433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0945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70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8354" y="1773281"/>
            <a:ext cx="5635292" cy="331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88825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71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13206" y="1145250"/>
            <a:ext cx="5765588" cy="45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5833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72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08649" y="1430718"/>
            <a:ext cx="5374701" cy="399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4976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73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2067" y="1398093"/>
            <a:ext cx="5667866" cy="406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2233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815</Words>
  <Application>Microsoft Office PowerPoint</Application>
  <PresentationFormat>Custom</PresentationFormat>
  <Paragraphs>393</Paragraphs>
  <Slides>73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4" baseType="lpstr">
      <vt:lpstr>Office Theme</vt:lpstr>
      <vt:lpstr>Slide 1</vt:lpstr>
      <vt:lpstr>    </vt:lpstr>
      <vt:lpstr>  Recovery Concepts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Slide 29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Shobha G</dc:creator>
  <cp:lastModifiedBy>poonam</cp:lastModifiedBy>
  <cp:revision>11</cp:revision>
  <dcterms:created xsi:type="dcterms:W3CDTF">2020-07-10T04:48:04Z</dcterms:created>
  <dcterms:modified xsi:type="dcterms:W3CDTF">2020-08-14T05:08:40Z</dcterms:modified>
</cp:coreProperties>
</file>