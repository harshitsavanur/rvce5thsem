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59" r:id="rId5"/>
    <p:sldId id="260" r:id="rId6"/>
    <p:sldId id="261" r:id="rId7"/>
    <p:sldId id="263" r:id="rId8"/>
    <p:sldId id="264" r:id="rId9"/>
    <p:sldId id="265" r:id="rId10"/>
    <p:sldId id="271" r:id="rId11"/>
    <p:sldId id="272" r:id="rId12"/>
    <p:sldId id="273" r:id="rId13"/>
    <p:sldId id="274" r:id="rId14"/>
    <p:sldId id="275" r:id="rId15"/>
    <p:sldId id="276" r:id="rId16"/>
    <p:sldId id="266" r:id="rId17"/>
    <p:sldId id="267" r:id="rId18"/>
    <p:sldId id="268" r:id="rId19"/>
    <p:sldId id="269" r:id="rId20"/>
    <p:sldId id="270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32" y="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638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13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599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33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88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63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492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8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D74C-04EF-40BA-9F19-E8F66D5D5B64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75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D74C-04EF-40BA-9F19-E8F66D5D5B64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3BF84-9C12-4E24-9976-A2988F2333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6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4975" y="0"/>
            <a:ext cx="12191144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1092" b="1" dirty="0" err="1"/>
              <a:t>Improvi</a:t>
            </a:r>
            <a:endParaRPr lang="en-US" sz="1092" dirty="0"/>
          </a:p>
        </p:txBody>
      </p:sp>
      <p:sp>
        <p:nvSpPr>
          <p:cNvPr id="8195" name="object 3"/>
          <p:cNvSpPr>
            <a:spLocks/>
          </p:cNvSpPr>
          <p:nvPr/>
        </p:nvSpPr>
        <p:spPr bwMode="auto">
          <a:xfrm>
            <a:off x="-14974" y="0"/>
            <a:ext cx="5686441" cy="3927659"/>
          </a:xfrm>
          <a:custGeom>
            <a:avLst/>
            <a:gdLst>
              <a:gd name="T0" fmla="*/ 768415866 w 7436484"/>
              <a:gd name="T1" fmla="*/ 0 h 5134610"/>
              <a:gd name="T2" fmla="*/ 0 w 7436484"/>
              <a:gd name="T3" fmla="*/ 0 h 5134610"/>
              <a:gd name="T4" fmla="*/ 0 w 7436484"/>
              <a:gd name="T5" fmla="*/ 534451769 h 5134610"/>
              <a:gd name="T6" fmla="*/ 768415866 w 7436484"/>
              <a:gd name="T7" fmla="*/ 0 h 513461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436484" h="5134610">
                <a:moveTo>
                  <a:pt x="7435941" y="0"/>
                </a:moveTo>
                <a:lnTo>
                  <a:pt x="0" y="0"/>
                </a:lnTo>
                <a:lnTo>
                  <a:pt x="0" y="5134513"/>
                </a:lnTo>
                <a:lnTo>
                  <a:pt x="7435941" y="0"/>
                </a:lnTo>
                <a:close/>
              </a:path>
            </a:pathLst>
          </a:custGeom>
          <a:solidFill>
            <a:srgbClr val="00589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8196" name="object 4"/>
          <p:cNvSpPr>
            <a:spLocks noChangeArrowheads="1"/>
          </p:cNvSpPr>
          <p:nvPr/>
        </p:nvSpPr>
        <p:spPr bwMode="auto">
          <a:xfrm>
            <a:off x="286339" y="252217"/>
            <a:ext cx="1119575" cy="1116687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3398623" y="810561"/>
            <a:ext cx="88565" cy="89528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6" name="object 6"/>
          <p:cNvSpPr txBox="1"/>
          <p:nvPr/>
        </p:nvSpPr>
        <p:spPr>
          <a:xfrm>
            <a:off x="1521433" y="437049"/>
            <a:ext cx="2310387" cy="739134"/>
          </a:xfrm>
          <a:prstGeom prst="rect">
            <a:avLst/>
          </a:prstGeom>
        </p:spPr>
        <p:txBody>
          <a:bodyPr lIns="0" tIns="8086" rIns="0" bIns="0">
            <a:spAutoFit/>
          </a:bodyPr>
          <a:lstStyle/>
          <a:p>
            <a:pPr marL="7701">
              <a:lnSpc>
                <a:spcPts val="2847"/>
              </a:lnSpc>
              <a:spcBef>
                <a:spcPts val="64"/>
              </a:spcBef>
              <a:defRPr/>
            </a:pPr>
            <a:r>
              <a:rPr lang="en-IN" sz="2577" b="1" spc="-21" dirty="0">
                <a:solidFill>
                  <a:srgbClr val="FFFFFF"/>
                </a:solidFill>
                <a:latin typeface="Helvetica-Bold"/>
                <a:ea typeface="ＭＳ Ｐゴシック" charset="0"/>
                <a:cs typeface="Helvetica-Bold"/>
              </a:rPr>
              <a:t>RV College of </a:t>
            </a:r>
          </a:p>
          <a:p>
            <a:pPr marL="7701">
              <a:lnSpc>
                <a:spcPts val="2847"/>
              </a:lnSpc>
              <a:spcBef>
                <a:spcPts val="64"/>
              </a:spcBef>
              <a:defRPr/>
            </a:pPr>
            <a:r>
              <a:rPr lang="en-IN" sz="2577" b="1" spc="-21" dirty="0">
                <a:solidFill>
                  <a:srgbClr val="FFFFFF"/>
                </a:solidFill>
                <a:latin typeface="Helvetica-Bold"/>
                <a:ea typeface="ＭＳ Ｐゴシック" charset="0"/>
                <a:cs typeface="Helvetica-Bold"/>
              </a:rPr>
              <a:t>Engineering</a:t>
            </a:r>
            <a:endParaRPr sz="2577" dirty="0">
              <a:latin typeface="Helvetica-Bold"/>
              <a:ea typeface="ＭＳ Ｐゴシック" charset="0"/>
              <a:cs typeface="Helvetica-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74330" y="247404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sp>
        <p:nvSpPr>
          <p:cNvPr id="820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85E639D2-DF99-4E79-9C98-C54A1FDF2458}" type="slidenum">
              <a:rPr lang="en-US" altLang="en-US" smtClean="0">
                <a:solidFill>
                  <a:srgbClr val="898989"/>
                </a:solidFill>
              </a:rPr>
              <a:pPr/>
              <a:t>1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8202" name="TextBox 4"/>
          <p:cNvSpPr txBox="1">
            <a:spLocks noChangeArrowheads="1"/>
          </p:cNvSpPr>
          <p:nvPr/>
        </p:nvSpPr>
        <p:spPr bwMode="auto">
          <a:xfrm>
            <a:off x="6868377" y="4469025"/>
            <a:ext cx="4417654" cy="1691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600" dirty="0" smtClean="0">
                <a:solidFill>
                  <a:srgbClr val="000000"/>
                </a:solidFill>
              </a:rPr>
              <a:t>Original Content:                                                        </a:t>
            </a:r>
            <a:r>
              <a:rPr lang="en-US" sz="1600" dirty="0" err="1" smtClean="0">
                <a:solidFill>
                  <a:srgbClr val="000000"/>
                </a:solidFill>
              </a:rPr>
              <a:t>Ramez</a:t>
            </a:r>
            <a:r>
              <a:rPr lang="en-US" sz="1600" dirty="0" smtClean="0">
                <a:solidFill>
                  <a:srgbClr val="000000"/>
                </a:solidFill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</a:rPr>
              <a:t>Elmasri</a:t>
            </a:r>
            <a:r>
              <a:rPr lang="en-US" sz="1600" dirty="0" smtClean="0">
                <a:solidFill>
                  <a:srgbClr val="000000"/>
                </a:solidFill>
              </a:rPr>
              <a:t> and </a:t>
            </a:r>
            <a:r>
              <a:rPr lang="en-US" sz="1600" dirty="0" err="1" smtClean="0">
                <a:solidFill>
                  <a:srgbClr val="000000"/>
                </a:solidFill>
              </a:rPr>
              <a:t>Shamkant</a:t>
            </a:r>
            <a:r>
              <a:rPr lang="en-US" sz="1600" dirty="0" smtClean="0">
                <a:solidFill>
                  <a:srgbClr val="000000"/>
                </a:solidFill>
              </a:rPr>
              <a:t> B. </a:t>
            </a:r>
            <a:r>
              <a:rPr lang="en-US" sz="1600" dirty="0" err="1" smtClean="0">
                <a:solidFill>
                  <a:srgbClr val="000000"/>
                </a:solidFill>
              </a:rPr>
              <a:t>Navathe</a:t>
            </a:r>
            <a:endParaRPr lang="en-US" altLang="en-US" sz="2400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698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98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altLang="en-US" sz="1698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G. </a:t>
            </a:r>
            <a:r>
              <a:rPr lang="en-US" altLang="en-US" sz="1698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Shobha</a:t>
            </a:r>
            <a:r>
              <a:rPr lang="en-US" altLang="en-US" sz="1698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en-US" sz="1698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Professor, </a:t>
            </a:r>
            <a:r>
              <a:rPr lang="en-US" altLang="en-US" sz="1698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  <a:r>
              <a:rPr lang="en-US" altLang="en-US" sz="1698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Department</a:t>
            </a:r>
          </a:p>
          <a:p>
            <a:r>
              <a:rPr lang="en-US" altLang="en-US" sz="1698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RV College of Engineering, </a:t>
            </a:r>
            <a:r>
              <a:rPr lang="en-US" altLang="en-US" sz="1698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Bengaluru</a:t>
            </a:r>
            <a:r>
              <a:rPr lang="en-US" altLang="en-US" sz="1698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31820" y="2286000"/>
            <a:ext cx="59425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Unit 5 (Recovery Concepts &amp; </a:t>
            </a:r>
            <a:r>
              <a:rPr lang="en-US" sz="4000" dirty="0" err="1" smtClean="0"/>
              <a:t>NoSql</a:t>
            </a:r>
            <a:r>
              <a:rPr lang="en-US" sz="4000" dirty="0" smtClean="0"/>
              <a:t>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2572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3" name="object 8"/>
          <p:cNvSpPr txBox="1">
            <a:spLocks noChangeArrowheads="1"/>
          </p:cNvSpPr>
          <p:nvPr/>
        </p:nvSpPr>
        <p:spPr bwMode="auto">
          <a:xfrm>
            <a:off x="2676626" y="704668"/>
            <a:ext cx="6785801" cy="380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316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61"/>
              </a:spcBef>
            </a:pPr>
            <a:r>
              <a:rPr lang="en-US" altLang="en-US" sz="2426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CONTENTS</a:t>
            </a: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95470" y="1690688"/>
            <a:ext cx="918481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Recovery algorithms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Recovery </a:t>
            </a:r>
            <a:r>
              <a:rPr lang="en-US" sz="4000" dirty="0"/>
              <a:t>concepts</a:t>
            </a:r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sz="2400" dirty="0" smtClean="0"/>
              <a:t>Write-ahead </a:t>
            </a:r>
            <a:r>
              <a:rPr lang="en-US" sz="2400" dirty="0"/>
              <a:t>logging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	In-place </a:t>
            </a:r>
            <a:r>
              <a:rPr lang="en-US" sz="2400" dirty="0"/>
              <a:t>versus shadow updates</a:t>
            </a:r>
          </a:p>
          <a:p>
            <a:r>
              <a:rPr lang="en-US" sz="2400" dirty="0" smtClean="0"/>
              <a:t>		Rollback</a:t>
            </a:r>
            <a:endParaRPr lang="en-US" sz="2400" dirty="0"/>
          </a:p>
          <a:p>
            <a:r>
              <a:rPr lang="en-US" sz="2400" dirty="0"/>
              <a:t>	</a:t>
            </a:r>
            <a:r>
              <a:rPr lang="en-US" sz="2400" dirty="0" smtClean="0"/>
              <a:t>	Deferred </a:t>
            </a:r>
            <a:r>
              <a:rPr lang="en-US" sz="2400" dirty="0"/>
              <a:t>update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	Immediate </a:t>
            </a:r>
            <a:r>
              <a:rPr lang="en-US" sz="2400" dirty="0"/>
              <a:t>update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Certain </a:t>
            </a:r>
            <a:r>
              <a:rPr lang="en-US" sz="4000" dirty="0"/>
              <a:t>recovery techniques best used </a:t>
            </a:r>
            <a:r>
              <a:rPr lang="en-US" sz="4000" dirty="0" smtClean="0"/>
              <a:t>with specific </a:t>
            </a:r>
            <a:r>
              <a:rPr lang="en-US" sz="4000" dirty="0"/>
              <a:t>concurrency control methods</a:t>
            </a:r>
          </a:p>
        </p:txBody>
      </p:sp>
    </p:spTree>
    <p:extLst>
      <p:ext uri="{BB962C8B-B14F-4D97-AF65-F5344CB8AC3E}">
        <p14:creationId xmlns:p14="http://schemas.microsoft.com/office/powerpoint/2010/main" val="418426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180305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393" y="777831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Recovery </a:t>
            </a:r>
            <a:r>
              <a:rPr lang="en-US" dirty="0" smtClean="0"/>
              <a:t>Concepts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5563" y="2103394"/>
            <a:ext cx="95066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Recovery process restores database to </a:t>
            </a:r>
            <a:r>
              <a:rPr lang="en-US" sz="2400" dirty="0" smtClean="0"/>
              <a:t>most recent </a:t>
            </a:r>
            <a:r>
              <a:rPr lang="en-US" sz="2400" dirty="0"/>
              <a:t>consistent state before time of failure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Information </a:t>
            </a:r>
            <a:r>
              <a:rPr lang="en-US" sz="2400" dirty="0"/>
              <a:t>kept in system log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Typical </a:t>
            </a:r>
            <a:r>
              <a:rPr lang="en-US" sz="2400" dirty="0"/>
              <a:t>recovery strategies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	- Restore </a:t>
            </a:r>
            <a:r>
              <a:rPr lang="en-US" sz="2400" dirty="0"/>
              <a:t>backed-up copy of database</a:t>
            </a:r>
          </a:p>
          <a:p>
            <a:r>
              <a:rPr lang="en-US" sz="2400" dirty="0" smtClean="0"/>
              <a:t>               		Best </a:t>
            </a:r>
            <a:r>
              <a:rPr lang="en-US" sz="2400" dirty="0"/>
              <a:t>in cases of extensive </a:t>
            </a:r>
            <a:r>
              <a:rPr lang="en-US" sz="2400" dirty="0" smtClean="0"/>
              <a:t>damage</a:t>
            </a:r>
          </a:p>
          <a:p>
            <a:r>
              <a:rPr lang="en-US" sz="2400" dirty="0" smtClean="0"/>
              <a:t>        		- Identify </a:t>
            </a:r>
            <a:r>
              <a:rPr lang="en-US" sz="2400" dirty="0"/>
              <a:t>any changes that may cause inconsistency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          		Best </a:t>
            </a:r>
            <a:r>
              <a:rPr lang="en-US" sz="2400" dirty="0"/>
              <a:t>in cases of </a:t>
            </a:r>
            <a:r>
              <a:rPr lang="en-US" sz="2400" dirty="0" err="1"/>
              <a:t>noncatastrophic</a:t>
            </a:r>
            <a:r>
              <a:rPr lang="en-US" sz="2400" dirty="0"/>
              <a:t> failure</a:t>
            </a:r>
          </a:p>
          <a:p>
            <a:r>
              <a:rPr lang="en-US" sz="2400" dirty="0" smtClean="0"/>
              <a:t>	     		Some </a:t>
            </a:r>
            <a:r>
              <a:rPr lang="en-US" sz="2400" dirty="0"/>
              <a:t>operations may require redo</a:t>
            </a:r>
          </a:p>
        </p:txBody>
      </p:sp>
    </p:spTree>
    <p:extLst>
      <p:ext uri="{BB962C8B-B14F-4D97-AF65-F5344CB8AC3E}">
        <p14:creationId xmlns:p14="http://schemas.microsoft.com/office/powerpoint/2010/main" val="229046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21432" y="1701769"/>
            <a:ext cx="7531805" cy="45933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669600" y="895015"/>
            <a:ext cx="4234613" cy="45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34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29555" y="867072"/>
            <a:ext cx="9502015" cy="536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98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8199" y="971051"/>
            <a:ext cx="9271715" cy="448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9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7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46813" y="1426640"/>
            <a:ext cx="8263102" cy="400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22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97229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8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52472" y="1080794"/>
            <a:ext cx="7226322" cy="504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878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9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99197" y="1516359"/>
            <a:ext cx="5993606" cy="382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10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62067" y="1430718"/>
            <a:ext cx="5667866" cy="399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96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11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66623" y="1602000"/>
            <a:ext cx="6058754" cy="36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02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12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68901" y="1186031"/>
            <a:ext cx="6254197" cy="448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3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13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66623" y="1916015"/>
            <a:ext cx="6058754" cy="302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57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14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34049" y="1263515"/>
            <a:ext cx="6123902" cy="433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59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15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82127" y="1126729"/>
            <a:ext cx="4397482" cy="53178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65733" y="2657238"/>
            <a:ext cx="1889289" cy="209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12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16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85188" y="1137093"/>
            <a:ext cx="6221623" cy="458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49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17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96919" y="1406250"/>
            <a:ext cx="5798162" cy="404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564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18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50336" y="1226812"/>
            <a:ext cx="6091328" cy="440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01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19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82910" y="1251281"/>
            <a:ext cx="6026180" cy="435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38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20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82910" y="1267593"/>
            <a:ext cx="6026180" cy="432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51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21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89692" y="895195"/>
            <a:ext cx="4788370" cy="10929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55254" y="2717674"/>
            <a:ext cx="6058754" cy="340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8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22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5484" y="1345078"/>
            <a:ext cx="5961032" cy="416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1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23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45780" y="1263515"/>
            <a:ext cx="5700440" cy="433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61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24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64345" y="1336921"/>
            <a:ext cx="5863310" cy="418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8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25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66623" y="1247203"/>
            <a:ext cx="6058754" cy="436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2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26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31771" y="1283906"/>
            <a:ext cx="5928458" cy="429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685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27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45780" y="1181953"/>
            <a:ext cx="5700440" cy="449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19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749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28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5484" y="1349156"/>
            <a:ext cx="5961032" cy="415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16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4975" y="0"/>
            <a:ext cx="12191144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1092" b="1" dirty="0" err="1"/>
              <a:t>Improvi</a:t>
            </a:r>
            <a:endParaRPr lang="en-US" sz="1092" dirty="0"/>
          </a:p>
        </p:txBody>
      </p:sp>
      <p:sp>
        <p:nvSpPr>
          <p:cNvPr id="8195" name="object 3"/>
          <p:cNvSpPr>
            <a:spLocks/>
          </p:cNvSpPr>
          <p:nvPr/>
        </p:nvSpPr>
        <p:spPr bwMode="auto">
          <a:xfrm>
            <a:off x="-14974" y="0"/>
            <a:ext cx="5686441" cy="3927659"/>
          </a:xfrm>
          <a:custGeom>
            <a:avLst/>
            <a:gdLst>
              <a:gd name="T0" fmla="*/ 768415866 w 7436484"/>
              <a:gd name="T1" fmla="*/ 0 h 5134610"/>
              <a:gd name="T2" fmla="*/ 0 w 7436484"/>
              <a:gd name="T3" fmla="*/ 0 h 5134610"/>
              <a:gd name="T4" fmla="*/ 0 w 7436484"/>
              <a:gd name="T5" fmla="*/ 534451769 h 5134610"/>
              <a:gd name="T6" fmla="*/ 768415866 w 7436484"/>
              <a:gd name="T7" fmla="*/ 0 h 513461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436484" h="5134610">
                <a:moveTo>
                  <a:pt x="7435941" y="0"/>
                </a:moveTo>
                <a:lnTo>
                  <a:pt x="0" y="0"/>
                </a:lnTo>
                <a:lnTo>
                  <a:pt x="0" y="5134513"/>
                </a:lnTo>
                <a:lnTo>
                  <a:pt x="7435941" y="0"/>
                </a:lnTo>
                <a:close/>
              </a:path>
            </a:pathLst>
          </a:custGeom>
          <a:solidFill>
            <a:srgbClr val="00589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8196" name="object 4"/>
          <p:cNvSpPr>
            <a:spLocks noChangeArrowheads="1"/>
          </p:cNvSpPr>
          <p:nvPr/>
        </p:nvSpPr>
        <p:spPr bwMode="auto">
          <a:xfrm>
            <a:off x="286339" y="252217"/>
            <a:ext cx="1119575" cy="1116687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3398623" y="810561"/>
            <a:ext cx="88565" cy="89528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6" name="object 6"/>
          <p:cNvSpPr txBox="1"/>
          <p:nvPr/>
        </p:nvSpPr>
        <p:spPr>
          <a:xfrm>
            <a:off x="1521433" y="437049"/>
            <a:ext cx="2310387" cy="739134"/>
          </a:xfrm>
          <a:prstGeom prst="rect">
            <a:avLst/>
          </a:prstGeom>
        </p:spPr>
        <p:txBody>
          <a:bodyPr lIns="0" tIns="8086" rIns="0" bIns="0">
            <a:spAutoFit/>
          </a:bodyPr>
          <a:lstStyle/>
          <a:p>
            <a:pPr marL="7701">
              <a:lnSpc>
                <a:spcPts val="2847"/>
              </a:lnSpc>
              <a:spcBef>
                <a:spcPts val="64"/>
              </a:spcBef>
              <a:defRPr/>
            </a:pPr>
            <a:r>
              <a:rPr lang="en-IN" sz="2577" b="1" spc="-21" dirty="0">
                <a:solidFill>
                  <a:srgbClr val="FFFFFF"/>
                </a:solidFill>
                <a:latin typeface="Helvetica-Bold"/>
                <a:ea typeface="ＭＳ Ｐゴシック" charset="0"/>
                <a:cs typeface="Helvetica-Bold"/>
              </a:rPr>
              <a:t>RV College of </a:t>
            </a:r>
          </a:p>
          <a:p>
            <a:pPr marL="7701">
              <a:lnSpc>
                <a:spcPts val="2847"/>
              </a:lnSpc>
              <a:spcBef>
                <a:spcPts val="64"/>
              </a:spcBef>
              <a:defRPr/>
            </a:pPr>
            <a:r>
              <a:rPr lang="en-IN" sz="2577" b="1" spc="-21" dirty="0">
                <a:solidFill>
                  <a:srgbClr val="FFFFFF"/>
                </a:solidFill>
                <a:latin typeface="Helvetica-Bold"/>
                <a:ea typeface="ＭＳ Ｐゴシック" charset="0"/>
                <a:cs typeface="Helvetica-Bold"/>
              </a:rPr>
              <a:t>Engineering</a:t>
            </a:r>
            <a:endParaRPr sz="2577" dirty="0">
              <a:latin typeface="Helvetica-Bold"/>
              <a:ea typeface="ＭＳ Ｐゴシック" charset="0"/>
              <a:cs typeface="Helvetica-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74330" y="247404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sp>
        <p:nvSpPr>
          <p:cNvPr id="820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85E639D2-DF99-4E79-9C98-C54A1FDF2458}" type="slidenum">
              <a:rPr lang="en-US" altLang="en-US" smtClean="0">
                <a:solidFill>
                  <a:srgbClr val="898989"/>
                </a:solidFill>
              </a:rPr>
              <a:pPr/>
              <a:t>29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8202" name="TextBox 4"/>
          <p:cNvSpPr txBox="1">
            <a:spLocks noChangeArrowheads="1"/>
          </p:cNvSpPr>
          <p:nvPr/>
        </p:nvSpPr>
        <p:spPr bwMode="auto">
          <a:xfrm>
            <a:off x="8129141" y="5092479"/>
            <a:ext cx="4417654" cy="87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98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G. Shobha </a:t>
            </a:r>
          </a:p>
          <a:p>
            <a:r>
              <a:rPr lang="en-US" altLang="en-US" sz="1698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Professor, CSE Department</a:t>
            </a:r>
          </a:p>
          <a:p>
            <a:r>
              <a:rPr lang="en-US" altLang="en-US" sz="1698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RV College of Engineering, Bengaluru - 59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5640" y="2446986"/>
            <a:ext cx="32712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5</a:t>
            </a:r>
          </a:p>
          <a:p>
            <a:r>
              <a:rPr lang="en-US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91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30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85188" y="1361390"/>
            <a:ext cx="6221623" cy="413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8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31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62067" y="1389123"/>
            <a:ext cx="5667866" cy="411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18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32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10928" y="1377703"/>
            <a:ext cx="5570144" cy="410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97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33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08649" y="1451109"/>
            <a:ext cx="5374701" cy="395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4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34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22658" y="1389937"/>
            <a:ext cx="5146683" cy="407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3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35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92362" y="1341000"/>
            <a:ext cx="5407275" cy="41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7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36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29493" y="1304296"/>
            <a:ext cx="5733014" cy="424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556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37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43501" y="1467421"/>
            <a:ext cx="5504997" cy="392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41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38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94980" y="1141171"/>
            <a:ext cx="4202039" cy="457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323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39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29493" y="1296140"/>
            <a:ext cx="5733014" cy="426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0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40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62067" y="1279828"/>
            <a:ext cx="5667866" cy="429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402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41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636667" y="1267593"/>
            <a:ext cx="4918666" cy="432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8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42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29493" y="1548984"/>
            <a:ext cx="5733014" cy="37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5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43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53803" y="1316531"/>
            <a:ext cx="6822713" cy="422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471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44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31771" y="1267593"/>
            <a:ext cx="5928458" cy="432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437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45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48058" y="1430718"/>
            <a:ext cx="5895884" cy="399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62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46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99197" y="1373625"/>
            <a:ext cx="5993606" cy="411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3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8030" y="-9627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47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59788" y="1630546"/>
            <a:ext cx="5472423" cy="359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25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48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82910" y="1438875"/>
            <a:ext cx="6026180" cy="398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38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49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43501" y="1328765"/>
            <a:ext cx="5504997" cy="420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1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50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94641" y="1341000"/>
            <a:ext cx="5602718" cy="41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55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51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78354" y="1479656"/>
            <a:ext cx="5635292" cy="389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6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52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29493" y="1434796"/>
            <a:ext cx="5733014" cy="398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9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53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80632" y="1243125"/>
            <a:ext cx="5830736" cy="43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6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54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96919" y="1398093"/>
            <a:ext cx="5798162" cy="406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2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55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24936" y="2038359"/>
            <a:ext cx="5342127" cy="278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5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56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22658" y="1255359"/>
            <a:ext cx="5146683" cy="434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0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57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48058" y="1255359"/>
            <a:ext cx="5895884" cy="434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89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58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92362" y="1349156"/>
            <a:ext cx="5407275" cy="415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83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59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08649" y="1638703"/>
            <a:ext cx="5374701" cy="358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02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60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94641" y="1553062"/>
            <a:ext cx="5602718" cy="375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20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61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359788" y="1916015"/>
            <a:ext cx="5472423" cy="302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7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62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62067" y="1300218"/>
            <a:ext cx="5667866" cy="425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06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63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55232" y="1809984"/>
            <a:ext cx="5081535" cy="323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69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64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78354" y="1267593"/>
            <a:ext cx="5635292" cy="432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75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65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669241" y="1479656"/>
            <a:ext cx="4853518" cy="389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5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66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82910" y="1128937"/>
            <a:ext cx="6026180" cy="46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11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67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5484" y="1267593"/>
            <a:ext cx="5961032" cy="432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7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68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13206" y="1438875"/>
            <a:ext cx="5765588" cy="398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68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69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62067" y="1263515"/>
            <a:ext cx="5667866" cy="433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45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70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78354" y="1773281"/>
            <a:ext cx="5635292" cy="331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825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71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13206" y="1145250"/>
            <a:ext cx="5765588" cy="45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339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72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08649" y="1430718"/>
            <a:ext cx="5374701" cy="399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6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2996" y="4814"/>
            <a:ext cx="12194996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en-US" sz="1092" dirty="0">
              <a:solidFill>
                <a:schemeClr val="tx2"/>
              </a:solidFill>
            </a:endParaRPr>
          </a:p>
        </p:txBody>
      </p:sp>
      <p:sp>
        <p:nvSpPr>
          <p:cNvPr id="9219" name="object 4"/>
          <p:cNvSpPr>
            <a:spLocks noChangeArrowheads="1"/>
          </p:cNvSpPr>
          <p:nvPr/>
        </p:nvSpPr>
        <p:spPr bwMode="auto">
          <a:xfrm>
            <a:off x="609793" y="182906"/>
            <a:ext cx="430309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92"/>
          </a:p>
        </p:txBody>
      </p:sp>
      <p:sp>
        <p:nvSpPr>
          <p:cNvPr id="9220" name="object 5"/>
          <p:cNvSpPr>
            <a:spLocks/>
          </p:cNvSpPr>
          <p:nvPr/>
        </p:nvSpPr>
        <p:spPr bwMode="auto">
          <a:xfrm>
            <a:off x="1812157" y="438011"/>
            <a:ext cx="34656" cy="34656"/>
          </a:xfrm>
          <a:custGeom>
            <a:avLst/>
            <a:gdLst>
              <a:gd name="T0" fmla="*/ 36406 w 56514"/>
              <a:gd name="T1" fmla="*/ 0 h 56515"/>
              <a:gd name="T2" fmla="*/ 22255 w 56514"/>
              <a:gd name="T3" fmla="*/ 2854 h 56515"/>
              <a:gd name="T4" fmla="*/ 10680 w 56514"/>
              <a:gd name="T5" fmla="*/ 10639 h 56515"/>
              <a:gd name="T6" fmla="*/ 2870 w 56514"/>
              <a:gd name="T7" fmla="*/ 22184 h 56515"/>
              <a:gd name="T8" fmla="*/ 0 w 56514"/>
              <a:gd name="T9" fmla="*/ 36325 h 56515"/>
              <a:gd name="T10" fmla="*/ 2870 w 56514"/>
              <a:gd name="T11" fmla="*/ 50478 h 56515"/>
              <a:gd name="T12" fmla="*/ 10680 w 56514"/>
              <a:gd name="T13" fmla="*/ 62047 h 56515"/>
              <a:gd name="T14" fmla="*/ 22255 w 56514"/>
              <a:gd name="T15" fmla="*/ 69855 h 56515"/>
              <a:gd name="T16" fmla="*/ 36406 w 56514"/>
              <a:gd name="T17" fmla="*/ 72720 h 56515"/>
              <a:gd name="T18" fmla="*/ 50541 w 56514"/>
              <a:gd name="T19" fmla="*/ 69855 h 56515"/>
              <a:gd name="T20" fmla="*/ 54074 w 56514"/>
              <a:gd name="T21" fmla="*/ 67465 h 56515"/>
              <a:gd name="T22" fmla="*/ 36406 w 56514"/>
              <a:gd name="T23" fmla="*/ 67465 h 56515"/>
              <a:gd name="T24" fmla="*/ 24276 w 56514"/>
              <a:gd name="T25" fmla="*/ 65014 h 56515"/>
              <a:gd name="T26" fmla="*/ 14374 w 56514"/>
              <a:gd name="T27" fmla="*/ 58333 h 56515"/>
              <a:gd name="T28" fmla="*/ 7703 w 56514"/>
              <a:gd name="T29" fmla="*/ 48432 h 56515"/>
              <a:gd name="T30" fmla="*/ 5254 w 56514"/>
              <a:gd name="T31" fmla="*/ 36325 h 56515"/>
              <a:gd name="T32" fmla="*/ 7703 w 56514"/>
              <a:gd name="T33" fmla="*/ 24208 h 56515"/>
              <a:gd name="T34" fmla="*/ 14374 w 56514"/>
              <a:gd name="T35" fmla="*/ 14290 h 56515"/>
              <a:gd name="T36" fmla="*/ 24276 w 56514"/>
              <a:gd name="T37" fmla="*/ 7590 h 56515"/>
              <a:gd name="T38" fmla="*/ 36406 w 56514"/>
              <a:gd name="T39" fmla="*/ 5132 h 56515"/>
              <a:gd name="T40" fmla="*/ 53922 w 56514"/>
              <a:gd name="T41" fmla="*/ 5132 h 56515"/>
              <a:gd name="T42" fmla="*/ 50541 w 56514"/>
              <a:gd name="T43" fmla="*/ 2854 h 56515"/>
              <a:gd name="T44" fmla="*/ 36406 w 56514"/>
              <a:gd name="T45" fmla="*/ 0 h 56515"/>
              <a:gd name="T46" fmla="*/ 53922 w 56514"/>
              <a:gd name="T47" fmla="*/ 5132 h 56515"/>
              <a:gd name="T48" fmla="*/ 36406 w 56514"/>
              <a:gd name="T49" fmla="*/ 5132 h 56515"/>
              <a:gd name="T50" fmla="*/ 48546 w 56514"/>
              <a:gd name="T51" fmla="*/ 7590 h 56515"/>
              <a:gd name="T52" fmla="*/ 58451 w 56514"/>
              <a:gd name="T53" fmla="*/ 14290 h 56515"/>
              <a:gd name="T54" fmla="*/ 65129 w 56514"/>
              <a:gd name="T55" fmla="*/ 24208 h 56515"/>
              <a:gd name="T56" fmla="*/ 67575 w 56514"/>
              <a:gd name="T57" fmla="*/ 36325 h 56515"/>
              <a:gd name="T58" fmla="*/ 65129 w 56514"/>
              <a:gd name="T59" fmla="*/ 48432 h 56515"/>
              <a:gd name="T60" fmla="*/ 58451 w 56514"/>
              <a:gd name="T61" fmla="*/ 58333 h 56515"/>
              <a:gd name="T62" fmla="*/ 48546 w 56514"/>
              <a:gd name="T63" fmla="*/ 65014 h 56515"/>
              <a:gd name="T64" fmla="*/ 36406 w 56514"/>
              <a:gd name="T65" fmla="*/ 67465 h 56515"/>
              <a:gd name="T66" fmla="*/ 54074 w 56514"/>
              <a:gd name="T67" fmla="*/ 67465 h 56515"/>
              <a:gd name="T68" fmla="*/ 62095 w 56514"/>
              <a:gd name="T69" fmla="*/ 62047 h 56515"/>
              <a:gd name="T70" fmla="*/ 69899 w 56514"/>
              <a:gd name="T71" fmla="*/ 50478 h 56515"/>
              <a:gd name="T72" fmla="*/ 72761 w 56514"/>
              <a:gd name="T73" fmla="*/ 36325 h 56515"/>
              <a:gd name="T74" fmla="*/ 69899 w 56514"/>
              <a:gd name="T75" fmla="*/ 22184 h 56515"/>
              <a:gd name="T76" fmla="*/ 62095 w 56514"/>
              <a:gd name="T77" fmla="*/ 10639 h 56515"/>
              <a:gd name="T78" fmla="*/ 53922 w 56514"/>
              <a:gd name="T79" fmla="*/ 5132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5" y="2207"/>
                </a:lnTo>
                <a:lnTo>
                  <a:pt x="8257" y="8227"/>
                </a:lnTo>
                <a:lnTo>
                  <a:pt x="2217" y="17157"/>
                </a:lnTo>
                <a:lnTo>
                  <a:pt x="0" y="28093"/>
                </a:lnTo>
                <a:lnTo>
                  <a:pt x="2217" y="39037"/>
                </a:lnTo>
                <a:lnTo>
                  <a:pt x="8257" y="47985"/>
                </a:lnTo>
                <a:lnTo>
                  <a:pt x="17205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8" y="50280"/>
                </a:lnTo>
                <a:lnTo>
                  <a:pt x="11113" y="45113"/>
                </a:lnTo>
                <a:lnTo>
                  <a:pt x="5954" y="37457"/>
                </a:lnTo>
                <a:lnTo>
                  <a:pt x="4062" y="28093"/>
                </a:lnTo>
                <a:lnTo>
                  <a:pt x="5954" y="18722"/>
                </a:lnTo>
                <a:lnTo>
                  <a:pt x="11113" y="11052"/>
                </a:lnTo>
                <a:lnTo>
                  <a:pt x="18768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9" y="5870"/>
                </a:lnTo>
                <a:lnTo>
                  <a:pt x="45187" y="11052"/>
                </a:lnTo>
                <a:lnTo>
                  <a:pt x="50347" y="18722"/>
                </a:lnTo>
                <a:lnTo>
                  <a:pt x="52239" y="28093"/>
                </a:lnTo>
                <a:lnTo>
                  <a:pt x="50347" y="37457"/>
                </a:lnTo>
                <a:lnTo>
                  <a:pt x="45187" y="45113"/>
                </a:lnTo>
                <a:lnTo>
                  <a:pt x="37529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1" name="object 6"/>
          <p:cNvSpPr>
            <a:spLocks/>
          </p:cNvSpPr>
          <p:nvPr/>
        </p:nvSpPr>
        <p:spPr bwMode="auto">
          <a:xfrm>
            <a:off x="1821783" y="445713"/>
            <a:ext cx="1540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46 w 25400"/>
              <a:gd name="T23" fmla="*/ 5329 h 31750"/>
              <a:gd name="T24" fmla="*/ 2189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27 w 25400"/>
              <a:gd name="T33" fmla="*/ 18292 h 31750"/>
              <a:gd name="T34" fmla="*/ 9737 w 25400"/>
              <a:gd name="T35" fmla="*/ 18680 h 31750"/>
              <a:gd name="T36" fmla="*/ 11465 w 25400"/>
              <a:gd name="T37" fmla="*/ 19999 h 31750"/>
              <a:gd name="T38" fmla="*/ 14481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46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3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15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46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46" y="5329"/>
                </a:lnTo>
                <a:lnTo>
                  <a:pt x="2189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27" y="18292"/>
                </a:lnTo>
                <a:lnTo>
                  <a:pt x="9737" y="18680"/>
                </a:lnTo>
                <a:lnTo>
                  <a:pt x="11465" y="19999"/>
                </a:lnTo>
                <a:lnTo>
                  <a:pt x="14481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46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3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15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46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7" name="object 7"/>
          <p:cNvSpPr txBox="1"/>
          <p:nvPr/>
        </p:nvSpPr>
        <p:spPr>
          <a:xfrm>
            <a:off x="1105563" y="273396"/>
            <a:ext cx="831739" cy="305451"/>
          </a:xfrm>
          <a:prstGeom prst="rect">
            <a:avLst/>
          </a:prstGeom>
        </p:spPr>
        <p:txBody>
          <a:bodyPr lIns="0" tIns="10397" rIns="0" bIns="0">
            <a:spAutoFit/>
          </a:bodyPr>
          <a:lstStyle/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RV College of </a:t>
            </a:r>
          </a:p>
          <a:p>
            <a:pPr marL="7701">
              <a:lnSpc>
                <a:spcPts val="1082"/>
              </a:lnSpc>
              <a:spcBef>
                <a:spcPts val="82"/>
              </a:spcBef>
              <a:defRPr/>
            </a:pPr>
            <a:r>
              <a:rPr lang="en-IN" sz="970" b="1" spc="3" dirty="0">
                <a:solidFill>
                  <a:srgbClr val="231F20"/>
                </a:solidFill>
                <a:latin typeface="Helvetica-Bold"/>
                <a:cs typeface="Helvetica-Bold"/>
              </a:rPr>
              <a:t>Engineering</a:t>
            </a:r>
            <a:endParaRPr sz="970" dirty="0">
              <a:latin typeface="Helvetica-Bold"/>
              <a:cs typeface="Helvetica-Bold"/>
            </a:endParaRPr>
          </a:p>
        </p:txBody>
      </p:sp>
      <p:sp>
        <p:nvSpPr>
          <p:cNvPr id="9224" name="object 10"/>
          <p:cNvSpPr>
            <a:spLocks/>
          </p:cNvSpPr>
          <p:nvPr/>
        </p:nvSpPr>
        <p:spPr bwMode="auto">
          <a:xfrm>
            <a:off x="611718" y="722959"/>
            <a:ext cx="11235221" cy="0"/>
          </a:xfrm>
          <a:custGeom>
            <a:avLst/>
            <a:gdLst>
              <a:gd name="T0" fmla="*/ 0 w 18527395"/>
              <a:gd name="T1" fmla="*/ 1853415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 sz="1092"/>
          </a:p>
        </p:txBody>
      </p:sp>
      <p:sp>
        <p:nvSpPr>
          <p:cNvPr id="922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450525" indent="-173279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693115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970361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1247607" indent="-138623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1524853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1802100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2079346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2356592" indent="-138623" defTabSz="2772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fld id="{A4EB2FB7-17D6-4C80-B58B-129F3CF61E74}" type="slidenum">
              <a:rPr lang="en-US" altLang="en-US" smtClean="0">
                <a:solidFill>
                  <a:srgbClr val="898989"/>
                </a:solidFill>
              </a:rPr>
              <a:pPr/>
              <a:t>73</a:t>
            </a:fld>
            <a:endParaRPr lang="en-US" altLang="en-US" smtClean="0">
              <a:solidFill>
                <a:srgbClr val="898989"/>
              </a:solidFill>
            </a:endParaRPr>
          </a:p>
        </p:txBody>
      </p:sp>
      <p:sp>
        <p:nvSpPr>
          <p:cNvPr id="9227" name="TextBox 3"/>
          <p:cNvSpPr txBox="1">
            <a:spLocks noChangeArrowheads="1"/>
          </p:cNvSpPr>
          <p:nvPr/>
        </p:nvSpPr>
        <p:spPr bwMode="auto">
          <a:xfrm>
            <a:off x="782109" y="1857937"/>
            <a:ext cx="970363" cy="26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2" name="AutoShape 13" descr="Density-Based Clustering | SpringerLink"/>
          <p:cNvSpPr>
            <a:spLocks noChangeAspect="1" noChangeArrowheads="1"/>
          </p:cNvSpPr>
          <p:nvPr/>
        </p:nvSpPr>
        <p:spPr bwMode="auto">
          <a:xfrm>
            <a:off x="88030" y="-87602"/>
            <a:ext cx="184831" cy="184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9236" name="AutoShape 15" descr="Image result for conclusions image"/>
          <p:cNvSpPr>
            <a:spLocks noChangeAspect="1" noChangeArrowheads="1"/>
          </p:cNvSpPr>
          <p:nvPr/>
        </p:nvSpPr>
        <p:spPr bwMode="auto">
          <a:xfrm>
            <a:off x="93806" y="-102042"/>
            <a:ext cx="184831" cy="18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092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3" name="object 7"/>
          <p:cNvSpPr txBox="1"/>
          <p:nvPr/>
        </p:nvSpPr>
        <p:spPr>
          <a:xfrm>
            <a:off x="9782031" y="109078"/>
            <a:ext cx="2064908" cy="567673"/>
          </a:xfrm>
          <a:prstGeom prst="rect">
            <a:avLst/>
          </a:prstGeom>
        </p:spPr>
        <p:txBody>
          <a:bodyPr lIns="0" tIns="7701" rIns="0" bIns="0">
            <a:spAutoFit/>
          </a:bodyPr>
          <a:lstStyle/>
          <a:p>
            <a:pPr marL="7701">
              <a:spcBef>
                <a:spcPts val="61"/>
              </a:spcBef>
              <a:defRPr/>
            </a:pP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819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819" i="1" spc="-49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819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819" dirty="0">
              <a:latin typeface="Playfair Display"/>
              <a:ea typeface="ＭＳ Ｐゴシック" charset="0"/>
              <a:cs typeface="Playfair Display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62067" y="1398093"/>
            <a:ext cx="5667866" cy="406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33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815</Words>
  <Application>Microsoft Office PowerPoint</Application>
  <PresentationFormat>Widescreen</PresentationFormat>
  <Paragraphs>393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1" baseType="lpstr">
      <vt:lpstr>ＭＳ Ｐゴシック</vt:lpstr>
      <vt:lpstr>Arial</vt:lpstr>
      <vt:lpstr>Calibri</vt:lpstr>
      <vt:lpstr>Calibri Light</vt:lpstr>
      <vt:lpstr>Helvetica-Bold</vt:lpstr>
      <vt:lpstr>Playfair Display</vt:lpstr>
      <vt:lpstr>Times New Roman</vt:lpstr>
      <vt:lpstr>Office Theme</vt:lpstr>
      <vt:lpstr>PowerPoint Presentation</vt:lpstr>
      <vt:lpstr>    </vt:lpstr>
      <vt:lpstr>  Recovery Concepts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PowerPoint Presentation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  <vt:lpstr>   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Shobha G</dc:creator>
  <cp:lastModifiedBy>NRB</cp:lastModifiedBy>
  <cp:revision>15</cp:revision>
  <dcterms:created xsi:type="dcterms:W3CDTF">2020-07-10T04:48:04Z</dcterms:created>
  <dcterms:modified xsi:type="dcterms:W3CDTF">2020-08-19T10:34:39Z</dcterms:modified>
</cp:coreProperties>
</file>