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5"/>
  </p:notesMasterIdLst>
  <p:handoutMasterIdLst>
    <p:handoutMasterId r:id="rId106"/>
  </p:handoutMasterIdLst>
  <p:sldIdLst>
    <p:sldId id="257" r:id="rId2"/>
    <p:sldId id="348" r:id="rId3"/>
    <p:sldId id="377" r:id="rId4"/>
    <p:sldId id="349" r:id="rId5"/>
    <p:sldId id="258" r:id="rId6"/>
    <p:sldId id="376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378" r:id="rId22"/>
    <p:sldId id="379" r:id="rId23"/>
    <p:sldId id="274" r:id="rId24"/>
    <p:sldId id="383" r:id="rId25"/>
    <p:sldId id="342" r:id="rId26"/>
    <p:sldId id="343" r:id="rId27"/>
    <p:sldId id="344" r:id="rId28"/>
    <p:sldId id="345" r:id="rId29"/>
    <p:sldId id="381" r:id="rId30"/>
    <p:sldId id="346" r:id="rId31"/>
    <p:sldId id="347" r:id="rId32"/>
    <p:sldId id="294" r:id="rId33"/>
    <p:sldId id="384" r:id="rId34"/>
    <p:sldId id="382" r:id="rId35"/>
    <p:sldId id="295" r:id="rId36"/>
    <p:sldId id="385" r:id="rId37"/>
    <p:sldId id="350" r:id="rId38"/>
    <p:sldId id="298" r:id="rId39"/>
    <p:sldId id="299" r:id="rId40"/>
    <p:sldId id="300" r:id="rId41"/>
    <p:sldId id="301" r:id="rId42"/>
    <p:sldId id="303" r:id="rId43"/>
    <p:sldId id="304" r:id="rId44"/>
    <p:sldId id="305" r:id="rId45"/>
    <p:sldId id="339" r:id="rId46"/>
    <p:sldId id="285" r:id="rId47"/>
    <p:sldId id="286" r:id="rId48"/>
    <p:sldId id="287" r:id="rId49"/>
    <p:sldId id="288" r:id="rId50"/>
    <p:sldId id="307" r:id="rId51"/>
    <p:sldId id="387" r:id="rId52"/>
    <p:sldId id="386" r:id="rId53"/>
    <p:sldId id="388" r:id="rId54"/>
    <p:sldId id="308" r:id="rId55"/>
    <p:sldId id="356" r:id="rId56"/>
    <p:sldId id="309" r:id="rId57"/>
    <p:sldId id="313" r:id="rId58"/>
    <p:sldId id="357" r:id="rId59"/>
    <p:sldId id="314" r:id="rId60"/>
    <p:sldId id="315" r:id="rId61"/>
    <p:sldId id="316" r:id="rId62"/>
    <p:sldId id="358" r:id="rId63"/>
    <p:sldId id="318" r:id="rId64"/>
    <p:sldId id="340" r:id="rId65"/>
    <p:sldId id="319" r:id="rId66"/>
    <p:sldId id="389" r:id="rId67"/>
    <p:sldId id="292" r:id="rId68"/>
    <p:sldId id="320" r:id="rId69"/>
    <p:sldId id="322" r:id="rId70"/>
    <p:sldId id="321" r:id="rId71"/>
    <p:sldId id="323" r:id="rId72"/>
    <p:sldId id="366" r:id="rId73"/>
    <p:sldId id="367" r:id="rId74"/>
    <p:sldId id="368" r:id="rId75"/>
    <p:sldId id="369" r:id="rId76"/>
    <p:sldId id="370" r:id="rId77"/>
    <p:sldId id="324" r:id="rId78"/>
    <p:sldId id="325" r:id="rId79"/>
    <p:sldId id="365" r:id="rId80"/>
    <p:sldId id="371" r:id="rId81"/>
    <p:sldId id="326" r:id="rId82"/>
    <p:sldId id="327" r:id="rId83"/>
    <p:sldId id="328" r:id="rId84"/>
    <p:sldId id="329" r:id="rId85"/>
    <p:sldId id="331" r:id="rId86"/>
    <p:sldId id="332" r:id="rId87"/>
    <p:sldId id="333" r:id="rId88"/>
    <p:sldId id="334" r:id="rId89"/>
    <p:sldId id="335" r:id="rId90"/>
    <p:sldId id="336" r:id="rId91"/>
    <p:sldId id="373" r:id="rId92"/>
    <p:sldId id="390" r:id="rId93"/>
    <p:sldId id="374" r:id="rId94"/>
    <p:sldId id="375" r:id="rId95"/>
    <p:sldId id="337" r:id="rId96"/>
    <p:sldId id="338" r:id="rId97"/>
    <p:sldId id="341" r:id="rId98"/>
    <p:sldId id="289" r:id="rId99"/>
    <p:sldId id="291" r:id="rId100"/>
    <p:sldId id="351" r:id="rId101"/>
    <p:sldId id="352" r:id="rId102"/>
    <p:sldId id="353" r:id="rId103"/>
    <p:sldId id="354" r:id="rId10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5">
          <p15:clr>
            <a:srgbClr val="A4A3A4"/>
          </p15:clr>
        </p15:guide>
        <p15:guide id="2" pos="55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51" autoAdjust="0"/>
  </p:normalViewPr>
  <p:slideViewPr>
    <p:cSldViewPr snapToGrid="0" snapToObjects="1" showGuides="1">
      <p:cViewPr varScale="1">
        <p:scale>
          <a:sx n="135" d="100"/>
          <a:sy n="135" d="100"/>
        </p:scale>
        <p:origin x="924" y="114"/>
      </p:cViewPr>
      <p:guideLst>
        <p:guide orient="horz" pos="575"/>
        <p:guide pos="55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698C-F6B3-1745-B09E-CC371134DB75}" type="datetimeFigureOut">
              <a:rPr lang="en-US" smtClean="0"/>
              <a:t>9/15/2018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D42F1-9B8D-5D46-97CF-2F9A17C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853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A489-2D30-AC43-901D-01205F8369CD}" type="datetimeFigureOut">
              <a:rPr lang="en-US" smtClean="0"/>
              <a:t>9/15/2018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35883-4BD7-1D44-8611-23B37042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92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security.cs.rpi.edu</a:t>
            </a:r>
            <a:r>
              <a:rPr lang="en-US" dirty="0" smtClean="0"/>
              <a:t>/courses/binexp-spring2015/lectures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27B95AD-3AE1-C847-A1C9-28E8FEECAA8F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In function.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First push the previous frame pointer (push %ebp)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Create the new frame pointer for this function (movl %esp, %ebp)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Allocate space for the buffers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     The minimum size allocated is in multiples of 16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     therefore char a[5] will be allocated 16 bytes, char a[9] will be allocated 16 bytes, while char a[17] will be allocated 32 bytes</a:t>
            </a:r>
          </a:p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In main.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  note that arguments are pushed in reverse order. First c, then b, then a.</a:t>
            </a:r>
          </a:p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Stack state</a:t>
            </a:r>
          </a:p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TOP: 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c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b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a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ret (address to return after function is called)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sfp (the stored frame pointer by pushl %ebp)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buffer1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buffer2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6E0101F-0A37-7540-8566-05CB25E27964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In function.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First push the previous frame pointer (push %ebp)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Create the new frame pointer for this function (movl %esp, %ebp)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Allocate space for the buffers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     The minimum size allocated is in multiples of 16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     therefore char a[5] will be allocated 16 bytes, char a[9] will be allocated 16 bytes, while char a[17] will be allocated 32 bytes</a:t>
            </a:r>
          </a:p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In main.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  note that arguments are pushed in reverse order. First c, then b, then a.</a:t>
            </a:r>
          </a:p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Stack state</a:t>
            </a:r>
          </a:p>
          <a:p>
            <a:pPr eaLnBrk="1" hangingPunct="1">
              <a:lnSpc>
                <a:spcPct val="90000"/>
              </a:lnSpc>
            </a:pPr>
            <a:endParaRPr lang="en-US" sz="1000"/>
          </a:p>
          <a:p>
            <a:pPr eaLnBrk="1" hangingPunct="1">
              <a:lnSpc>
                <a:spcPct val="90000"/>
              </a:lnSpc>
            </a:pPr>
            <a:r>
              <a:rPr lang="en-US" sz="1000"/>
              <a:t>TOP: 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c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b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a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ret (address to return after function is called)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sfp (the stored frame pointer by pushl %ebp)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buffer1</a:t>
            </a:r>
          </a:p>
          <a:p>
            <a:pPr eaLnBrk="1" hangingPunct="1">
              <a:lnSpc>
                <a:spcPct val="90000"/>
              </a:lnSpc>
            </a:pPr>
            <a:r>
              <a:rPr lang="en-US" sz="1000"/>
              <a:t>  buffer2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7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vDSO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(virtual dynamic shared object) is a small shared library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kernel automatically maps into the address space of all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user-space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VDSO : ???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43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35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eli.thegreenplace.net</a:t>
            </a:r>
            <a:r>
              <a:rPr lang="en-US" dirty="0" smtClean="0"/>
              <a:t>/2011/11/03/position-independent-code-pic-in-shared-libraries/</a:t>
            </a:r>
          </a:p>
          <a:p>
            <a:r>
              <a:rPr lang="en-US" dirty="0" smtClean="0"/>
              <a:t>https://</a:t>
            </a:r>
            <a:r>
              <a:rPr lang="en-US" dirty="0" err="1" smtClean="0"/>
              <a:t>en.wikipedia.org</a:t>
            </a:r>
            <a:r>
              <a:rPr lang="en-US" dirty="0" smtClean="0"/>
              <a:t>/wiki/Position-</a:t>
            </a:r>
            <a:r>
              <a:rPr lang="en-US" dirty="0" err="1" smtClean="0"/>
              <a:t>independent_code</a:t>
            </a:r>
            <a:endParaRPr lang="en-US" dirty="0" smtClean="0"/>
          </a:p>
          <a:p>
            <a:r>
              <a:rPr lang="en-US" dirty="0" smtClean="0"/>
              <a:t>https://</a:t>
            </a:r>
            <a:r>
              <a:rPr lang="en-US" dirty="0" err="1" smtClean="0"/>
              <a:t>security.stackexchange.com</a:t>
            </a:r>
            <a:r>
              <a:rPr lang="en-US" dirty="0" smtClean="0"/>
              <a:t>/questions/58642/how-often-is-</a:t>
            </a:r>
            <a:r>
              <a:rPr lang="en-US" dirty="0" err="1" smtClean="0"/>
              <a:t>aslr</a:t>
            </a:r>
            <a:r>
              <a:rPr lang="en-US" dirty="0" smtClean="0"/>
              <a:t>-randomness-refreshed-in-</a:t>
            </a:r>
            <a:r>
              <a:rPr lang="en-US" dirty="0" err="1" smtClean="0"/>
              <a:t>linux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98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First note the various sections</a:t>
            </a:r>
          </a:p>
          <a:p>
            <a:r>
              <a:rPr lang="en-US" dirty="0" smtClean="0"/>
              <a:t>(data and text)</a:t>
            </a:r>
            <a:r>
              <a:rPr lang="is-IS" dirty="0" smtClean="0"/>
              <a:t>… the linker</a:t>
            </a:r>
            <a:r>
              <a:rPr lang="is-IS" baseline="0" dirty="0" smtClean="0"/>
              <a:t> would put this in different locations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35883-4BD7-1D44-8611-23B37042046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9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86F7-2D34-F141-B8EB-C46CDF18FA91}" type="datetime1">
              <a:rPr lang="en-IN" smtClean="0"/>
              <a:t>15-09-2018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9144000" cy="8902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075284"/>
            <a:ext cx="9144000" cy="8902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21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3D8A-6E6D-7E44-8831-F681D5F71A5E}" type="datetime1">
              <a:rPr lang="en-IN" smtClean="0"/>
              <a:t>15-09-2018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1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06A4D-9C3C-5B4A-A2D9-643C61F6F53E}" type="datetime1">
              <a:rPr lang="en-IN" smtClean="0"/>
              <a:t>15-09-2018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5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61931-9E77-2844-9DA5-3FFBA99920C4}" type="datetime1">
              <a:rPr lang="en-IN" smtClean="0"/>
              <a:t>15-09-2018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4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B779-DC7F-614E-984C-3BC2B62D7CDF}" type="datetime1">
              <a:rPr lang="en-IN" smtClean="0"/>
              <a:t>15-09-2018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3060-2C04-A448-B671-A4D25ED466EB}" type="datetime1">
              <a:rPr lang="en-IN" smtClean="0"/>
              <a:t>15-09-2018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5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EFAC-92D0-9E45-B788-1ABD99A2E3E7}" type="datetime1">
              <a:rPr lang="en-IN" smtClean="0"/>
              <a:t>15-09-2018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0847-25F4-1548-A6F9-20471201050C}" type="datetime1">
              <a:rPr lang="en-IN" smtClean="0"/>
              <a:t>15-09-2018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6C9D-C35A-C742-A06B-5C260AE988D9}" type="datetime1">
              <a:rPr lang="en-IN" smtClean="0"/>
              <a:t>15-09-2018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3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E95D-D484-394B-9EB8-217CC85D01D1}" type="datetime1">
              <a:rPr lang="en-IN" smtClean="0"/>
              <a:t>15-09-2018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3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430F-4B25-8542-B499-EFC91618FA05}" type="datetime1">
              <a:rPr lang="en-IN" smtClean="0"/>
              <a:t>15-09-2018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09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FA844-6EAB-DC46-9FA0-CA79DB3894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9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CF051-0237-3846-9B2C-3CD51D1EDE76}" type="datetime1">
              <a:rPr lang="en-IN" smtClean="0"/>
              <a:t>15-09-2018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48154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F3E6A548-B2ED-8C42-9E64-DB4B1D814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9144000" cy="8902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075284"/>
            <a:ext cx="9144000" cy="8902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" y="4693522"/>
            <a:ext cx="1526815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2800" b="0" i="1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pple Chancery"/>
                <a:cs typeface="Apple Chancery"/>
              </a:rPr>
              <a:t>CR</a:t>
            </a:r>
            <a:endParaRPr lang="en-US" sz="2800" b="0" i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pple Chancery"/>
              <a:cs typeface="Apple Chancery"/>
            </a:endParaRPr>
          </a:p>
        </p:txBody>
      </p:sp>
    </p:spTree>
    <p:extLst>
      <p:ext uri="{BB962C8B-B14F-4D97-AF65-F5344CB8AC3E}">
        <p14:creationId xmlns:p14="http://schemas.microsoft.com/office/powerpoint/2010/main" val="347352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etrebeiro@bitbucket.org/casl/sse.gi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hetrebeiro@bitbucket.org/casl/sse.gi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hetrebeiro@bitbucket.org/casl/sse.gi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hetrebeiro@bitbucket.org/casl/sse.gi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trebeiro@bitbucket.org/casl/sse.gi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shs/Ropper" TargetMode="External"/><Relationship Id="rId2" Type="http://schemas.openxmlformats.org/officeDocument/2006/relationships/hyperlink" Target="https://github.com/JonathanSalwan/ROPgadget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etrebeiro@bitbucket.org/casl/sse.git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etrebeiro@bitbucket.org/casl/sse.git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etrebeiro@bitbucket.org/casl/sse.git" TargetMode="External"/><Relationship Id="rId4" Type="http://schemas.openxmlformats.org/officeDocument/2006/relationships/image" Target="../media/image5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52237"/>
            <a:ext cx="7772400" cy="110251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 smtClean="0">
                <a:latin typeface="Arial" charset="0"/>
              </a:rPr>
              <a:t>Secure Systems Engineering</a:t>
            </a:r>
            <a:br>
              <a:rPr lang="en-US" sz="4000" dirty="0" smtClean="0">
                <a:latin typeface="Arial" charset="0"/>
              </a:rPr>
            </a:br>
            <a:r>
              <a:rPr lang="en-US" sz="4000" dirty="0">
                <a:latin typeface="Arial" charset="0"/>
              </a:rPr>
              <a:t/>
            </a:r>
            <a:br>
              <a:rPr lang="en-US" sz="4000" dirty="0">
                <a:latin typeface="Arial" charset="0"/>
              </a:rPr>
            </a:br>
            <a:r>
              <a:rPr lang="en-US" sz="4000" dirty="0" smtClean="0">
                <a:latin typeface="Arial" charset="0"/>
              </a:rPr>
              <a:t>Binary Exploitation 1</a:t>
            </a:r>
            <a:br>
              <a:rPr lang="en-US" sz="4000" dirty="0" smtClean="0">
                <a:latin typeface="Arial" charset="0"/>
              </a:rPr>
            </a:br>
            <a:endParaRPr lang="en-US" sz="3200" dirty="0">
              <a:latin typeface="Arial" charset="0"/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>
                <a:latin typeface="Arial" charset="0"/>
              </a:rPr>
              <a:t>Chester Rebeiro</a:t>
            </a:r>
          </a:p>
          <a:p>
            <a:pPr eaLnBrk="1" hangingPunct="1"/>
            <a:endParaRPr lang="en-US">
              <a:latin typeface="Arial" charset="0"/>
            </a:endParaRPr>
          </a:p>
          <a:p>
            <a:pPr eaLnBrk="1" hangingPunct="1"/>
            <a:r>
              <a:rPr lang="en-US" sz="2400">
                <a:latin typeface="Arial" charset="0"/>
              </a:rPr>
              <a:t>Indian Institute of Technology Madras</a:t>
            </a:r>
          </a:p>
        </p:txBody>
      </p:sp>
    </p:spTree>
    <p:extLst>
      <p:ext uri="{BB962C8B-B14F-4D97-AF65-F5344CB8AC3E}">
        <p14:creationId xmlns:p14="http://schemas.microsoft.com/office/powerpoint/2010/main" val="424116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Parts of Malware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Two parts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660066"/>
                </a:solidFill>
              </a:rPr>
              <a:t>Subvert execution: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change the normal execution behavior of the program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660066"/>
                </a:solidFill>
              </a:rPr>
              <a:t>Payload: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the code which the attacker wants to execute</a:t>
            </a:r>
            <a:br>
              <a:rPr lang="en-US" sz="2000" dirty="0" smtClean="0"/>
            </a:b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301246" y="4307161"/>
            <a:ext cx="5126598" cy="1176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04547" y="4330681"/>
            <a:ext cx="1509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expected flow</a:t>
            </a:r>
          </a:p>
          <a:p>
            <a:r>
              <a:rPr lang="en-US" dirty="0" smtClean="0"/>
              <a:t>of a program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690058" y="3203286"/>
            <a:ext cx="5199553" cy="1391338"/>
            <a:chOff x="690057" y="4271047"/>
            <a:chExt cx="5199553" cy="1855117"/>
          </a:xfrm>
        </p:grpSpPr>
        <p:cxnSp>
          <p:nvCxnSpPr>
            <p:cNvPr id="9" name="Curved Connector 8"/>
            <p:cNvCxnSpPr/>
            <p:nvPr/>
          </p:nvCxnSpPr>
          <p:spPr>
            <a:xfrm flipV="1">
              <a:off x="2571138" y="4594213"/>
              <a:ext cx="2288939" cy="1148668"/>
            </a:xfrm>
            <a:prstGeom prst="curvedConnector3">
              <a:avLst/>
            </a:prstGeom>
            <a:ln>
              <a:solidFill>
                <a:srgbClr val="FF0000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909880" y="4271047"/>
              <a:ext cx="979730" cy="861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Execute </a:t>
              </a:r>
            </a:p>
            <a:p>
              <a:r>
                <a:rPr lang="en-US" dirty="0" smtClean="0"/>
                <a:t> payload</a:t>
              </a: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2257584" y="5331169"/>
              <a:ext cx="564396" cy="79499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0057" y="4865906"/>
              <a:ext cx="188423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Subvert execution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441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Parts of Malware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Two parts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660066"/>
                </a:solidFill>
              </a:rPr>
              <a:t>Subvert execution: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change the normal execution behavior of the program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660066"/>
                </a:solidFill>
              </a:rPr>
              <a:t>Payload: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the code which the attacker wants to execute</a:t>
            </a:r>
            <a:br>
              <a:rPr lang="en-US" sz="2000" dirty="0" smtClean="0"/>
            </a:b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3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301246" y="4307161"/>
            <a:ext cx="5126598" cy="1176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04547" y="4330681"/>
            <a:ext cx="1509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expected flow</a:t>
            </a:r>
          </a:p>
          <a:p>
            <a:r>
              <a:rPr lang="en-US" dirty="0" smtClean="0"/>
              <a:t>of a program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690058" y="3203286"/>
            <a:ext cx="5199553" cy="1391338"/>
            <a:chOff x="690057" y="4271047"/>
            <a:chExt cx="5199553" cy="1855117"/>
          </a:xfrm>
        </p:grpSpPr>
        <p:cxnSp>
          <p:nvCxnSpPr>
            <p:cNvPr id="9" name="Curved Connector 8"/>
            <p:cNvCxnSpPr/>
            <p:nvPr/>
          </p:nvCxnSpPr>
          <p:spPr>
            <a:xfrm flipV="1">
              <a:off x="2571138" y="4594213"/>
              <a:ext cx="2288939" cy="1148668"/>
            </a:xfrm>
            <a:prstGeom prst="curvedConnector3">
              <a:avLst/>
            </a:prstGeom>
            <a:ln>
              <a:solidFill>
                <a:srgbClr val="FF0000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909880" y="4271047"/>
              <a:ext cx="979730" cy="861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Execute </a:t>
              </a:r>
            </a:p>
            <a:p>
              <a:r>
                <a:rPr lang="en-US" dirty="0" smtClean="0"/>
                <a:t> payload</a:t>
              </a: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2257584" y="5331169"/>
              <a:ext cx="564396" cy="79499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0057" y="4865906"/>
              <a:ext cx="188423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Subvert execution</a:t>
              </a:r>
              <a:endParaRPr lang="en-US" dirty="0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10" y="2596309"/>
            <a:ext cx="1658458" cy="1053121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2571138" y="1375912"/>
            <a:ext cx="3168576" cy="976075"/>
          </a:xfrm>
          <a:prstGeom prst="wedgeRoundRectCallout">
            <a:avLst>
              <a:gd name="adj1" fmla="val 60962"/>
              <a:gd name="adj2" fmla="val 96235"/>
              <a:gd name="adj3" fmla="val 16667"/>
            </a:avLst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Malware takes complete control of the process. Has all the privileges that the process has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3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Subvert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1200151"/>
            <a:ext cx="4130675" cy="339447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600" dirty="0" smtClean="0"/>
          </a:p>
          <a:p>
            <a:r>
              <a:rPr lang="en-US" sz="2000" dirty="0" smtClean="0">
                <a:solidFill>
                  <a:srgbClr val="660066"/>
                </a:solidFill>
              </a:rPr>
              <a:t>In system software	</a:t>
            </a:r>
          </a:p>
          <a:p>
            <a:pPr lvl="1"/>
            <a:r>
              <a:rPr lang="en-US" sz="1800" dirty="0" smtClean="0"/>
              <a:t>Buffers overflows and </a:t>
            </a:r>
            <a:r>
              <a:rPr lang="en-US" sz="1800" dirty="0" err="1" smtClean="0"/>
              <a:t>overreads</a:t>
            </a:r>
            <a:endParaRPr lang="en-US" sz="1800" dirty="0" smtClean="0"/>
          </a:p>
          <a:p>
            <a:pPr lvl="1"/>
            <a:r>
              <a:rPr lang="en-US" sz="1800" dirty="0" smtClean="0"/>
              <a:t>Heap: </a:t>
            </a:r>
            <a:r>
              <a:rPr lang="en-US" sz="1600" dirty="0" smtClean="0"/>
              <a:t>double free, use after free</a:t>
            </a:r>
          </a:p>
          <a:p>
            <a:pPr lvl="1"/>
            <a:r>
              <a:rPr lang="en-US" sz="1600" dirty="0" smtClean="0"/>
              <a:t>Integer overflows</a:t>
            </a:r>
          </a:p>
          <a:p>
            <a:pPr lvl="1"/>
            <a:r>
              <a:rPr lang="en-US" sz="1800" dirty="0" smtClean="0"/>
              <a:t>Format string</a:t>
            </a:r>
          </a:p>
          <a:p>
            <a:pPr lvl="1"/>
            <a:r>
              <a:rPr lang="en-US" sz="1800" dirty="0" smtClean="0"/>
              <a:t>Control Flow</a:t>
            </a:r>
          </a:p>
          <a:p>
            <a:pPr marL="457200" lvl="1" indent="0">
              <a:buNone/>
            </a:pP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5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Buffer Overflows in the Stack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Arial" charset="0"/>
              </a:rPr>
              <a:t>We need to first know how a stack is managed</a:t>
            </a:r>
          </a:p>
        </p:txBody>
      </p:sp>
      <p:sp>
        <p:nvSpPr>
          <p:cNvPr id="2" name="Rectangle 1"/>
          <p:cNvSpPr/>
          <p:nvPr/>
        </p:nvSpPr>
        <p:spPr>
          <a:xfrm>
            <a:off x="244211" y="4742387"/>
            <a:ext cx="3972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insecure.org</a:t>
            </a:r>
            <a:r>
              <a:rPr lang="en-US" dirty="0"/>
              <a:t>/</a:t>
            </a:r>
            <a:r>
              <a:rPr lang="en-US" dirty="0" err="1"/>
              <a:t>stf</a:t>
            </a:r>
            <a:r>
              <a:rPr lang="en-US" dirty="0"/>
              <a:t>/</a:t>
            </a:r>
            <a:r>
              <a:rPr lang="en-US" dirty="0" err="1" smtClean="0"/>
              <a:t>smashstack.html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9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Stack in a Program</a:t>
            </a:r>
            <a:br>
              <a:rPr lang="en-US" sz="4000">
                <a:latin typeface="Arial" charset="0"/>
              </a:rPr>
            </a:br>
            <a:r>
              <a:rPr lang="en-US" sz="4000">
                <a:latin typeface="Arial" charset="0"/>
              </a:rPr>
              <a:t>(when function is executing)</a:t>
            </a:r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5" y="1063230"/>
            <a:ext cx="4038600" cy="1441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438" y="2195859"/>
            <a:ext cx="5994400" cy="2609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Rectangle 33"/>
          <p:cNvSpPr/>
          <p:nvPr/>
        </p:nvSpPr>
        <p:spPr>
          <a:xfrm>
            <a:off x="815663" y="4775939"/>
            <a:ext cx="741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://chetrebeiro@bitbucket.org/casl/</a:t>
            </a:r>
            <a:r>
              <a:rPr lang="en-US" dirty="0" smtClean="0">
                <a:hlinkClick r:id="rId4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/smash)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2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Stack in a Program</a:t>
            </a:r>
            <a:br>
              <a:rPr lang="en-US" sz="4000">
                <a:latin typeface="Arial" charset="0"/>
              </a:rPr>
            </a:br>
            <a:r>
              <a:rPr lang="en-US" sz="4000">
                <a:latin typeface="Arial" charset="0"/>
              </a:rPr>
              <a:t>(when function is executing)</a:t>
            </a:r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43052"/>
            <a:ext cx="4038600" cy="1441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8452872" y="2743200"/>
            <a:ext cx="5270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ebp</a:t>
            </a:r>
            <a:endParaRPr lang="en-US" sz="1600" dirty="0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705600" y="1543050"/>
            <a:ext cx="1676400" cy="22176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6705600" y="1760495"/>
            <a:ext cx="1676400" cy="6286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Parameters </a:t>
            </a:r>
          </a:p>
          <a:p>
            <a:pPr algn="ctr"/>
            <a:r>
              <a:rPr lang="en-US" sz="1600" dirty="0"/>
              <a:t>for function</a:t>
            </a:r>
          </a:p>
          <a:p>
            <a:pPr algn="ctr"/>
            <a:endParaRPr lang="en-US" sz="1600" dirty="0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711950" y="2389016"/>
            <a:ext cx="1676400" cy="285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6705600" y="2960644"/>
            <a:ext cx="1676400" cy="514350"/>
          </a:xfrm>
          <a:prstGeom prst="rect">
            <a:avLst/>
          </a:prstGeom>
          <a:solidFill>
            <a:srgbClr val="77933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Locals of function</a:t>
            </a: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6705600" y="2674895"/>
            <a:ext cx="1676400" cy="285750"/>
          </a:xfrm>
          <a:prstGeom prst="rect">
            <a:avLst/>
          </a:prstGeom>
          <a:solidFill>
            <a:srgbClr val="77933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 err="1"/>
              <a:t>prev</a:t>
            </a:r>
            <a:r>
              <a:rPr lang="en-US" sz="1600" dirty="0"/>
              <a:t> frame pointer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3672988"/>
            <a:ext cx="2123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Courier New"/>
                <a:cs typeface="Courier New"/>
              </a:rPr>
              <a:t>Put 3 in stack</a:t>
            </a:r>
          </a:p>
          <a:p>
            <a:r>
              <a:rPr lang="en-US" b="1" dirty="0" smtClean="0">
                <a:latin typeface="Courier New"/>
                <a:cs typeface="Courier New"/>
              </a:rPr>
              <a:t>Put 2 in stack</a:t>
            </a:r>
          </a:p>
          <a:p>
            <a:r>
              <a:rPr lang="en-US" b="1" dirty="0" smtClean="0">
                <a:latin typeface="Courier New"/>
                <a:cs typeface="Courier New"/>
              </a:rPr>
              <a:t>Put 1 in stack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05996" y="1264526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Stack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185" y="4408098"/>
            <a:ext cx="198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Courier New"/>
                <a:cs typeface="Courier New"/>
              </a:rPr>
              <a:t>call function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88604" y="3692430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Courier New"/>
                <a:cs typeface="Courier New"/>
              </a:rPr>
              <a:t>push %</a:t>
            </a:r>
            <a:r>
              <a:rPr lang="en-US" b="1" dirty="0" err="1" smtClean="0">
                <a:latin typeface="Courier New"/>
                <a:cs typeface="Courier New"/>
              </a:rPr>
              <a:t>ebp</a:t>
            </a:r>
            <a:endParaRPr lang="en-US" b="1" dirty="0" smtClean="0">
              <a:latin typeface="Courier New"/>
              <a:cs typeface="Courier New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2409" y="3893457"/>
            <a:ext cx="2123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latin typeface="Courier New"/>
                <a:cs typeface="Courier New"/>
              </a:rPr>
              <a:t>mov</a:t>
            </a:r>
            <a:r>
              <a:rPr lang="en-US" b="1" dirty="0" smtClean="0">
                <a:latin typeface="Courier New"/>
                <a:cs typeface="Courier New"/>
              </a:rPr>
              <a:t> %</a:t>
            </a:r>
            <a:r>
              <a:rPr lang="en-US" b="1" dirty="0" err="1" smtClean="0">
                <a:latin typeface="Courier New"/>
                <a:cs typeface="Courier New"/>
              </a:rPr>
              <a:t>esp</a:t>
            </a:r>
            <a:r>
              <a:rPr lang="en-US" b="1" dirty="0" smtClean="0">
                <a:latin typeface="Courier New"/>
                <a:cs typeface="Courier New"/>
              </a:rPr>
              <a:t>, %</a:t>
            </a:r>
            <a:r>
              <a:rPr lang="en-US" b="1" dirty="0" err="1" smtClean="0">
                <a:latin typeface="Courier New"/>
                <a:cs typeface="Courier New"/>
              </a:rPr>
              <a:t>ebp</a:t>
            </a:r>
            <a:endParaRPr lang="en-US" b="1" dirty="0" smtClean="0">
              <a:latin typeface="Courier New"/>
              <a:cs typeface="Courier New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2409" y="4140122"/>
            <a:ext cx="2262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Courier New"/>
                <a:cs typeface="Courier New"/>
              </a:rPr>
              <a:t>sub $0x10, %</a:t>
            </a:r>
            <a:r>
              <a:rPr lang="en-US" b="1" dirty="0" err="1" smtClean="0">
                <a:latin typeface="Courier New"/>
                <a:cs typeface="Courier New"/>
              </a:rPr>
              <a:t>esp</a:t>
            </a:r>
            <a:endParaRPr lang="en-US" b="1" dirty="0" smtClean="0">
              <a:latin typeface="Courier New"/>
              <a:cs typeface="Courier New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6398640" y="3924759"/>
            <a:ext cx="21233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smtClean="0"/>
              <a:t>%</a:t>
            </a:r>
            <a:r>
              <a:rPr lang="en-US" sz="1600" dirty="0" err="1" smtClean="0"/>
              <a:t>ebp</a:t>
            </a:r>
            <a:r>
              <a:rPr lang="en-US" sz="1600" dirty="0" smtClean="0"/>
              <a:t>: Frame Pointer</a:t>
            </a:r>
            <a:endParaRPr lang="en-US" sz="1600" dirty="0"/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595007" y="3441691"/>
            <a:ext cx="9482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smtClean="0">
                <a:latin typeface="Apple Chancery"/>
                <a:cs typeface="Apple Chancery"/>
              </a:rPr>
              <a:t>In main</a:t>
            </a:r>
            <a:endParaRPr lang="en-US" sz="1600" dirty="0">
              <a:latin typeface="Apple Chancery"/>
              <a:cs typeface="Apple Chancery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3114073" y="3464527"/>
            <a:ext cx="119070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smtClean="0">
                <a:latin typeface="Apple Chancery"/>
                <a:cs typeface="Apple Chancery"/>
              </a:rPr>
              <a:t>In function</a:t>
            </a:r>
            <a:endParaRPr lang="en-US" sz="1600" dirty="0">
              <a:latin typeface="Apple Chancery"/>
              <a:cs typeface="Apple Chancery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6196464" y="1506579"/>
            <a:ext cx="5154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esp</a:t>
            </a:r>
            <a:endParaRPr lang="en-US" sz="1600" dirty="0"/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183764" y="1744943"/>
            <a:ext cx="5154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esp</a:t>
            </a:r>
            <a:endParaRPr lang="en-US" sz="1600" dirty="0"/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6183764" y="2187489"/>
            <a:ext cx="5154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esp</a:t>
            </a:r>
            <a:endParaRPr lang="en-US" sz="1600" dirty="0"/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6171064" y="2404951"/>
            <a:ext cx="5154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esp</a:t>
            </a:r>
            <a:endParaRPr lang="en-US" sz="1600" dirty="0"/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6171064" y="2698506"/>
            <a:ext cx="5154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esp</a:t>
            </a:r>
            <a:endParaRPr lang="en-US" sz="1600" dirty="0"/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6142245" y="3244194"/>
            <a:ext cx="5154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err="1" smtClean="0"/>
              <a:t>esp</a:t>
            </a:r>
            <a:endParaRPr lang="en-US" sz="1600" dirty="0"/>
          </a:p>
        </p:txBody>
      </p:sp>
      <p:sp>
        <p:nvSpPr>
          <p:cNvPr id="33" name="Text Box 10"/>
          <p:cNvSpPr txBox="1">
            <a:spLocks noChangeArrowheads="1"/>
          </p:cNvSpPr>
          <p:nvPr/>
        </p:nvSpPr>
        <p:spPr bwMode="auto">
          <a:xfrm>
            <a:off x="6407313" y="4129035"/>
            <a:ext cx="20892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 smtClean="0"/>
              <a:t>%</a:t>
            </a:r>
            <a:r>
              <a:rPr lang="en-US" sz="1600" dirty="0" err="1" smtClean="0"/>
              <a:t>esp</a:t>
            </a:r>
            <a:r>
              <a:rPr lang="en-US" sz="1600" dirty="0" smtClean="0"/>
              <a:t> : Stack Pointer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</a:t>
            </a:fld>
            <a:endParaRPr lang="en-US"/>
          </a:p>
        </p:txBody>
      </p:sp>
      <p:sp>
        <p:nvSpPr>
          <p:cNvPr id="5" name="Left Brace 4"/>
          <p:cNvSpPr/>
          <p:nvPr/>
        </p:nvSpPr>
        <p:spPr>
          <a:xfrm>
            <a:off x="313553" y="3672988"/>
            <a:ext cx="254632" cy="6924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 rot="16200000">
            <a:off x="-452686" y="382203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24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/>
      <p:bldP spid="12301" grpId="0" animBg="1"/>
      <p:bldP spid="12302" grpId="0" animBg="1"/>
      <p:bldP spid="12303" grpId="0" animBg="1"/>
      <p:bldP spid="12304" grpId="0" animBg="1"/>
      <p:bldP spid="2" grpId="0"/>
      <p:bldP spid="17" grpId="0"/>
      <p:bldP spid="18" grpId="0"/>
      <p:bldP spid="19" grpId="0"/>
      <p:bldP spid="22" grpId="0"/>
      <p:bldP spid="27" grpId="0"/>
      <p:bldP spid="28" grpId="0"/>
      <p:bldP spid="28" grpId="1"/>
      <p:bldP spid="29" grpId="0"/>
      <p:bldP spid="29" grpId="1"/>
      <p:bldP spid="30" grpId="1"/>
      <p:bldP spid="30" grpId="2"/>
      <p:bldP spid="31" grpId="0"/>
      <p:bldP spid="31" grpId="1"/>
      <p:bldP spid="32" grpId="0"/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Stack Usage (example)</a:t>
            </a:r>
          </a:p>
        </p:txBody>
      </p:sp>
      <p:graphicFrame>
        <p:nvGraphicFramePr>
          <p:cNvPr id="13365" name="Group 53"/>
          <p:cNvGraphicFramePr>
            <a:graphicFrameLocks noGrp="1"/>
          </p:cNvGraphicFramePr>
          <p:nvPr>
            <p:ph idx="1"/>
          </p:nvPr>
        </p:nvGraphicFramePr>
        <p:xfrm>
          <a:off x="5029200" y="1143000"/>
          <a:ext cx="3657600" cy="360878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1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Stack 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(top to bottom):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address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stored data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 to 997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996 to 993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992 to 989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988 to 985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 address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984 to 981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%ebp (stored frame pointer)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(%ebp)980 to 976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975 to 966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buffer2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(%sp) 964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494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3" y="1371601"/>
            <a:ext cx="2638425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95" name="AutoShape 43"/>
          <p:cNvSpPr>
            <a:spLocks/>
          </p:cNvSpPr>
          <p:nvPr/>
        </p:nvSpPr>
        <p:spPr bwMode="auto">
          <a:xfrm>
            <a:off x="4800600" y="1828800"/>
            <a:ext cx="152400" cy="1143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6" name="AutoShape 45"/>
          <p:cNvSpPr>
            <a:spLocks/>
          </p:cNvSpPr>
          <p:nvPr/>
        </p:nvSpPr>
        <p:spPr bwMode="auto">
          <a:xfrm>
            <a:off x="4800600" y="3829050"/>
            <a:ext cx="152400" cy="6858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7" name="Text Box 48"/>
          <p:cNvSpPr txBox="1">
            <a:spLocks noChangeArrowheads="1"/>
          </p:cNvSpPr>
          <p:nvPr/>
        </p:nvSpPr>
        <p:spPr bwMode="auto">
          <a:xfrm>
            <a:off x="34928" y="4589860"/>
            <a:ext cx="13479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/>
              <a:t>stack pointer</a:t>
            </a:r>
          </a:p>
        </p:txBody>
      </p:sp>
      <p:sp>
        <p:nvSpPr>
          <p:cNvPr id="19498" name="Rectangle 54"/>
          <p:cNvSpPr>
            <a:spLocks noChangeArrowheads="1"/>
          </p:cNvSpPr>
          <p:nvPr/>
        </p:nvSpPr>
        <p:spPr bwMode="auto">
          <a:xfrm>
            <a:off x="5029200" y="1828800"/>
            <a:ext cx="3657600" cy="11430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9" name="Rectangle 55"/>
          <p:cNvSpPr>
            <a:spLocks noChangeArrowheads="1"/>
          </p:cNvSpPr>
          <p:nvPr/>
        </p:nvSpPr>
        <p:spPr bwMode="auto">
          <a:xfrm>
            <a:off x="5029200" y="2971800"/>
            <a:ext cx="3657600" cy="40005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00" name="Rectangle 56"/>
          <p:cNvSpPr>
            <a:spLocks noChangeArrowheads="1"/>
          </p:cNvSpPr>
          <p:nvPr/>
        </p:nvSpPr>
        <p:spPr bwMode="auto">
          <a:xfrm>
            <a:off x="5029200" y="3371850"/>
            <a:ext cx="3657600" cy="4572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01" name="Rectangle 57"/>
          <p:cNvSpPr>
            <a:spLocks noChangeArrowheads="1"/>
          </p:cNvSpPr>
          <p:nvPr/>
        </p:nvSpPr>
        <p:spPr bwMode="auto">
          <a:xfrm>
            <a:off x="5029200" y="3829050"/>
            <a:ext cx="3657600" cy="6858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02" name="Rectangle 58"/>
          <p:cNvSpPr>
            <a:spLocks noChangeArrowheads="1"/>
          </p:cNvSpPr>
          <p:nvPr/>
        </p:nvSpPr>
        <p:spPr bwMode="auto">
          <a:xfrm>
            <a:off x="1295400" y="45720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9503" name="Rectangle 59"/>
          <p:cNvSpPr>
            <a:spLocks noChangeArrowheads="1"/>
          </p:cNvSpPr>
          <p:nvPr/>
        </p:nvSpPr>
        <p:spPr bwMode="auto">
          <a:xfrm>
            <a:off x="1295400" y="2857500"/>
            <a:ext cx="1676400" cy="6286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Parameters </a:t>
            </a:r>
          </a:p>
          <a:p>
            <a:pPr algn="ctr"/>
            <a:r>
              <a:rPr lang="en-US" dirty="0"/>
              <a:t>for function</a:t>
            </a:r>
          </a:p>
          <a:p>
            <a:pPr algn="ctr"/>
            <a:endParaRPr lang="en-US" dirty="0"/>
          </a:p>
        </p:txBody>
      </p:sp>
      <p:sp>
        <p:nvSpPr>
          <p:cNvPr id="19504" name="Rectangle 60"/>
          <p:cNvSpPr>
            <a:spLocks noChangeArrowheads="1"/>
          </p:cNvSpPr>
          <p:nvPr/>
        </p:nvSpPr>
        <p:spPr bwMode="auto">
          <a:xfrm>
            <a:off x="1295400" y="3486150"/>
            <a:ext cx="1676400" cy="2857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19505" name="Rectangle 61"/>
          <p:cNvSpPr>
            <a:spLocks noChangeArrowheads="1"/>
          </p:cNvSpPr>
          <p:nvPr/>
        </p:nvSpPr>
        <p:spPr bwMode="auto">
          <a:xfrm>
            <a:off x="1295400" y="4057650"/>
            <a:ext cx="1676400" cy="514350"/>
          </a:xfrm>
          <a:prstGeom prst="rect">
            <a:avLst/>
          </a:prstGeom>
          <a:solidFill>
            <a:srgbClr val="77933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Locals of function</a:t>
            </a:r>
          </a:p>
        </p:txBody>
      </p:sp>
      <p:sp>
        <p:nvSpPr>
          <p:cNvPr id="19506" name="Rectangle 62"/>
          <p:cNvSpPr>
            <a:spLocks noChangeArrowheads="1"/>
          </p:cNvSpPr>
          <p:nvPr/>
        </p:nvSpPr>
        <p:spPr bwMode="auto">
          <a:xfrm>
            <a:off x="1295400" y="3771900"/>
            <a:ext cx="1676400" cy="2857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prev frame pointer</a:t>
            </a:r>
          </a:p>
        </p:txBody>
      </p:sp>
      <p:sp>
        <p:nvSpPr>
          <p:cNvPr id="19507" name="Line 63"/>
          <p:cNvSpPr>
            <a:spLocks noChangeShapeType="1"/>
          </p:cNvSpPr>
          <p:nvPr/>
        </p:nvSpPr>
        <p:spPr bwMode="auto">
          <a:xfrm flipV="1">
            <a:off x="2971800" y="2400300"/>
            <a:ext cx="18288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8" name="Line 64"/>
          <p:cNvSpPr>
            <a:spLocks noChangeShapeType="1"/>
          </p:cNvSpPr>
          <p:nvPr/>
        </p:nvSpPr>
        <p:spPr bwMode="auto">
          <a:xfrm flipV="1">
            <a:off x="2971800" y="3143250"/>
            <a:ext cx="20574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9" name="Line 65"/>
          <p:cNvSpPr>
            <a:spLocks noChangeShapeType="1"/>
          </p:cNvSpPr>
          <p:nvPr/>
        </p:nvSpPr>
        <p:spPr bwMode="auto">
          <a:xfrm flipV="1">
            <a:off x="2971800" y="3543300"/>
            <a:ext cx="20574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0" name="Line 66"/>
          <p:cNvSpPr>
            <a:spLocks noChangeShapeType="1"/>
          </p:cNvSpPr>
          <p:nvPr/>
        </p:nvSpPr>
        <p:spPr bwMode="auto">
          <a:xfrm flipV="1">
            <a:off x="2971800" y="4171950"/>
            <a:ext cx="19050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1" name="Line 67"/>
          <p:cNvSpPr>
            <a:spLocks noChangeShapeType="1"/>
          </p:cNvSpPr>
          <p:nvPr/>
        </p:nvSpPr>
        <p:spPr bwMode="auto">
          <a:xfrm flipV="1">
            <a:off x="2971800" y="4629150"/>
            <a:ext cx="205740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2" name="Text Box 68"/>
          <p:cNvSpPr txBox="1">
            <a:spLocks noChangeArrowheads="1"/>
          </p:cNvSpPr>
          <p:nvPr/>
        </p:nvSpPr>
        <p:spPr bwMode="auto">
          <a:xfrm>
            <a:off x="3" y="3789760"/>
            <a:ext cx="1393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/>
              <a:t>frame pointer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9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Stack </a:t>
            </a:r>
            <a:r>
              <a:rPr lang="en-US" dirty="0" smtClean="0">
                <a:latin typeface="Arial" charset="0"/>
              </a:rPr>
              <a:t>Usage</a:t>
            </a:r>
            <a:endParaRPr lang="en-US" dirty="0">
              <a:latin typeface="Arial" charset="0"/>
            </a:endParaRPr>
          </a:p>
        </p:txBody>
      </p:sp>
      <p:graphicFrame>
        <p:nvGraphicFramePr>
          <p:cNvPr id="1536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390388"/>
              </p:ext>
            </p:extLst>
          </p:nvPr>
        </p:nvGraphicFramePr>
        <p:xfrm>
          <a:off x="5029200" y="1143000"/>
          <a:ext cx="3657600" cy="360878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1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Stack 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(top to bottom):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address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stored data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 to 997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996 to 993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992 to 989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988 to 985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 address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984 to 981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%ebp (stored frame pointer)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(%ebp)980 to 976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975 to 966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buffer2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(%sp) 964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1542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3" y="1371601"/>
            <a:ext cx="2638425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43" name="Rectangle 41"/>
          <p:cNvSpPr>
            <a:spLocks noChangeArrowheads="1"/>
          </p:cNvSpPr>
          <p:nvPr/>
        </p:nvSpPr>
        <p:spPr bwMode="auto">
          <a:xfrm>
            <a:off x="5029200" y="1828800"/>
            <a:ext cx="3657600" cy="11430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4" name="Rectangle 42"/>
          <p:cNvSpPr>
            <a:spLocks noChangeArrowheads="1"/>
          </p:cNvSpPr>
          <p:nvPr/>
        </p:nvSpPr>
        <p:spPr bwMode="auto">
          <a:xfrm>
            <a:off x="5029200" y="2971800"/>
            <a:ext cx="3657600" cy="40005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5" name="Rectangle 43"/>
          <p:cNvSpPr>
            <a:spLocks noChangeArrowheads="1"/>
          </p:cNvSpPr>
          <p:nvPr/>
        </p:nvSpPr>
        <p:spPr bwMode="auto">
          <a:xfrm>
            <a:off x="5029200" y="3371850"/>
            <a:ext cx="3657600" cy="4572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6" name="Rectangle 44"/>
          <p:cNvSpPr>
            <a:spLocks noChangeArrowheads="1"/>
          </p:cNvSpPr>
          <p:nvPr/>
        </p:nvSpPr>
        <p:spPr bwMode="auto">
          <a:xfrm>
            <a:off x="5029200" y="3829050"/>
            <a:ext cx="3657600" cy="6858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16" name="Rectangle 56"/>
          <p:cNvSpPr>
            <a:spLocks noChangeArrowheads="1"/>
          </p:cNvSpPr>
          <p:nvPr/>
        </p:nvSpPr>
        <p:spPr bwMode="auto">
          <a:xfrm>
            <a:off x="304800" y="2857501"/>
            <a:ext cx="4495800" cy="179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000" dirty="0" smtClean="0"/>
              <a:t>Legal range of buffer2 is from 975 to 966</a:t>
            </a:r>
          </a:p>
          <a:p>
            <a:pPr>
              <a:spcBef>
                <a:spcPct val="20000"/>
              </a:spcBef>
            </a:pPr>
            <a:r>
              <a:rPr lang="en-US" sz="2000" dirty="0" smtClean="0"/>
              <a:t>However, this assignment will be permitted:</a:t>
            </a:r>
            <a:endParaRPr lang="en-US" sz="2000" dirty="0"/>
          </a:p>
          <a:p>
            <a:pPr>
              <a:spcBef>
                <a:spcPct val="20000"/>
              </a:spcBef>
            </a:pPr>
            <a:r>
              <a:rPr lang="en-US" altLang="ja-JP" sz="2000" dirty="0" smtClean="0"/>
              <a:t>buffer2</a:t>
            </a:r>
            <a:r>
              <a:rPr lang="en-US" altLang="ja-JP" sz="2000" dirty="0"/>
              <a:t>[10</a:t>
            </a:r>
            <a:r>
              <a:rPr lang="en-US" altLang="ja-JP" sz="2000" dirty="0" smtClean="0"/>
              <a:t>]</a:t>
            </a:r>
            <a:r>
              <a:rPr lang="en-US" altLang="ja-JP" sz="2000" dirty="0"/>
              <a:t> </a:t>
            </a:r>
            <a:r>
              <a:rPr lang="en-US" altLang="ja-JP" sz="2000" dirty="0" smtClean="0"/>
              <a:t>= ‘a’;</a:t>
            </a:r>
            <a:endParaRPr lang="en-US" altLang="ja-JP" sz="2000" dirty="0"/>
          </a:p>
          <a:p>
            <a:pPr marL="342900" indent="-342900">
              <a:spcBef>
                <a:spcPct val="20000"/>
              </a:spcBef>
            </a:pPr>
            <a:r>
              <a:rPr lang="en-US" sz="2000" dirty="0"/>
              <a:t>      976 </a:t>
            </a:r>
            <a:r>
              <a:rPr lang="en-US" sz="2000" dirty="0">
                <a:sym typeface="Wingdings" charset="0"/>
              </a:rPr>
              <a:t> buffer1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b="1" i="1" dirty="0" smtClean="0">
                <a:sym typeface="Wingdings" charset="0"/>
              </a:rPr>
              <a:t>A </a:t>
            </a:r>
            <a:r>
              <a:rPr lang="en-US" sz="2000" b="1" i="1" dirty="0">
                <a:sym typeface="Wingdings" charset="0"/>
              </a:rPr>
              <a:t>BUFFER OVERFLOW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3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Modifying the Return Address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0"/>
            <a:ext cx="4114800" cy="17145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sz="2000" dirty="0">
                <a:latin typeface="Arial" charset="0"/>
              </a:rPr>
              <a:t>buffer2[19] = 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Arial" charset="0"/>
              </a:rPr>
              <a:t>    &amp;arbitrary memory location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Arial" charset="0"/>
              </a:rPr>
              <a:t>This causes execution of an arbitrary memory location instead of the standard return</a:t>
            </a:r>
          </a:p>
        </p:txBody>
      </p:sp>
      <p:graphicFrame>
        <p:nvGraphicFramePr>
          <p:cNvPr id="17451" name="Group 43"/>
          <p:cNvGraphicFramePr>
            <a:graphicFrameLocks noGrp="1"/>
          </p:cNvGraphicFramePr>
          <p:nvPr/>
        </p:nvGraphicFramePr>
        <p:xfrm>
          <a:off x="4724400" y="1021556"/>
          <a:ext cx="3657600" cy="360878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1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Stack 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(top to bottom):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address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stored data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1000 to 997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996 to 993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992 to 989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988 to 985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984 to 981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%ebp (stored frame pointer)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(%ebp)980 to 976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buffer1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976 to 966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buffer2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(%sp) 964</a:t>
                      </a: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591" name="Rectangle 38"/>
          <p:cNvSpPr>
            <a:spLocks noChangeArrowheads="1"/>
          </p:cNvSpPr>
          <p:nvPr/>
        </p:nvSpPr>
        <p:spPr bwMode="auto">
          <a:xfrm>
            <a:off x="4724400" y="1707356"/>
            <a:ext cx="3657600" cy="11430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2" name="Rectangle 39"/>
          <p:cNvSpPr>
            <a:spLocks noChangeArrowheads="1"/>
          </p:cNvSpPr>
          <p:nvPr/>
        </p:nvSpPr>
        <p:spPr bwMode="auto">
          <a:xfrm>
            <a:off x="4724400" y="2850356"/>
            <a:ext cx="3657600" cy="40005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3" name="Rectangle 40"/>
          <p:cNvSpPr>
            <a:spLocks noChangeArrowheads="1"/>
          </p:cNvSpPr>
          <p:nvPr/>
        </p:nvSpPr>
        <p:spPr bwMode="auto">
          <a:xfrm>
            <a:off x="4724400" y="3250406"/>
            <a:ext cx="3657600" cy="4572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4" name="Rectangle 41"/>
          <p:cNvSpPr>
            <a:spLocks noChangeArrowheads="1"/>
          </p:cNvSpPr>
          <p:nvPr/>
        </p:nvSpPr>
        <p:spPr bwMode="auto">
          <a:xfrm>
            <a:off x="4724400" y="3707606"/>
            <a:ext cx="3657600" cy="6858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2" name="Rectangle 44"/>
          <p:cNvSpPr>
            <a:spLocks noChangeArrowheads="1"/>
          </p:cNvSpPr>
          <p:nvPr/>
        </p:nvSpPr>
        <p:spPr bwMode="auto">
          <a:xfrm>
            <a:off x="6781800" y="2914650"/>
            <a:ext cx="1600200" cy="285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17453" name="Freeform 45"/>
          <p:cNvSpPr>
            <a:spLocks/>
          </p:cNvSpPr>
          <p:nvPr/>
        </p:nvSpPr>
        <p:spPr bwMode="auto">
          <a:xfrm>
            <a:off x="3962400" y="3028950"/>
            <a:ext cx="762000" cy="1200150"/>
          </a:xfrm>
          <a:custGeom>
            <a:avLst/>
            <a:gdLst>
              <a:gd name="T0" fmla="*/ 1209675000 w 480"/>
              <a:gd name="T1" fmla="*/ 2147483647 h 1008"/>
              <a:gd name="T2" fmla="*/ 0 w 480"/>
              <a:gd name="T3" fmla="*/ 967740000 h 1008"/>
              <a:gd name="T4" fmla="*/ 1209675000 w 480"/>
              <a:gd name="T5" fmla="*/ 0 h 1008"/>
              <a:gd name="T6" fmla="*/ 0 60000 65536"/>
              <a:gd name="T7" fmla="*/ 0 60000 65536"/>
              <a:gd name="T8" fmla="*/ 0 60000 65536"/>
              <a:gd name="T9" fmla="*/ 0 w 480"/>
              <a:gd name="T10" fmla="*/ 0 h 1008"/>
              <a:gd name="T11" fmla="*/ 480 w 480"/>
              <a:gd name="T12" fmla="*/ 1008 h 10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008">
                <a:moveTo>
                  <a:pt x="480" y="1008"/>
                </a:moveTo>
                <a:cubicBezTo>
                  <a:pt x="240" y="780"/>
                  <a:pt x="0" y="552"/>
                  <a:pt x="0" y="384"/>
                </a:cubicBezTo>
                <a:cubicBezTo>
                  <a:pt x="0" y="216"/>
                  <a:pt x="240" y="108"/>
                  <a:pt x="4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4" name="Text Box 46"/>
          <p:cNvSpPr txBox="1">
            <a:spLocks noChangeArrowheads="1"/>
          </p:cNvSpPr>
          <p:nvPr/>
        </p:nvSpPr>
        <p:spPr bwMode="auto">
          <a:xfrm>
            <a:off x="3581400" y="3314700"/>
            <a:ext cx="4414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19</a:t>
            </a:r>
          </a:p>
        </p:txBody>
      </p:sp>
      <p:sp>
        <p:nvSpPr>
          <p:cNvPr id="17455" name="Rectangle 47"/>
          <p:cNvSpPr>
            <a:spLocks noChangeArrowheads="1"/>
          </p:cNvSpPr>
          <p:nvPr/>
        </p:nvSpPr>
        <p:spPr bwMode="auto">
          <a:xfrm>
            <a:off x="6781800" y="2914650"/>
            <a:ext cx="1828800" cy="2857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Arbitrary Location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10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12" y="2850357"/>
            <a:ext cx="1658458" cy="10531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3012" y="3952101"/>
            <a:ext cx="2118226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Execution Subverted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3013" y="4261859"/>
            <a:ext cx="291250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Next step </a:t>
            </a:r>
            <a:r>
              <a:rPr lang="mr-IN" dirty="0" smtClean="0"/>
              <a:t>–</a:t>
            </a:r>
            <a:r>
              <a:rPr lang="en-US" dirty="0" smtClean="0"/>
              <a:t> execute payload!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14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2" grpId="0" animBg="1"/>
      <p:bldP spid="17453" grpId="0" animBg="1"/>
      <p:bldP spid="17454" grpId="0"/>
      <p:bldP spid="17455" grpId="0" animBg="1"/>
      <p:bldP spid="3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</a:rPr>
              <a:t>Big Picture of the </a:t>
            </a:r>
            <a:r>
              <a:rPr lang="en-US" dirty="0" smtClean="0">
                <a:latin typeface="Arial" charset="0"/>
              </a:rPr>
              <a:t>exploit</a:t>
            </a:r>
            <a:br>
              <a:rPr lang="en-US" dirty="0" smtClean="0">
                <a:latin typeface="Arial" charset="0"/>
              </a:rPr>
            </a:br>
            <a:r>
              <a:rPr lang="en-US" dirty="0" smtClean="0">
                <a:latin typeface="Arial" charset="0"/>
              </a:rPr>
              <a:t>(execute an arbitrary payload)</a:t>
            </a:r>
            <a:endParaRPr lang="en-US" dirty="0">
              <a:latin typeface="Arial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>
                <a:latin typeface="Arial" charset="0"/>
              </a:rPr>
              <a:t>Fill the stack as follows </a:t>
            </a:r>
          </a:p>
          <a:p>
            <a:pPr eaLnBrk="1" hangingPunct="1">
              <a:buFontTx/>
              <a:buNone/>
            </a:pPr>
            <a:r>
              <a:rPr lang="en-US" sz="2800">
                <a:latin typeface="Arial" charset="0"/>
              </a:rPr>
              <a:t>(where BA is buffer address)</a:t>
            </a:r>
          </a:p>
          <a:p>
            <a:pPr eaLnBrk="1" hangingPunct="1">
              <a:buFontTx/>
              <a:buNone/>
            </a:pPr>
            <a:endParaRPr lang="en-US" sz="2800">
              <a:latin typeface="Arial" charset="0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263528" y="4075510"/>
            <a:ext cx="13479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/>
              <a:t>stack pointer</a:t>
            </a: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1524000" y="40576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1524000" y="2343150"/>
            <a:ext cx="1676400" cy="6286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Parameters </a:t>
            </a:r>
          </a:p>
          <a:p>
            <a:pPr algn="ctr"/>
            <a:r>
              <a:rPr lang="en-US"/>
              <a:t>for function</a:t>
            </a:r>
          </a:p>
          <a:p>
            <a:pPr algn="ctr"/>
            <a:endParaRPr lang="en-US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1524000" y="2971800"/>
            <a:ext cx="1676400" cy="2857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1524000" y="3543300"/>
            <a:ext cx="1676400" cy="5143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buffer</a:t>
            </a:r>
          </a:p>
        </p:txBody>
      </p:sp>
      <p:sp>
        <p:nvSpPr>
          <p:cNvPr id="25610" name="Rectangle 9"/>
          <p:cNvSpPr>
            <a:spLocks noChangeArrowheads="1"/>
          </p:cNvSpPr>
          <p:nvPr/>
        </p:nvSpPr>
        <p:spPr bwMode="auto">
          <a:xfrm>
            <a:off x="1524000" y="3257550"/>
            <a:ext cx="1676400" cy="285750"/>
          </a:xfrm>
          <a:prstGeom prst="rect">
            <a:avLst/>
          </a:prstGeom>
          <a:solidFill>
            <a:srgbClr val="E6B9B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prev frame pointer</a:t>
            </a: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228603" y="3275410"/>
            <a:ext cx="1393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/>
              <a:t>frame pointer</a:t>
            </a:r>
          </a:p>
        </p:txBody>
      </p:sp>
      <p:sp>
        <p:nvSpPr>
          <p:cNvPr id="25612" name="Rectangle 11"/>
          <p:cNvSpPr>
            <a:spLocks noChangeArrowheads="1"/>
          </p:cNvSpPr>
          <p:nvPr/>
        </p:nvSpPr>
        <p:spPr bwMode="auto">
          <a:xfrm>
            <a:off x="5486400" y="4000500"/>
            <a:ext cx="1676400" cy="514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Exploit code</a:t>
            </a:r>
          </a:p>
        </p:txBody>
      </p:sp>
      <p:sp>
        <p:nvSpPr>
          <p:cNvPr id="25613" name="Rectangle 12"/>
          <p:cNvSpPr>
            <a:spLocks noChangeArrowheads="1"/>
          </p:cNvSpPr>
          <p:nvPr/>
        </p:nvSpPr>
        <p:spPr bwMode="auto">
          <a:xfrm>
            <a:off x="5486400" y="37147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14" name="Text Box 13"/>
          <p:cNvSpPr txBox="1">
            <a:spLocks noChangeArrowheads="1"/>
          </p:cNvSpPr>
          <p:nvPr/>
        </p:nvSpPr>
        <p:spPr bwMode="auto">
          <a:xfrm>
            <a:off x="7315202" y="4171951"/>
            <a:ext cx="16689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BA </a:t>
            </a:r>
          </a:p>
          <a:p>
            <a:pPr eaLnBrk="1" hangingPunct="1"/>
            <a:r>
              <a:rPr lang="en-US" sz="1800"/>
              <a:t>buffer Address</a:t>
            </a:r>
          </a:p>
        </p:txBody>
      </p:sp>
      <p:sp>
        <p:nvSpPr>
          <p:cNvPr id="25615" name="Rectangle 14"/>
          <p:cNvSpPr>
            <a:spLocks noChangeArrowheads="1"/>
          </p:cNvSpPr>
          <p:nvPr/>
        </p:nvSpPr>
        <p:spPr bwMode="auto">
          <a:xfrm>
            <a:off x="5486400" y="45148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616" name="Rectangle 15"/>
          <p:cNvSpPr>
            <a:spLocks noChangeArrowheads="1"/>
          </p:cNvSpPr>
          <p:nvPr/>
        </p:nvSpPr>
        <p:spPr bwMode="auto">
          <a:xfrm>
            <a:off x="5486400" y="34290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17" name="Rectangle 16"/>
          <p:cNvSpPr>
            <a:spLocks noChangeArrowheads="1"/>
          </p:cNvSpPr>
          <p:nvPr/>
        </p:nvSpPr>
        <p:spPr bwMode="auto">
          <a:xfrm>
            <a:off x="5486400" y="31432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18" name="Rectangle 17"/>
          <p:cNvSpPr>
            <a:spLocks noChangeArrowheads="1"/>
          </p:cNvSpPr>
          <p:nvPr/>
        </p:nvSpPr>
        <p:spPr bwMode="auto">
          <a:xfrm>
            <a:off x="5486400" y="28575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19" name="Rectangle 18"/>
          <p:cNvSpPr>
            <a:spLocks noChangeArrowheads="1"/>
          </p:cNvSpPr>
          <p:nvPr/>
        </p:nvSpPr>
        <p:spPr bwMode="auto">
          <a:xfrm>
            <a:off x="5486400" y="25717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20" name="Rectangle 19"/>
          <p:cNvSpPr>
            <a:spLocks noChangeArrowheads="1"/>
          </p:cNvSpPr>
          <p:nvPr/>
        </p:nvSpPr>
        <p:spPr bwMode="auto">
          <a:xfrm>
            <a:off x="5486400" y="22860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21" name="Rectangle 20"/>
          <p:cNvSpPr>
            <a:spLocks noChangeArrowheads="1"/>
          </p:cNvSpPr>
          <p:nvPr/>
        </p:nvSpPr>
        <p:spPr bwMode="auto">
          <a:xfrm>
            <a:off x="5486400" y="20002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22" name="Rectangle 21"/>
          <p:cNvSpPr>
            <a:spLocks noChangeArrowheads="1"/>
          </p:cNvSpPr>
          <p:nvPr/>
        </p:nvSpPr>
        <p:spPr bwMode="auto">
          <a:xfrm>
            <a:off x="5486400" y="17145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5623" name="Rectangle 22"/>
          <p:cNvSpPr>
            <a:spLocks noChangeArrowheads="1"/>
          </p:cNvSpPr>
          <p:nvPr/>
        </p:nvSpPr>
        <p:spPr bwMode="auto">
          <a:xfrm>
            <a:off x="5486400" y="3429000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Rectangle 23"/>
          <p:cNvSpPr>
            <a:spLocks noChangeArrowheads="1"/>
          </p:cNvSpPr>
          <p:nvPr/>
        </p:nvSpPr>
        <p:spPr bwMode="auto">
          <a:xfrm>
            <a:off x="5486400" y="3143250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Rectangle 24"/>
          <p:cNvSpPr>
            <a:spLocks noChangeArrowheads="1"/>
          </p:cNvSpPr>
          <p:nvPr/>
        </p:nvSpPr>
        <p:spPr bwMode="auto">
          <a:xfrm>
            <a:off x="5486400" y="2857500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Rectangle 25"/>
          <p:cNvSpPr>
            <a:spLocks noChangeArrowheads="1"/>
          </p:cNvSpPr>
          <p:nvPr/>
        </p:nvSpPr>
        <p:spPr bwMode="auto">
          <a:xfrm>
            <a:off x="5486400" y="2000250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7" name="AutoShape 26"/>
          <p:cNvSpPr>
            <a:spLocks/>
          </p:cNvSpPr>
          <p:nvPr/>
        </p:nvSpPr>
        <p:spPr bwMode="auto">
          <a:xfrm>
            <a:off x="5257800" y="3429000"/>
            <a:ext cx="152400" cy="97155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AutoShape 27"/>
          <p:cNvSpPr>
            <a:spLocks/>
          </p:cNvSpPr>
          <p:nvPr/>
        </p:nvSpPr>
        <p:spPr bwMode="auto">
          <a:xfrm>
            <a:off x="5181600" y="2000250"/>
            <a:ext cx="228600" cy="85725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9" name="Line 28"/>
          <p:cNvSpPr>
            <a:spLocks noChangeShapeType="1"/>
          </p:cNvSpPr>
          <p:nvPr/>
        </p:nvSpPr>
        <p:spPr bwMode="auto">
          <a:xfrm>
            <a:off x="3200400" y="3771900"/>
            <a:ext cx="198120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0" name="Line 29"/>
          <p:cNvSpPr>
            <a:spLocks noChangeShapeType="1"/>
          </p:cNvSpPr>
          <p:nvPr/>
        </p:nvSpPr>
        <p:spPr bwMode="auto">
          <a:xfrm flipV="1">
            <a:off x="3200400" y="3257550"/>
            <a:ext cx="228600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1" name="Line 30"/>
          <p:cNvSpPr>
            <a:spLocks noChangeShapeType="1"/>
          </p:cNvSpPr>
          <p:nvPr/>
        </p:nvSpPr>
        <p:spPr bwMode="auto">
          <a:xfrm flipV="1">
            <a:off x="3200400" y="2971800"/>
            <a:ext cx="228600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2" name="Line 31"/>
          <p:cNvSpPr>
            <a:spLocks noChangeShapeType="1"/>
          </p:cNvSpPr>
          <p:nvPr/>
        </p:nvSpPr>
        <p:spPr bwMode="auto">
          <a:xfrm flipV="1">
            <a:off x="3200400" y="2400300"/>
            <a:ext cx="1981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3" name="Freeform 33"/>
          <p:cNvSpPr>
            <a:spLocks/>
          </p:cNvSpPr>
          <p:nvPr/>
        </p:nvSpPr>
        <p:spPr bwMode="auto">
          <a:xfrm>
            <a:off x="7162800" y="2971800"/>
            <a:ext cx="457200" cy="1543050"/>
          </a:xfrm>
          <a:custGeom>
            <a:avLst/>
            <a:gdLst>
              <a:gd name="T0" fmla="*/ 0 w 288"/>
              <a:gd name="T1" fmla="*/ 0 h 1296"/>
              <a:gd name="T2" fmla="*/ 725805000 w 288"/>
              <a:gd name="T3" fmla="*/ 725805000 h 1296"/>
              <a:gd name="T4" fmla="*/ 0 w 288"/>
              <a:gd name="T5" fmla="*/ 2147483647 h 1296"/>
              <a:gd name="T6" fmla="*/ 0 60000 65536"/>
              <a:gd name="T7" fmla="*/ 0 60000 65536"/>
              <a:gd name="T8" fmla="*/ 0 60000 65536"/>
              <a:gd name="T9" fmla="*/ 0 w 288"/>
              <a:gd name="T10" fmla="*/ 0 h 1296"/>
              <a:gd name="T11" fmla="*/ 288 w 288"/>
              <a:gd name="T12" fmla="*/ 1296 h 1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1296">
                <a:moveTo>
                  <a:pt x="0" y="0"/>
                </a:moveTo>
                <a:cubicBezTo>
                  <a:pt x="144" y="36"/>
                  <a:pt x="288" y="72"/>
                  <a:pt x="288" y="288"/>
                </a:cubicBezTo>
                <a:cubicBezTo>
                  <a:pt x="288" y="504"/>
                  <a:pt x="144" y="900"/>
                  <a:pt x="0" y="1296"/>
                </a:cubicBezTo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0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Payload</a:t>
            </a:r>
            <a:endParaRPr lang="en-US" dirty="0">
              <a:latin typeface="Arial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</a:rPr>
              <a:t>Lets say the attacker wants to spawn a shell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err="1">
                <a:latin typeface="Arial" charset="0"/>
              </a:rPr>
              <a:t>ie</a:t>
            </a:r>
            <a:r>
              <a:rPr lang="en-US" sz="2800" dirty="0">
                <a:latin typeface="Arial" charset="0"/>
              </a:rPr>
              <a:t>. do as follows:</a:t>
            </a: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</a:rPr>
              <a:t>How does he put this code onto the stack?</a:t>
            </a: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787" y="1868092"/>
            <a:ext cx="4038600" cy="129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714500"/>
            <a:ext cx="10033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9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Step 1 : Get machine codes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0151"/>
            <a:ext cx="4038600" cy="129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3" y="1485901"/>
            <a:ext cx="32099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00352"/>
            <a:ext cx="4152900" cy="162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4495800" y="1771650"/>
            <a:ext cx="990600" cy="34290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H="1">
            <a:off x="4572000" y="2686050"/>
            <a:ext cx="914400" cy="34290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4876800" y="3543300"/>
            <a:ext cx="3581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400"/>
              <a:t>objdump –disassemble-all shellcode.o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400"/>
              <a:t>Get machine code : </a:t>
            </a:r>
            <a:r>
              <a:rPr lang="ja-JP" altLang="en-US" sz="1400"/>
              <a:t>“</a:t>
            </a:r>
            <a:r>
              <a:rPr lang="en-US" altLang="ja-JP" sz="1400"/>
              <a:t>eb 1e 5e 89 76 08 c6 46 07 00 c7 46 0c 00 00 00 00 b8 0b 00 00 00 89 f3 8d 4e 08 8d 56 0c cd 80 cd 80</a:t>
            </a:r>
            <a:r>
              <a:rPr lang="ja-JP" altLang="en-US" sz="1400"/>
              <a:t>”</a:t>
            </a:r>
            <a:endParaRPr lang="en-US" altLang="ja-JP" sz="140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400"/>
              <a:t>If there are 00s replace it with other instructions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1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animBg="1"/>
      <p:bldP spid="23560" grpId="0" animBg="1"/>
      <p:bldP spid="235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Step 2: Find Buffer overflow in an application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714751"/>
            <a:ext cx="8229600" cy="879872"/>
          </a:xfrm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1" y="1485901"/>
            <a:ext cx="3186113" cy="29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43100"/>
            <a:ext cx="2667000" cy="28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1889128" y="2408636"/>
            <a:ext cx="32431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O</a:t>
            </a:r>
          </a:p>
          <a:p>
            <a:pPr eaLnBrk="1" hangingPunct="1"/>
            <a:r>
              <a:rPr lang="en-US" sz="1400"/>
              <a:t>O</a:t>
            </a:r>
          </a:p>
          <a:p>
            <a:pPr eaLnBrk="1" hangingPunct="1"/>
            <a:r>
              <a:rPr lang="en-US" sz="1400"/>
              <a:t>O</a:t>
            </a:r>
          </a:p>
          <a:p>
            <a:pPr eaLnBrk="1" hangingPunct="1"/>
            <a:r>
              <a:rPr lang="en-US" sz="1400"/>
              <a:t>O</a:t>
            </a:r>
          </a:p>
          <a:p>
            <a:pPr eaLnBrk="1" hangingPunct="1"/>
            <a:r>
              <a:rPr lang="en-US" sz="1400"/>
              <a:t>o</a:t>
            </a:r>
          </a:p>
        </p:txBody>
      </p:sp>
      <p:pic>
        <p:nvPicPr>
          <p:cNvPr id="2868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3" y="3314701"/>
            <a:ext cx="4176713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Line 8"/>
          <p:cNvSpPr>
            <a:spLocks noChangeShapeType="1"/>
          </p:cNvSpPr>
          <p:nvPr/>
        </p:nvSpPr>
        <p:spPr bwMode="auto">
          <a:xfrm flipH="1">
            <a:off x="4038600" y="21145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Text Box 9"/>
          <p:cNvSpPr txBox="1">
            <a:spLocks noChangeArrowheads="1"/>
          </p:cNvSpPr>
          <p:nvPr/>
        </p:nvSpPr>
        <p:spPr bwMode="auto">
          <a:xfrm>
            <a:off x="5105400" y="1953816"/>
            <a:ext cx="19040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Defined on stack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14</a:t>
            </a:fld>
            <a:endParaRPr 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5472115" y="3471863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6538916" y="3311129"/>
            <a:ext cx="219509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Can cause buffer to</a:t>
            </a:r>
            <a:br>
              <a:rPr lang="en-US" sz="1800" dirty="0" smtClean="0"/>
            </a:br>
            <a:r>
              <a:rPr lang="en-US" sz="1800" dirty="0" smtClean="0"/>
              <a:t>overflow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3310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4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8" y="2571751"/>
            <a:ext cx="4143375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Step 3 :</a:t>
            </a:r>
            <a:br>
              <a:rPr lang="en-US" sz="4000">
                <a:latin typeface="Arial" charset="0"/>
              </a:rPr>
            </a:br>
            <a:r>
              <a:rPr lang="en-US" sz="4000">
                <a:latin typeface="Arial" charset="0"/>
              </a:rPr>
              <a:t>Put Machine Code in Large String</a:t>
            </a:r>
          </a:p>
        </p:txBody>
      </p:sp>
      <p:pic>
        <p:nvPicPr>
          <p:cNvPr id="29701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28751"/>
            <a:ext cx="8458200" cy="854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Line 28"/>
          <p:cNvSpPr>
            <a:spLocks noChangeShapeType="1"/>
          </p:cNvSpPr>
          <p:nvPr/>
        </p:nvSpPr>
        <p:spPr bwMode="auto">
          <a:xfrm flipH="1" flipV="1">
            <a:off x="4800600" y="2000250"/>
            <a:ext cx="1066800" cy="5715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AutoShape 34"/>
          <p:cNvSpPr>
            <a:spLocks noChangeArrowheads="1"/>
          </p:cNvSpPr>
          <p:nvPr/>
        </p:nvSpPr>
        <p:spPr bwMode="auto">
          <a:xfrm>
            <a:off x="5181600" y="2571750"/>
            <a:ext cx="1752600" cy="14859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Rectangle 35"/>
          <p:cNvSpPr>
            <a:spLocks noChangeArrowheads="1"/>
          </p:cNvSpPr>
          <p:nvPr/>
        </p:nvSpPr>
        <p:spPr bwMode="auto">
          <a:xfrm>
            <a:off x="381000" y="4171950"/>
            <a:ext cx="21336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shellcode</a:t>
            </a:r>
          </a:p>
        </p:txBody>
      </p:sp>
      <p:sp>
        <p:nvSpPr>
          <p:cNvPr id="29705" name="Rectangle 36"/>
          <p:cNvSpPr>
            <a:spLocks noChangeArrowheads="1"/>
          </p:cNvSpPr>
          <p:nvPr/>
        </p:nvSpPr>
        <p:spPr bwMode="auto">
          <a:xfrm>
            <a:off x="25146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06" name="Rectangle 37"/>
          <p:cNvSpPr>
            <a:spLocks noChangeArrowheads="1"/>
          </p:cNvSpPr>
          <p:nvPr/>
        </p:nvSpPr>
        <p:spPr bwMode="auto">
          <a:xfrm>
            <a:off x="30480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07" name="Rectangle 38"/>
          <p:cNvSpPr>
            <a:spLocks noChangeArrowheads="1"/>
          </p:cNvSpPr>
          <p:nvPr/>
        </p:nvSpPr>
        <p:spPr bwMode="auto">
          <a:xfrm>
            <a:off x="35814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08" name="Rectangle 39"/>
          <p:cNvSpPr>
            <a:spLocks noChangeArrowheads="1"/>
          </p:cNvSpPr>
          <p:nvPr/>
        </p:nvSpPr>
        <p:spPr bwMode="auto">
          <a:xfrm>
            <a:off x="41148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09" name="Rectangle 40"/>
          <p:cNvSpPr>
            <a:spLocks noChangeArrowheads="1"/>
          </p:cNvSpPr>
          <p:nvPr/>
        </p:nvSpPr>
        <p:spPr bwMode="auto">
          <a:xfrm>
            <a:off x="46482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10" name="Rectangle 41"/>
          <p:cNvSpPr>
            <a:spLocks noChangeArrowheads="1"/>
          </p:cNvSpPr>
          <p:nvPr/>
        </p:nvSpPr>
        <p:spPr bwMode="auto">
          <a:xfrm>
            <a:off x="51816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11" name="Rectangle 42"/>
          <p:cNvSpPr>
            <a:spLocks noChangeArrowheads="1"/>
          </p:cNvSpPr>
          <p:nvPr/>
        </p:nvSpPr>
        <p:spPr bwMode="auto">
          <a:xfrm>
            <a:off x="57150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12" name="Rectangle 43"/>
          <p:cNvSpPr>
            <a:spLocks noChangeArrowheads="1"/>
          </p:cNvSpPr>
          <p:nvPr/>
        </p:nvSpPr>
        <p:spPr bwMode="auto">
          <a:xfrm>
            <a:off x="6248400" y="41719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713" name="Text Box 44"/>
          <p:cNvSpPr txBox="1">
            <a:spLocks noChangeArrowheads="1"/>
          </p:cNvSpPr>
          <p:nvPr/>
        </p:nvSpPr>
        <p:spPr bwMode="auto">
          <a:xfrm>
            <a:off x="381000" y="3943350"/>
            <a:ext cx="13907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large_string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Step 3 (contd) : </a:t>
            </a:r>
            <a:br>
              <a:rPr lang="en-US" sz="4000">
                <a:latin typeface="Arial" charset="0"/>
              </a:rPr>
            </a:br>
            <a:r>
              <a:rPr lang="en-US" sz="4000">
                <a:latin typeface="Arial" charset="0"/>
              </a:rPr>
              <a:t>Fill up Large String with BA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533400" y="3314700"/>
            <a:ext cx="21336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shellcode</a:t>
            </a:r>
          </a:p>
        </p:txBody>
      </p:sp>
      <p:sp>
        <p:nvSpPr>
          <p:cNvPr id="30726" name="Rectangle 10"/>
          <p:cNvSpPr>
            <a:spLocks noChangeArrowheads="1"/>
          </p:cNvSpPr>
          <p:nvPr/>
        </p:nvSpPr>
        <p:spPr bwMode="auto">
          <a:xfrm>
            <a:off x="26670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32004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37338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42672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48006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31" name="Rectangle 15"/>
          <p:cNvSpPr>
            <a:spLocks noChangeArrowheads="1"/>
          </p:cNvSpPr>
          <p:nvPr/>
        </p:nvSpPr>
        <p:spPr bwMode="auto">
          <a:xfrm>
            <a:off x="53340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32" name="Rectangle 16"/>
          <p:cNvSpPr>
            <a:spLocks noChangeArrowheads="1"/>
          </p:cNvSpPr>
          <p:nvPr/>
        </p:nvSpPr>
        <p:spPr bwMode="auto">
          <a:xfrm>
            <a:off x="58674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33" name="Rectangle 17"/>
          <p:cNvSpPr>
            <a:spLocks noChangeArrowheads="1"/>
          </p:cNvSpPr>
          <p:nvPr/>
        </p:nvSpPr>
        <p:spPr bwMode="auto">
          <a:xfrm>
            <a:off x="6400800" y="331470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0734" name="Text Box 18"/>
          <p:cNvSpPr txBox="1">
            <a:spLocks noChangeArrowheads="1"/>
          </p:cNvSpPr>
          <p:nvPr/>
        </p:nvSpPr>
        <p:spPr bwMode="auto">
          <a:xfrm>
            <a:off x="533400" y="3086100"/>
            <a:ext cx="13907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large_string</a:t>
            </a:r>
          </a:p>
        </p:txBody>
      </p:sp>
      <p:pic>
        <p:nvPicPr>
          <p:cNvPr id="3073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3" y="1714501"/>
            <a:ext cx="3186113" cy="29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6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71700"/>
            <a:ext cx="2667000" cy="28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7" name="Line 21"/>
          <p:cNvSpPr>
            <a:spLocks noChangeShapeType="1"/>
          </p:cNvSpPr>
          <p:nvPr/>
        </p:nvSpPr>
        <p:spPr bwMode="auto">
          <a:xfrm flipH="1">
            <a:off x="3581400" y="23431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Text Box 22"/>
          <p:cNvSpPr txBox="1">
            <a:spLocks noChangeArrowheads="1"/>
          </p:cNvSpPr>
          <p:nvPr/>
        </p:nvSpPr>
        <p:spPr bwMode="auto">
          <a:xfrm>
            <a:off x="4648200" y="2182416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Address of buffer is BA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0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Final state of Stack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1"/>
            <a:ext cx="5943600" cy="3394472"/>
          </a:xfrm>
        </p:spPr>
        <p:txBody>
          <a:bodyPr/>
          <a:lstStyle/>
          <a:p>
            <a:pPr eaLnBrk="1" hangingPunct="1"/>
            <a:r>
              <a:rPr lang="en-US" sz="2400">
                <a:latin typeface="Arial" charset="0"/>
              </a:rPr>
              <a:t>Copy large string into buffer</a:t>
            </a:r>
          </a:p>
          <a:p>
            <a:pPr eaLnBrk="1" hangingPunct="1"/>
            <a:endParaRPr lang="en-US" sz="2400">
              <a:latin typeface="Arial" charset="0"/>
            </a:endParaRPr>
          </a:p>
          <a:p>
            <a:pPr eaLnBrk="1" hangingPunct="1"/>
            <a:endParaRPr lang="en-US" sz="2400">
              <a:latin typeface="Arial" charset="0"/>
            </a:endParaRPr>
          </a:p>
          <a:p>
            <a:pPr eaLnBrk="1" hangingPunct="1"/>
            <a:r>
              <a:rPr lang="en-US" sz="2400">
                <a:latin typeface="Arial" charset="0"/>
              </a:rPr>
              <a:t>When strcpy returns the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" charset="0"/>
              </a:rPr>
              <a:t>exploit code would be executed</a:t>
            </a:r>
          </a:p>
          <a:p>
            <a:pPr eaLnBrk="1" hangingPunct="1"/>
            <a:endParaRPr lang="en-US" sz="2400">
              <a:latin typeface="Arial" charset="0"/>
            </a:endParaRPr>
          </a:p>
          <a:p>
            <a:pPr eaLnBrk="1" hangingPunct="1"/>
            <a:endParaRPr lang="en-US" sz="2400">
              <a:latin typeface="Arial" charset="0"/>
            </a:endParaRPr>
          </a:p>
        </p:txBody>
      </p:sp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43050"/>
            <a:ext cx="3657600" cy="360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533400" y="4057650"/>
            <a:ext cx="21336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shellcode</a:t>
            </a:r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26670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32004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37338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4" name="Rectangle 9"/>
          <p:cNvSpPr>
            <a:spLocks noChangeArrowheads="1"/>
          </p:cNvSpPr>
          <p:nvPr/>
        </p:nvSpPr>
        <p:spPr bwMode="auto">
          <a:xfrm>
            <a:off x="42672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5" name="Rectangle 10"/>
          <p:cNvSpPr>
            <a:spLocks noChangeArrowheads="1"/>
          </p:cNvSpPr>
          <p:nvPr/>
        </p:nvSpPr>
        <p:spPr bwMode="auto">
          <a:xfrm>
            <a:off x="48006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6" name="Rectangle 11"/>
          <p:cNvSpPr>
            <a:spLocks noChangeArrowheads="1"/>
          </p:cNvSpPr>
          <p:nvPr/>
        </p:nvSpPr>
        <p:spPr bwMode="auto">
          <a:xfrm>
            <a:off x="53340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7" name="Rectangle 12"/>
          <p:cNvSpPr>
            <a:spLocks noChangeArrowheads="1"/>
          </p:cNvSpPr>
          <p:nvPr/>
        </p:nvSpPr>
        <p:spPr bwMode="auto">
          <a:xfrm>
            <a:off x="58674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8" name="Rectangle 13"/>
          <p:cNvSpPr>
            <a:spLocks noChangeArrowheads="1"/>
          </p:cNvSpPr>
          <p:nvPr/>
        </p:nvSpPr>
        <p:spPr bwMode="auto">
          <a:xfrm>
            <a:off x="6400800" y="4057650"/>
            <a:ext cx="5334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59" name="Text Box 14"/>
          <p:cNvSpPr txBox="1">
            <a:spLocks noChangeArrowheads="1"/>
          </p:cNvSpPr>
          <p:nvPr/>
        </p:nvSpPr>
        <p:spPr bwMode="auto">
          <a:xfrm>
            <a:off x="533400" y="3829050"/>
            <a:ext cx="13907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large_string</a:t>
            </a:r>
          </a:p>
        </p:txBody>
      </p:sp>
      <p:sp>
        <p:nvSpPr>
          <p:cNvPr id="31760" name="Rectangle 15"/>
          <p:cNvSpPr>
            <a:spLocks noChangeArrowheads="1"/>
          </p:cNvSpPr>
          <p:nvPr/>
        </p:nvSpPr>
        <p:spPr bwMode="auto">
          <a:xfrm>
            <a:off x="6559550" y="3143250"/>
            <a:ext cx="1676400" cy="514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shellcode</a:t>
            </a:r>
          </a:p>
        </p:txBody>
      </p:sp>
      <p:sp>
        <p:nvSpPr>
          <p:cNvPr id="31761" name="Rectangle 16"/>
          <p:cNvSpPr>
            <a:spLocks noChangeArrowheads="1"/>
          </p:cNvSpPr>
          <p:nvPr/>
        </p:nvSpPr>
        <p:spPr bwMode="auto">
          <a:xfrm>
            <a:off x="6559550" y="28575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62" name="Text Box 17"/>
          <p:cNvSpPr txBox="1">
            <a:spLocks noChangeArrowheads="1"/>
          </p:cNvSpPr>
          <p:nvPr/>
        </p:nvSpPr>
        <p:spPr bwMode="auto">
          <a:xfrm>
            <a:off x="7016752" y="4057651"/>
            <a:ext cx="16689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BA </a:t>
            </a:r>
          </a:p>
          <a:p>
            <a:pPr eaLnBrk="1" hangingPunct="1"/>
            <a:r>
              <a:rPr lang="en-US" sz="1800"/>
              <a:t>buffer Address</a:t>
            </a:r>
          </a:p>
        </p:txBody>
      </p:sp>
      <p:sp>
        <p:nvSpPr>
          <p:cNvPr id="31763" name="Rectangle 18"/>
          <p:cNvSpPr>
            <a:spLocks noChangeArrowheads="1"/>
          </p:cNvSpPr>
          <p:nvPr/>
        </p:nvSpPr>
        <p:spPr bwMode="auto">
          <a:xfrm>
            <a:off x="6559550" y="36576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1764" name="Rectangle 19"/>
          <p:cNvSpPr>
            <a:spLocks noChangeArrowheads="1"/>
          </p:cNvSpPr>
          <p:nvPr/>
        </p:nvSpPr>
        <p:spPr bwMode="auto">
          <a:xfrm>
            <a:off x="6559550" y="25717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65" name="Rectangle 20"/>
          <p:cNvSpPr>
            <a:spLocks noChangeArrowheads="1"/>
          </p:cNvSpPr>
          <p:nvPr/>
        </p:nvSpPr>
        <p:spPr bwMode="auto">
          <a:xfrm>
            <a:off x="6559550" y="22860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66" name="Rectangle 21"/>
          <p:cNvSpPr>
            <a:spLocks noChangeArrowheads="1"/>
          </p:cNvSpPr>
          <p:nvPr/>
        </p:nvSpPr>
        <p:spPr bwMode="auto">
          <a:xfrm>
            <a:off x="6559550" y="20002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67" name="Rectangle 22"/>
          <p:cNvSpPr>
            <a:spLocks noChangeArrowheads="1"/>
          </p:cNvSpPr>
          <p:nvPr/>
        </p:nvSpPr>
        <p:spPr bwMode="auto">
          <a:xfrm>
            <a:off x="6559550" y="17145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68" name="Rectangle 23"/>
          <p:cNvSpPr>
            <a:spLocks noChangeArrowheads="1"/>
          </p:cNvSpPr>
          <p:nvPr/>
        </p:nvSpPr>
        <p:spPr bwMode="auto">
          <a:xfrm>
            <a:off x="6559550" y="14287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69" name="Rectangle 24"/>
          <p:cNvSpPr>
            <a:spLocks noChangeArrowheads="1"/>
          </p:cNvSpPr>
          <p:nvPr/>
        </p:nvSpPr>
        <p:spPr bwMode="auto">
          <a:xfrm>
            <a:off x="6559550" y="114300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70" name="Rectangle 25"/>
          <p:cNvSpPr>
            <a:spLocks noChangeArrowheads="1"/>
          </p:cNvSpPr>
          <p:nvPr/>
        </p:nvSpPr>
        <p:spPr bwMode="auto">
          <a:xfrm>
            <a:off x="6559550" y="8572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31771" name="Rectangle 26"/>
          <p:cNvSpPr>
            <a:spLocks noChangeArrowheads="1"/>
          </p:cNvSpPr>
          <p:nvPr/>
        </p:nvSpPr>
        <p:spPr bwMode="auto">
          <a:xfrm>
            <a:off x="6559550" y="2571750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2" name="Rectangle 27"/>
          <p:cNvSpPr>
            <a:spLocks noChangeArrowheads="1"/>
          </p:cNvSpPr>
          <p:nvPr/>
        </p:nvSpPr>
        <p:spPr bwMode="auto">
          <a:xfrm>
            <a:off x="6559550" y="2286000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3" name="Rectangle 28"/>
          <p:cNvSpPr>
            <a:spLocks noChangeArrowheads="1"/>
          </p:cNvSpPr>
          <p:nvPr/>
        </p:nvSpPr>
        <p:spPr bwMode="auto">
          <a:xfrm>
            <a:off x="6559550" y="2000250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4" name="Rectangle 29"/>
          <p:cNvSpPr>
            <a:spLocks noChangeArrowheads="1"/>
          </p:cNvSpPr>
          <p:nvPr/>
        </p:nvSpPr>
        <p:spPr bwMode="auto">
          <a:xfrm>
            <a:off x="6559550" y="1143000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5" name="Freeform 30"/>
          <p:cNvSpPr>
            <a:spLocks/>
          </p:cNvSpPr>
          <p:nvPr/>
        </p:nvSpPr>
        <p:spPr bwMode="auto">
          <a:xfrm>
            <a:off x="8235950" y="2114550"/>
            <a:ext cx="457200" cy="1543050"/>
          </a:xfrm>
          <a:custGeom>
            <a:avLst/>
            <a:gdLst>
              <a:gd name="T0" fmla="*/ 0 w 288"/>
              <a:gd name="T1" fmla="*/ 0 h 1296"/>
              <a:gd name="T2" fmla="*/ 725805000 w 288"/>
              <a:gd name="T3" fmla="*/ 725805000 h 1296"/>
              <a:gd name="T4" fmla="*/ 0 w 288"/>
              <a:gd name="T5" fmla="*/ 2147483647 h 1296"/>
              <a:gd name="T6" fmla="*/ 0 60000 65536"/>
              <a:gd name="T7" fmla="*/ 0 60000 65536"/>
              <a:gd name="T8" fmla="*/ 0 60000 65536"/>
              <a:gd name="T9" fmla="*/ 0 w 288"/>
              <a:gd name="T10" fmla="*/ 0 h 1296"/>
              <a:gd name="T11" fmla="*/ 288 w 288"/>
              <a:gd name="T12" fmla="*/ 1296 h 1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1296">
                <a:moveTo>
                  <a:pt x="0" y="0"/>
                </a:moveTo>
                <a:cubicBezTo>
                  <a:pt x="144" y="36"/>
                  <a:pt x="288" y="72"/>
                  <a:pt x="288" y="288"/>
                </a:cubicBezTo>
                <a:cubicBezTo>
                  <a:pt x="288" y="504"/>
                  <a:pt x="144" y="900"/>
                  <a:pt x="0" y="1296"/>
                </a:cubicBezTo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AutoShape 31"/>
          <p:cNvSpPr>
            <a:spLocks/>
          </p:cNvSpPr>
          <p:nvPr/>
        </p:nvSpPr>
        <p:spPr bwMode="auto">
          <a:xfrm>
            <a:off x="6324600" y="2628900"/>
            <a:ext cx="152400" cy="97155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7" name="Text Box 32"/>
          <p:cNvSpPr txBox="1">
            <a:spLocks noChangeArrowheads="1"/>
          </p:cNvSpPr>
          <p:nvPr/>
        </p:nvSpPr>
        <p:spPr bwMode="auto">
          <a:xfrm>
            <a:off x="5562602" y="2971800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buffer</a:t>
            </a:r>
          </a:p>
        </p:txBody>
      </p:sp>
      <p:sp>
        <p:nvSpPr>
          <p:cNvPr id="31778" name="Rectangle 34"/>
          <p:cNvSpPr>
            <a:spLocks noChangeArrowheads="1"/>
          </p:cNvSpPr>
          <p:nvPr/>
        </p:nvSpPr>
        <p:spPr bwMode="auto">
          <a:xfrm>
            <a:off x="446446" y="4408885"/>
            <a:ext cx="443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BA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7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Putting it all together</a:t>
            </a: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71576"/>
            <a:ext cx="60960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193925" y="3913585"/>
            <a:ext cx="38023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bash</a:t>
            </a:r>
            <a:r>
              <a:rPr lang="en-US" sz="1800" dirty="0"/>
              <a:t>$ ./</a:t>
            </a:r>
            <a:r>
              <a:rPr lang="en-US" sz="1800" dirty="0" err="1"/>
              <a:t>a.out</a:t>
            </a:r>
            <a:endParaRPr lang="en-US" sz="1800" dirty="0"/>
          </a:p>
          <a:p>
            <a:pPr eaLnBrk="1" hangingPunct="1"/>
            <a:r>
              <a:rPr lang="en-US" sz="1800" dirty="0" smtClean="0"/>
              <a:t>$                                  </a:t>
            </a:r>
            <a:r>
              <a:rPr lang="en-US" sz="1800" dirty="0" smtClean="0">
                <a:solidFill>
                  <a:srgbClr val="000090"/>
                </a:solidFill>
              </a:rPr>
              <a:t>shell created</a:t>
            </a:r>
            <a:endParaRPr lang="en-US" sz="1800" dirty="0">
              <a:solidFill>
                <a:srgbClr val="00009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5663" y="4775939"/>
            <a:ext cx="741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://chetrebeiro@bitbucket.org/casl/</a:t>
            </a:r>
            <a:r>
              <a:rPr lang="en-US" dirty="0" smtClean="0">
                <a:hlinkClick r:id="rId3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/smash)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1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Buffer overflow in the Wild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Arial" charset="0"/>
              </a:rPr>
              <a:t>Worm CODERED … released on 13</a:t>
            </a:r>
            <a:r>
              <a:rPr lang="en-US" sz="2400" baseline="30000" dirty="0">
                <a:latin typeface="Arial" charset="0"/>
              </a:rPr>
              <a:t>th</a:t>
            </a:r>
            <a:r>
              <a:rPr lang="en-US" sz="2400" dirty="0">
                <a:latin typeface="Arial" charset="0"/>
              </a:rPr>
              <a:t> July 2001</a:t>
            </a:r>
          </a:p>
          <a:p>
            <a:pPr eaLnBrk="1" hangingPunct="1"/>
            <a:r>
              <a:rPr lang="en-US" sz="2400" dirty="0">
                <a:latin typeface="Arial" charset="0"/>
              </a:rPr>
              <a:t>Infected 3,59,000 computers by 19</a:t>
            </a:r>
            <a:r>
              <a:rPr lang="en-US" sz="2400" baseline="30000" dirty="0">
                <a:latin typeface="Arial" charset="0"/>
              </a:rPr>
              <a:t>th</a:t>
            </a:r>
            <a:r>
              <a:rPr lang="en-US" sz="2400" dirty="0">
                <a:latin typeface="Arial" charset="0"/>
              </a:rPr>
              <a:t> July.</a:t>
            </a:r>
          </a:p>
          <a:p>
            <a:pPr eaLnBrk="1" hangingPunct="1"/>
            <a:endParaRPr lang="en-US" sz="2400" dirty="0">
              <a:latin typeface="Arial" charset="0"/>
            </a:endParaRPr>
          </a:p>
        </p:txBody>
      </p:sp>
      <p:pic>
        <p:nvPicPr>
          <p:cNvPr id="30724" name="Picture 4" descr="newframes-small-lo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47553"/>
            <a:ext cx="632460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CODERED Worm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Targeted a bug in Microsoft</a:t>
            </a:r>
            <a:r>
              <a:rPr lang="ja-JP" altLang="en-US">
                <a:latin typeface="Arial" charset="0"/>
              </a:rPr>
              <a:t>’</a:t>
            </a:r>
            <a:r>
              <a:rPr lang="en-US" altLang="ja-JP">
                <a:latin typeface="Arial" charset="0"/>
              </a:rPr>
              <a:t>s IIS web server</a:t>
            </a:r>
          </a:p>
          <a:p>
            <a:pPr eaLnBrk="1" hangingPunct="1"/>
            <a:r>
              <a:rPr lang="en-US" sz="2800">
                <a:latin typeface="Arial" charset="0"/>
              </a:rPr>
              <a:t>CODERED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altLang="ja-JP" sz="2800">
                <a:latin typeface="Arial" charset="0"/>
              </a:rPr>
              <a:t>s string</a:t>
            </a:r>
          </a:p>
          <a:p>
            <a:pPr lvl="1" eaLnBrk="1" hangingPunct="1">
              <a:buFontTx/>
              <a:buNone/>
            </a:pPr>
            <a:endParaRPr lang="en-US" sz="2400">
              <a:latin typeface="Arial" charset="0"/>
              <a:cs typeface="Arial" charset="0"/>
            </a:endParaRPr>
          </a:p>
          <a:p>
            <a:pPr eaLnBrk="1" hangingPunct="1"/>
            <a:endParaRPr lang="en-US" sz="2800">
              <a:solidFill>
                <a:srgbClr val="FF0066"/>
              </a:solidFill>
              <a:latin typeface="Arial" charset="0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228600" y="2378543"/>
            <a:ext cx="4572000" cy="1938992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r>
              <a:rPr lang="en-US" sz="1200"/>
              <a:t>GET /default.ida?NNNNNNNNNNNNNNNNNNNNNNNNN NNNNNNNNNNNNNNNNNNNNNNNNNNNNNNNNNNNN NNNNNNNNNNNNNNNNNNNNNNNNNNNNNNNNNNNN NNNNNNNNNNNNNNNNNNNNNNNNNNNNNNNNNNNN NNNNNNNNNNNNNNNNNNNNNNNNNNNNNNNNNNNN NNNNNNNNNNNNNNNNNNNNNNNNNNNNNNNNNNNN NNNNNNNNNNNNNNNNNNN%u9090%u6858%ucbd3%u7801%u9090%u6858%ucbd3%u7801%u9090%u6858%ucbd3%u7801%u9090%u9090%u8190%u00c3%u0003%u8b00%u531b%u53ff%u0078%u0000%u00=a HTTP/1.0 </a:t>
            </a:r>
          </a:p>
        </p:txBody>
      </p:sp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14551"/>
            <a:ext cx="3924300" cy="2164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4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Arial" charset="0"/>
              </a:rPr>
              <a:t>Some Defense Mechanisms already Incorporated</a:t>
            </a:r>
            <a:endParaRPr lang="en-US" dirty="0">
              <a:latin typeface="Arial" charset="0"/>
            </a:endParaRP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71576"/>
            <a:ext cx="60960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819033" y="3758233"/>
            <a:ext cx="541951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bash$ </a:t>
            </a:r>
            <a:r>
              <a:rPr lang="en-US" sz="1800" dirty="0" err="1"/>
              <a:t>gcc</a:t>
            </a:r>
            <a:r>
              <a:rPr lang="en-US" sz="1800" dirty="0"/>
              <a:t> overflow1.c</a:t>
            </a:r>
          </a:p>
          <a:p>
            <a:pPr eaLnBrk="1" hangingPunct="1"/>
            <a:r>
              <a:rPr lang="en-US" sz="1800" dirty="0"/>
              <a:t>bash$ ./</a:t>
            </a:r>
            <a:r>
              <a:rPr lang="en-US" sz="1800" dirty="0" err="1" smtClean="0"/>
              <a:t>a.out</a:t>
            </a:r>
            <a:endParaRPr lang="en-US" sz="1800" dirty="0" smtClean="0"/>
          </a:p>
          <a:p>
            <a:pPr eaLnBrk="1" hangingPunct="1"/>
            <a:r>
              <a:rPr lang="en-US" sz="1800" dirty="0" smtClean="0">
                <a:solidFill>
                  <a:srgbClr val="FF0000"/>
                </a:solidFill>
              </a:rPr>
              <a:t>*** stack smashing detected *** (./</a:t>
            </a:r>
            <a:r>
              <a:rPr lang="en-US" sz="1800" dirty="0" err="1" smtClean="0">
                <a:solidFill>
                  <a:srgbClr val="FF0000"/>
                </a:solidFill>
              </a:rPr>
              <a:t>a.out</a:t>
            </a:r>
            <a:r>
              <a:rPr lang="en-US" sz="1800" dirty="0" smtClean="0">
                <a:solidFill>
                  <a:srgbClr val="FF0000"/>
                </a:solidFill>
              </a:rPr>
              <a:t> terminated)</a:t>
            </a:r>
          </a:p>
          <a:p>
            <a:pPr eaLnBrk="1" hangingPunct="1"/>
            <a:r>
              <a:rPr lang="en-US" sz="1800" dirty="0" smtClean="0">
                <a:solidFill>
                  <a:srgbClr val="FF0000"/>
                </a:solidFill>
              </a:rPr>
              <a:t>Aborted (core dumped)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5663" y="4775939"/>
            <a:ext cx="741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://chetrebeiro@bitbucket.org/casl/</a:t>
            </a:r>
            <a:r>
              <a:rPr lang="en-US" dirty="0" smtClean="0">
                <a:hlinkClick r:id="rId3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/smash)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60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Arial" charset="0"/>
              </a:rPr>
              <a:t>Some Defense Mechanisms already Incorporated</a:t>
            </a:r>
            <a:endParaRPr lang="en-US" dirty="0">
              <a:latin typeface="Arial" charset="0"/>
            </a:endParaRP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71576"/>
            <a:ext cx="60960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819033" y="3758233"/>
            <a:ext cx="64707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bash$ </a:t>
            </a:r>
            <a:r>
              <a:rPr lang="en-US" sz="1800" dirty="0" err="1"/>
              <a:t>gcc</a:t>
            </a:r>
            <a:r>
              <a:rPr lang="en-US" sz="1800" dirty="0"/>
              <a:t> -m32 -</a:t>
            </a:r>
            <a:r>
              <a:rPr lang="en-US" sz="1800" dirty="0" err="1"/>
              <a:t>fno</a:t>
            </a:r>
            <a:r>
              <a:rPr lang="en-US" sz="1800" dirty="0"/>
              <a:t>-stack-protector -z </a:t>
            </a:r>
            <a:r>
              <a:rPr lang="en-US" sz="1800" dirty="0" err="1"/>
              <a:t>execstack</a:t>
            </a:r>
            <a:r>
              <a:rPr lang="en-US" sz="1800" dirty="0"/>
              <a:t> overflow1.c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bash</a:t>
            </a:r>
            <a:r>
              <a:rPr lang="en-US" sz="1800" dirty="0"/>
              <a:t>$ ./</a:t>
            </a:r>
            <a:r>
              <a:rPr lang="en-US" sz="1800" dirty="0" err="1" smtClean="0"/>
              <a:t>a.out</a:t>
            </a:r>
            <a:endParaRPr lang="en-US" sz="1800" dirty="0" smtClean="0"/>
          </a:p>
          <a:p>
            <a:pPr eaLnBrk="1" hangingPunct="1"/>
            <a:r>
              <a:rPr lang="en-US" sz="1800" dirty="0" smtClean="0">
                <a:solidFill>
                  <a:srgbClr val="0000FF"/>
                </a:solidFill>
              </a:rPr>
              <a:t>$                                  (shell created successfully)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5663" y="4775939"/>
            <a:ext cx="741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://chetrebeiro@bitbucket.org/casl/</a:t>
            </a:r>
            <a:r>
              <a:rPr lang="en-US" dirty="0" smtClean="0">
                <a:hlinkClick r:id="rId3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/smash)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Defenses</a:t>
            </a:r>
            <a:endParaRPr lang="en-US" dirty="0">
              <a:latin typeface="Arial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rgbClr val="660066"/>
                </a:solidFill>
                <a:latin typeface="Arial" charset="0"/>
              </a:rPr>
              <a:t>Eliminate program flaws that could lead to subverting of execution</a:t>
            </a:r>
          </a:p>
          <a:p>
            <a:pPr marL="0" indent="0">
              <a:buNone/>
            </a:pPr>
            <a:r>
              <a:rPr lang="en-US" sz="2000" dirty="0">
                <a:latin typeface="Arial" charset="0"/>
              </a:rPr>
              <a:t>	</a:t>
            </a:r>
            <a:r>
              <a:rPr lang="en-US" sz="1400" dirty="0" smtClean="0">
                <a:latin typeface="Arial" charset="0"/>
              </a:rPr>
              <a:t>Safer programming languages; Safer libraries; hardware enhancements; </a:t>
            </a:r>
            <a:br>
              <a:rPr lang="en-US" sz="1400" dirty="0" smtClean="0">
                <a:latin typeface="Arial" charset="0"/>
              </a:rPr>
            </a:br>
            <a:r>
              <a:rPr lang="en-US" sz="1400" dirty="0" smtClean="0">
                <a:latin typeface="Arial" charset="0"/>
              </a:rPr>
              <a:t>	static analysis </a:t>
            </a:r>
          </a:p>
          <a:p>
            <a:r>
              <a:rPr lang="en-US" sz="2000" dirty="0" smtClean="0">
                <a:solidFill>
                  <a:srgbClr val="660066"/>
                </a:solidFill>
                <a:latin typeface="Arial" charset="0"/>
              </a:rPr>
              <a:t>If can’t eliminate, make it more difficult for malware to subvert execution</a:t>
            </a:r>
          </a:p>
          <a:p>
            <a:pPr marL="0" indent="0">
              <a:buNone/>
            </a:pPr>
            <a:r>
              <a:rPr lang="en-US" sz="1400" dirty="0">
                <a:latin typeface="Arial" charset="0"/>
              </a:rPr>
              <a:t>	</a:t>
            </a:r>
            <a:r>
              <a:rPr lang="en-US" sz="1400" dirty="0" smtClean="0">
                <a:latin typeface="Arial" charset="0"/>
              </a:rPr>
              <a:t>W^X , ASLR, canaries</a:t>
            </a:r>
          </a:p>
          <a:p>
            <a:r>
              <a:rPr lang="en-US" sz="2000" dirty="0" smtClean="0">
                <a:solidFill>
                  <a:srgbClr val="660066"/>
                </a:solidFill>
                <a:latin typeface="Arial" charset="0"/>
              </a:rPr>
              <a:t>If malware still manages to execute, try to detect its execution at runtime</a:t>
            </a:r>
          </a:p>
          <a:p>
            <a:pPr marL="0" lvl="1" indent="0">
              <a:buNone/>
            </a:pPr>
            <a:r>
              <a:rPr lang="en-US" sz="1800" dirty="0" smtClean="0">
                <a:solidFill>
                  <a:srgbClr val="660066"/>
                </a:solidFill>
                <a:latin typeface="Arial" charset="0"/>
              </a:rPr>
              <a:t>	</a:t>
            </a:r>
            <a:r>
              <a:rPr lang="en-US" sz="1400" dirty="0" smtClean="0">
                <a:latin typeface="Arial" charset="0"/>
              </a:rPr>
              <a:t>malware </a:t>
            </a:r>
            <a:r>
              <a:rPr lang="en-US" sz="1400" dirty="0">
                <a:latin typeface="Arial" charset="0"/>
              </a:rPr>
              <a:t>run-time detection </a:t>
            </a:r>
            <a:r>
              <a:rPr lang="en-US" sz="1400" dirty="0" smtClean="0">
                <a:latin typeface="Arial" charset="0"/>
              </a:rPr>
              <a:t>techniques using learning techniques, ANN</a:t>
            </a:r>
            <a:r>
              <a:rPr lang="en-US" sz="1400" dirty="0">
                <a:latin typeface="Arial" charset="0"/>
              </a:rPr>
              <a:t> </a:t>
            </a:r>
            <a:r>
              <a:rPr lang="en-US" sz="1400" dirty="0" smtClean="0">
                <a:latin typeface="Arial" charset="0"/>
              </a:rPr>
              <a:t>and malware signatures</a:t>
            </a:r>
            <a:endParaRPr lang="en-US" sz="1400" dirty="0">
              <a:latin typeface="Arial" charset="0"/>
            </a:endParaRPr>
          </a:p>
          <a:p>
            <a:r>
              <a:rPr lang="en-US" sz="2000" dirty="0" smtClean="0">
                <a:solidFill>
                  <a:srgbClr val="660066"/>
                </a:solidFill>
                <a:latin typeface="Arial" charset="0"/>
              </a:rPr>
              <a:t>If can’t detect at runtime, try to restrict what the malware can do..</a:t>
            </a:r>
          </a:p>
          <a:p>
            <a:pPr lvl="1"/>
            <a:r>
              <a:rPr lang="en-US" sz="1800" dirty="0" smtClean="0">
                <a:solidFill>
                  <a:srgbClr val="660066"/>
                </a:solidFill>
                <a:latin typeface="Arial" charset="0"/>
              </a:rPr>
              <a:t>Sandbox system</a:t>
            </a:r>
            <a:br>
              <a:rPr lang="en-US" sz="1800" dirty="0" smtClean="0">
                <a:solidFill>
                  <a:srgbClr val="660066"/>
                </a:solidFill>
                <a:latin typeface="Arial" charset="0"/>
              </a:rPr>
            </a:br>
            <a:r>
              <a:rPr lang="en-US" sz="1400" dirty="0" smtClean="0">
                <a:latin typeface="Arial" charset="0"/>
              </a:rPr>
              <a:t>so that malware affects only part of the system; access control; virtualization; </a:t>
            </a:r>
            <a:r>
              <a:rPr lang="en-US" sz="1400" dirty="0" err="1" smtClean="0">
                <a:latin typeface="Arial" charset="0"/>
              </a:rPr>
              <a:t>trustzone</a:t>
            </a:r>
            <a:r>
              <a:rPr lang="en-US" sz="1400" dirty="0" smtClean="0">
                <a:latin typeface="Arial" charset="0"/>
              </a:rPr>
              <a:t>; SGX</a:t>
            </a:r>
          </a:p>
          <a:p>
            <a:pPr lvl="1"/>
            <a:r>
              <a:rPr lang="en-US" sz="1800" dirty="0" smtClean="0">
                <a:solidFill>
                  <a:srgbClr val="660066"/>
                </a:solidFill>
                <a:latin typeface="Arial" charset="0"/>
              </a:rPr>
              <a:t>Track information flow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Arial" charset="0"/>
              </a:rPr>
              <a:t>      DIFT; ensure malware does not steal sensitive information</a:t>
            </a:r>
            <a:r>
              <a:rPr lang="en-US" sz="1400" dirty="0">
                <a:latin typeface="Arial" charset="0"/>
              </a:rPr>
              <a:t>	</a:t>
            </a:r>
            <a:endParaRPr lang="en-US" sz="1400" dirty="0" smtClean="0">
              <a:latin typeface="Arial" charset="0"/>
            </a:endParaRPr>
          </a:p>
          <a:p>
            <a:pPr marL="457200" lvl="1" indent="0">
              <a:buNone/>
            </a:pPr>
            <a:r>
              <a:rPr lang="en-US" sz="1400" dirty="0">
                <a:latin typeface="Arial" charset="0"/>
              </a:rPr>
              <a:t>	</a:t>
            </a:r>
            <a:endParaRPr lang="en-US" sz="1400" dirty="0" smtClean="0">
              <a:latin typeface="Arial" charset="0"/>
            </a:endParaRPr>
          </a:p>
          <a:p>
            <a:pPr marL="457200" lvl="1" indent="0">
              <a:buNone/>
            </a:pPr>
            <a:endParaRPr lang="en-US" sz="1400" dirty="0" smtClean="0">
              <a:latin typeface="Arial" charset="0"/>
            </a:endParaRPr>
          </a:p>
          <a:p>
            <a:endParaRPr lang="en-US" sz="2000" dirty="0" smtClean="0">
              <a:latin typeface="Arial" charset="0"/>
            </a:endParaRPr>
          </a:p>
          <a:p>
            <a:endParaRPr lang="en-US" sz="2000" dirty="0" smtClean="0">
              <a:latin typeface="Arial" charset="0"/>
            </a:endParaRPr>
          </a:p>
          <a:p>
            <a:endParaRPr lang="en-US" sz="2000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7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Points to Ponder</a:t>
            </a:r>
            <a:endParaRPr lang="en-US" dirty="0">
              <a:latin typeface="Arial" charset="0"/>
            </a:endParaRP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0151"/>
            <a:ext cx="4038600" cy="129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3" y="1485901"/>
            <a:ext cx="32099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00352"/>
            <a:ext cx="4152900" cy="162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4495800" y="1771650"/>
            <a:ext cx="990600" cy="34290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H="1">
            <a:off x="4572000" y="2686050"/>
            <a:ext cx="914400" cy="34290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695702" y="3370356"/>
            <a:ext cx="3581400" cy="1085850"/>
          </a:xfrm>
          <a:prstGeom prst="rect">
            <a:avLst/>
          </a:prstGeom>
          <a:solidFill>
            <a:srgbClr val="CCFFCC"/>
          </a:solidFill>
          <a:ln>
            <a:noFill/>
          </a:ln>
          <a:ex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400" dirty="0" err="1"/>
              <a:t>objdump</a:t>
            </a:r>
            <a:r>
              <a:rPr lang="en-US" sz="1400" dirty="0"/>
              <a:t> –disassemble-all </a:t>
            </a:r>
            <a:r>
              <a:rPr lang="en-US" sz="1400" dirty="0" err="1"/>
              <a:t>shellcode.o</a:t>
            </a:r>
            <a:endParaRPr lang="en-US" sz="1400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400" dirty="0"/>
              <a:t>Get machine code : </a:t>
            </a:r>
            <a:r>
              <a:rPr lang="ja-JP" altLang="en-US" sz="1400" dirty="0"/>
              <a:t>“</a:t>
            </a:r>
            <a:r>
              <a:rPr lang="en-US" altLang="ja-JP" sz="1400" dirty="0" err="1"/>
              <a:t>eb</a:t>
            </a:r>
            <a:r>
              <a:rPr lang="en-US" altLang="ja-JP" sz="1400" dirty="0"/>
              <a:t> 1e 5e 89 76 08 c6 46 07 00 c7 46 0c 00 00 00 00 b8 0b 00 00 00 89 f3 8d 4e 08 8d 56 0c cd 80 cd 80</a:t>
            </a:r>
            <a:r>
              <a:rPr lang="ja-JP" altLang="en-US" sz="1400" dirty="0"/>
              <a:t>”</a:t>
            </a:r>
            <a:endParaRPr lang="en-US" altLang="ja-JP" sz="1400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If there are 00s replace it with other instructions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176" y="3155812"/>
            <a:ext cx="1320662" cy="1849442"/>
          </a:xfrm>
          <a:prstGeom prst="rect">
            <a:avLst/>
          </a:prstGeom>
        </p:spPr>
      </p:pic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54213" y="2293186"/>
            <a:ext cx="2100808" cy="862625"/>
          </a:xfrm>
          <a:prstGeom prst="rect">
            <a:avLst/>
          </a:prstGeom>
          <a:solidFill>
            <a:srgbClr val="CCFFCC"/>
          </a:solidFill>
          <a:ln>
            <a:noFill/>
          </a:ln>
          <a:ex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endParaRPr lang="x-none" sz="2400" dirty="0" smtClean="0"/>
          </a:p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x-none" sz="2400" dirty="0" smtClean="0"/>
              <a:t>WHY?</a:t>
            </a:r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ctr">
              <a:lnSpc>
                <a:spcPct val="80000"/>
              </a:lnSpc>
              <a:spcBef>
                <a:spcPct val="20000"/>
              </a:spcBef>
            </a:pPr>
            <a:endParaRPr lang="en-US" sz="2400" dirty="0"/>
          </a:p>
        </p:txBody>
      </p:sp>
      <p:cxnSp>
        <p:nvCxnSpPr>
          <p:cNvPr id="4" name="Straight Arrow Connector 3"/>
          <p:cNvCxnSpPr>
            <a:stCxn id="12" idx="2"/>
          </p:cNvCxnSpPr>
          <p:nvPr/>
        </p:nvCxnSpPr>
        <p:spPr>
          <a:xfrm>
            <a:off x="2304618" y="3155811"/>
            <a:ext cx="1771577" cy="913125"/>
          </a:xfrm>
          <a:prstGeom prst="straightConnector1">
            <a:avLst/>
          </a:prstGeom>
          <a:ln w="38100" cmpd="sng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96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2979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Preventing Buffer Overflows</a:t>
            </a:r>
            <a:br>
              <a:rPr lang="en-US" dirty="0" smtClean="0"/>
            </a:br>
            <a:r>
              <a:rPr lang="en-US" dirty="0" smtClean="0"/>
              <a:t>with Canaries and W^X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0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52" y="92113"/>
            <a:ext cx="1288606" cy="1264919"/>
          </a:xfrm>
          <a:prstGeom prst="rect">
            <a:avLst/>
          </a:prstGeom>
        </p:spPr>
      </p:pic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Canaries</a:t>
            </a:r>
          </a:p>
        </p:txBody>
      </p:sp>
      <p:graphicFrame>
        <p:nvGraphicFramePr>
          <p:cNvPr id="3379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663353"/>
              </p:ext>
            </p:extLst>
          </p:nvPr>
        </p:nvGraphicFramePr>
        <p:xfrm>
          <a:off x="5334000" y="1143001"/>
          <a:ext cx="2468562" cy="3814762"/>
        </p:xfrm>
        <a:graphic>
          <a:graphicData uri="http://schemas.openxmlformats.org/drawingml/2006/table">
            <a:tbl>
              <a:tblPr/>
              <a:tblGrid>
                <a:gridCol w="246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Stack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(top to bottom):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stored data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 parameters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 address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3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Frame pointer</a:t>
                      </a: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(%</a:t>
                      </a:r>
                      <a:r>
                        <a:rPr kumimoji="0" lang="en-US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ebp</a:t>
                      </a: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80404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 canary here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buffer1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buffer2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2265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90888"/>
            <a:ext cx="20383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66" name="Line 41"/>
          <p:cNvSpPr>
            <a:spLocks noChangeShapeType="1"/>
          </p:cNvSpPr>
          <p:nvPr/>
        </p:nvSpPr>
        <p:spPr bwMode="auto">
          <a:xfrm>
            <a:off x="1905000" y="3519488"/>
            <a:ext cx="1143000" cy="0"/>
          </a:xfrm>
          <a:prstGeom prst="line">
            <a:avLst/>
          </a:prstGeom>
          <a:noFill/>
          <a:ln w="28575">
            <a:solidFill>
              <a:srgbClr val="C8040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67" name="Text Box 42"/>
          <p:cNvSpPr txBox="1">
            <a:spLocks noChangeArrowheads="1"/>
          </p:cNvSpPr>
          <p:nvPr/>
        </p:nvSpPr>
        <p:spPr bwMode="auto">
          <a:xfrm>
            <a:off x="3108327" y="3375422"/>
            <a:ext cx="22375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Insert a canary here</a:t>
            </a:r>
          </a:p>
        </p:txBody>
      </p:sp>
      <p:sp>
        <p:nvSpPr>
          <p:cNvPr id="52268" name="Line 43"/>
          <p:cNvSpPr>
            <a:spLocks noChangeShapeType="1"/>
          </p:cNvSpPr>
          <p:nvPr/>
        </p:nvSpPr>
        <p:spPr bwMode="auto">
          <a:xfrm>
            <a:off x="3276600" y="3748088"/>
            <a:ext cx="0" cy="400050"/>
          </a:xfrm>
          <a:prstGeom prst="line">
            <a:avLst/>
          </a:prstGeom>
          <a:noFill/>
          <a:ln w="28575">
            <a:solidFill>
              <a:srgbClr val="C8040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69" name="Line 44"/>
          <p:cNvSpPr>
            <a:spLocks noChangeShapeType="1"/>
          </p:cNvSpPr>
          <p:nvPr/>
        </p:nvSpPr>
        <p:spPr bwMode="auto">
          <a:xfrm>
            <a:off x="1447800" y="3748088"/>
            <a:ext cx="1828800" cy="0"/>
          </a:xfrm>
          <a:prstGeom prst="line">
            <a:avLst/>
          </a:prstGeom>
          <a:noFill/>
          <a:ln w="28575">
            <a:solidFill>
              <a:srgbClr val="C8040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70" name="Text Box 45"/>
          <p:cNvSpPr txBox="1">
            <a:spLocks noChangeArrowheads="1"/>
          </p:cNvSpPr>
          <p:nvPr/>
        </p:nvSpPr>
        <p:spPr bwMode="auto">
          <a:xfrm>
            <a:off x="2174877" y="4148138"/>
            <a:ext cx="27251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check if the canary value</a:t>
            </a:r>
          </a:p>
          <a:p>
            <a:pPr eaLnBrk="1" hangingPunct="1"/>
            <a:r>
              <a:rPr lang="en-US" sz="1800"/>
              <a:t>has got modified</a:t>
            </a:r>
          </a:p>
        </p:txBody>
      </p:sp>
      <p:sp>
        <p:nvSpPr>
          <p:cNvPr id="52271" name="Rectangle 46"/>
          <p:cNvSpPr>
            <a:spLocks noChangeArrowheads="1"/>
          </p:cNvSpPr>
          <p:nvPr/>
        </p:nvSpPr>
        <p:spPr bwMode="auto">
          <a:xfrm>
            <a:off x="457200" y="1200151"/>
            <a:ext cx="45720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/>
              <a:t>Known (pseudo random) values placed on stack to monitor buffer overflows.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/>
              <a:t>A change in the value of the canary indicates a buffer overflow</a:t>
            </a:r>
            <a:r>
              <a:rPr lang="en-US" sz="2000" dirty="0" smtClean="0"/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 smtClean="0"/>
              <a:t>Will cause a ‘stack smashing’ to be detected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5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Canaries and </a:t>
            </a:r>
            <a:r>
              <a:rPr lang="en-US" dirty="0" err="1" smtClean="0"/>
              <a:t>gcc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457200" y="1200151"/>
            <a:ext cx="7642578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 smtClean="0"/>
              <a:t>As on </a:t>
            </a:r>
            <a:r>
              <a:rPr lang="en-US" sz="2000" dirty="0" err="1" smtClean="0"/>
              <a:t>gcc</a:t>
            </a:r>
            <a:r>
              <a:rPr lang="en-US" sz="2000" dirty="0" smtClean="0"/>
              <a:t> 4.4.5, canaries are not added to functions by default</a:t>
            </a:r>
          </a:p>
          <a:p>
            <a:pPr marL="800100" lvl="1" indent="-342900">
              <a:spcBef>
                <a:spcPct val="20000"/>
              </a:spcBef>
              <a:buFont typeface="Courier New"/>
              <a:buChar char="o"/>
            </a:pPr>
            <a:r>
              <a:rPr lang="en-US" sz="2000" dirty="0" smtClean="0"/>
              <a:t>Could cause overheads as they are executed for every function that gets executed</a:t>
            </a:r>
          </a:p>
          <a:p>
            <a:pPr marL="342900" indent="-342900">
              <a:spcBef>
                <a:spcPct val="20000"/>
              </a:spcBef>
              <a:buFont typeface="Arial"/>
              <a:buChar char="•"/>
            </a:pPr>
            <a:r>
              <a:rPr lang="en-US" sz="2000" dirty="0" smtClean="0"/>
              <a:t>Canaries can be added into the code by </a:t>
            </a:r>
            <a:r>
              <a:rPr lang="en-US" sz="2000" b="1" i="1" dirty="0" smtClean="0"/>
              <a:t>–</a:t>
            </a:r>
            <a:r>
              <a:rPr lang="en-US" sz="2000" b="1" i="1" dirty="0" err="1" smtClean="0"/>
              <a:t>fstack</a:t>
            </a:r>
            <a:r>
              <a:rPr lang="en-US" sz="2000" b="1" i="1" dirty="0" smtClean="0"/>
              <a:t>-protector </a:t>
            </a:r>
            <a:r>
              <a:rPr lang="en-US" sz="2000" dirty="0" smtClean="0"/>
              <a:t>option</a:t>
            </a:r>
          </a:p>
          <a:p>
            <a:pPr marL="800100" lvl="1" indent="-342900">
              <a:spcBef>
                <a:spcPct val="20000"/>
              </a:spcBef>
              <a:buFont typeface="Courier New"/>
              <a:buChar char="o"/>
            </a:pPr>
            <a:r>
              <a:rPr lang="en-US" sz="2000" dirty="0" smtClean="0"/>
              <a:t>If </a:t>
            </a:r>
            <a:r>
              <a:rPr lang="en-US" sz="2000" b="1" i="1" dirty="0" smtClean="0"/>
              <a:t>-</a:t>
            </a:r>
            <a:r>
              <a:rPr lang="en-US" sz="2000" b="1" i="1" dirty="0" err="1" smtClean="0"/>
              <a:t>fstack</a:t>
            </a:r>
            <a:r>
              <a:rPr lang="en-US" sz="2000" b="1" i="1" dirty="0" smtClean="0"/>
              <a:t>-protector </a:t>
            </a:r>
            <a:r>
              <a:rPr lang="en-US" sz="2000" dirty="0" smtClean="0"/>
              <a:t>is specified, canaries will get added based on a </a:t>
            </a:r>
            <a:r>
              <a:rPr lang="en-US" sz="2000" dirty="0" err="1" smtClean="0"/>
              <a:t>gcc</a:t>
            </a:r>
            <a:r>
              <a:rPr lang="en-US" sz="2000" dirty="0" smtClean="0"/>
              <a:t> heuristic</a:t>
            </a:r>
          </a:p>
          <a:p>
            <a:pPr marL="1257300" lvl="2" indent="-342900">
              <a:spcBef>
                <a:spcPct val="20000"/>
              </a:spcBef>
              <a:buFont typeface="Arial"/>
              <a:buChar char="•"/>
            </a:pPr>
            <a:r>
              <a:rPr lang="en-US" sz="2000" dirty="0" smtClean="0"/>
              <a:t>For example, buffer of size at-least 8 bytes is allocated</a:t>
            </a:r>
          </a:p>
          <a:p>
            <a:pPr marL="1257300" lvl="2" indent="-342900">
              <a:spcBef>
                <a:spcPct val="20000"/>
              </a:spcBef>
              <a:buFont typeface="Arial"/>
              <a:buChar char="•"/>
            </a:pPr>
            <a:r>
              <a:rPr lang="en-US" sz="2000" dirty="0" smtClean="0"/>
              <a:t>Use of string operations such as </a:t>
            </a:r>
            <a:r>
              <a:rPr lang="en-US" sz="2000" dirty="0" err="1" smtClean="0"/>
              <a:t>strcpy</a:t>
            </a:r>
            <a:r>
              <a:rPr lang="en-US" sz="2000" dirty="0" smtClean="0"/>
              <a:t>, </a:t>
            </a:r>
            <a:r>
              <a:rPr lang="en-US" sz="2000" dirty="0" err="1" smtClean="0"/>
              <a:t>scanf</a:t>
            </a:r>
            <a:r>
              <a:rPr lang="en-US" sz="2000" dirty="0" smtClean="0"/>
              <a:t>, </a:t>
            </a:r>
            <a:r>
              <a:rPr lang="en-US" sz="2000" dirty="0" err="1" smtClean="0"/>
              <a:t>etc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20992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Canaries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584695"/>
            <a:ext cx="2870200" cy="168592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876682"/>
              </p:ext>
            </p:extLst>
          </p:nvPr>
        </p:nvGraphicFramePr>
        <p:xfrm>
          <a:off x="6586558" y="789611"/>
          <a:ext cx="2194891" cy="4086086"/>
        </p:xfrm>
        <a:graphic>
          <a:graphicData uri="http://schemas.openxmlformats.org/drawingml/2006/table">
            <a:tbl>
              <a:tblPr/>
              <a:tblGrid>
                <a:gridCol w="2194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Stack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(top to bottom):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263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: : : : : : :</a:t>
                      </a:r>
                      <a:endParaRPr lang="en-US" sz="1400" dirty="0"/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 address in main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frame pointer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80404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canary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91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buffer2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4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Canaries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996292"/>
            <a:ext cx="2870200" cy="1685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57063"/>
            <a:ext cx="5118100" cy="561975"/>
          </a:xfrm>
          <a:prstGeom prst="rect">
            <a:avLst/>
          </a:prstGeom>
          <a:ln>
            <a:solidFill>
              <a:srgbClr val="66006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1" y="882398"/>
            <a:ext cx="826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canaries, the program gets aborted due to stack smashing.</a:t>
            </a:r>
            <a:endParaRPr lang="en-US" dirty="0"/>
          </a:p>
        </p:txBody>
      </p:sp>
      <p:graphicFrame>
        <p:nvGraphicFramePr>
          <p:cNvPr id="8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9870250"/>
              </p:ext>
            </p:extLst>
          </p:nvPr>
        </p:nvGraphicFramePr>
        <p:xfrm>
          <a:off x="6694677" y="738148"/>
          <a:ext cx="2058756" cy="4112561"/>
        </p:xfrm>
        <a:graphic>
          <a:graphicData uri="http://schemas.openxmlformats.org/drawingml/2006/table">
            <a:tbl>
              <a:tblPr/>
              <a:tblGrid>
                <a:gridCol w="2058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6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Stack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(top to bottom):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263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: : : : : : :</a:t>
                      </a:r>
                      <a:endParaRPr lang="en-US" sz="1400" dirty="0"/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80404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91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32323232</a:t>
                      </a: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7200" y="4268855"/>
            <a:ext cx="5118100" cy="150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1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Canaries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451242"/>
            <a:ext cx="2870200" cy="1685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6666"/>
            <a:ext cx="5118100" cy="561975"/>
          </a:xfrm>
          <a:prstGeom prst="rect">
            <a:avLst/>
          </a:prstGeom>
          <a:ln>
            <a:solidFill>
              <a:srgbClr val="660066"/>
            </a:solidFill>
          </a:ln>
        </p:spPr>
      </p:pic>
      <p:cxnSp>
        <p:nvCxnSpPr>
          <p:cNvPr id="9" name="Straight Connector 8"/>
          <p:cNvCxnSpPr/>
          <p:nvPr/>
        </p:nvCxnSpPr>
        <p:spPr>
          <a:xfrm>
            <a:off x="6858003" y="1735667"/>
            <a:ext cx="12841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80178" y="2061634"/>
            <a:ext cx="16820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457202" y="1063229"/>
            <a:ext cx="6400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With canaries, the program gets aborted due to stack smashing.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1" y="3786698"/>
            <a:ext cx="5118100" cy="150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895" y="1609992"/>
            <a:ext cx="5693775" cy="3216022"/>
          </a:xfrm>
          <a:prstGeom prst="rect">
            <a:avLst/>
          </a:prstGeom>
          <a:ln>
            <a:solidFill>
              <a:srgbClr val="660066"/>
            </a:solidFill>
          </a:ln>
        </p:spPr>
      </p:pic>
      <p:cxnSp>
        <p:nvCxnSpPr>
          <p:cNvPr id="13" name="Straight Connector 12"/>
          <p:cNvCxnSpPr/>
          <p:nvPr/>
        </p:nvCxnSpPr>
        <p:spPr>
          <a:xfrm>
            <a:off x="3407894" y="2061634"/>
            <a:ext cx="3602506" cy="0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07895" y="2363746"/>
            <a:ext cx="1436505" cy="223439"/>
          </a:xfrm>
          <a:prstGeom prst="roundRect">
            <a:avLst/>
          </a:prstGeom>
          <a:noFill/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2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Canary Internals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3229"/>
            <a:ext cx="3340100" cy="2438400"/>
          </a:xfrm>
          <a:prstGeom prst="rect">
            <a:avLst/>
          </a:prstGeom>
          <a:ln>
            <a:solidFill>
              <a:srgbClr val="660066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457200" y="1862668"/>
            <a:ext cx="3340100" cy="402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2942167"/>
            <a:ext cx="3340100" cy="273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40856" y="1811836"/>
            <a:ext cx="2170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Store canary onto stack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767670" y="2858384"/>
            <a:ext cx="214418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Verify if the canary has changed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1353434"/>
            <a:ext cx="2971800" cy="1504950"/>
          </a:xfrm>
          <a:prstGeom prst="rect">
            <a:avLst/>
          </a:prstGeom>
          <a:ln>
            <a:solidFill>
              <a:srgbClr val="66006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5034" y="2815208"/>
            <a:ext cx="2170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Without canaries</a:t>
            </a:r>
            <a:endParaRPr lang="en-US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16656" y="3501628"/>
            <a:ext cx="2170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With canaries</a:t>
            </a:r>
            <a:endParaRPr lang="en-US" sz="1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16656" y="4250928"/>
            <a:ext cx="578837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gs</a:t>
            </a:r>
            <a:r>
              <a:rPr lang="en-US" sz="1600" dirty="0" smtClean="0"/>
              <a:t> is a segment that shows thread local data; in this case it is used for picking out canaries</a:t>
            </a:r>
          </a:p>
        </p:txBody>
      </p:sp>
    </p:spTree>
    <p:extLst>
      <p:ext uri="{BB962C8B-B14F-4D97-AF65-F5344CB8AC3E}">
        <p14:creationId xmlns:p14="http://schemas.microsoft.com/office/powerpoint/2010/main" val="127316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>
                <a:latin typeface="Arial" charset="0"/>
              </a:rPr>
              <a:t>Non Executable </a:t>
            </a:r>
            <a:r>
              <a:rPr lang="en-US" sz="4000" dirty="0" smtClean="0">
                <a:latin typeface="Arial" charset="0"/>
              </a:rPr>
              <a:t>Stacks (W^X)</a:t>
            </a:r>
            <a:endParaRPr lang="en-US" sz="4000" dirty="0">
              <a:latin typeface="Arial" charset="0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sz="2000" dirty="0">
                <a:latin typeface="Arial" charset="0"/>
              </a:rPr>
              <a:t>In </a:t>
            </a:r>
            <a:r>
              <a:rPr lang="en-US" sz="2000" dirty="0" smtClean="0">
                <a:latin typeface="Arial" charset="0"/>
              </a:rPr>
              <a:t>Intel/AMD </a:t>
            </a:r>
            <a:r>
              <a:rPr lang="en-US" sz="2000" dirty="0">
                <a:latin typeface="Arial" charset="0"/>
              </a:rPr>
              <a:t>processors, </a:t>
            </a:r>
            <a:r>
              <a:rPr lang="en-US" sz="2000" dirty="0" smtClean="0">
                <a:latin typeface="Arial" charset="0"/>
              </a:rPr>
              <a:t>ND/NX </a:t>
            </a:r>
            <a:r>
              <a:rPr lang="en-US" sz="2000" dirty="0">
                <a:latin typeface="Arial" charset="0"/>
              </a:rPr>
              <a:t>bit present to mark </a:t>
            </a:r>
            <a:r>
              <a:rPr lang="en-US" sz="2000" dirty="0" smtClean="0">
                <a:latin typeface="Arial" charset="0"/>
              </a:rPr>
              <a:t>non code regions as </a:t>
            </a:r>
            <a:r>
              <a:rPr lang="en-US" sz="2000" dirty="0">
                <a:latin typeface="Arial" charset="0"/>
              </a:rPr>
              <a:t>non-executable</a:t>
            </a:r>
            <a:r>
              <a:rPr lang="en-US" sz="2000" dirty="0" smtClean="0">
                <a:latin typeface="Arial" charset="0"/>
              </a:rPr>
              <a:t>.</a:t>
            </a:r>
          </a:p>
          <a:p>
            <a:pPr lvl="1"/>
            <a:r>
              <a:rPr lang="en-US" sz="1800" dirty="0" smtClean="0">
                <a:latin typeface="Arial" charset="0"/>
              </a:rPr>
              <a:t>Exception raised when code in a page marked W^X executes </a:t>
            </a:r>
            <a:endParaRPr lang="en-US" sz="1800" dirty="0">
              <a:latin typeface="Arial" charset="0"/>
            </a:endParaRPr>
          </a:p>
          <a:p>
            <a:pPr eaLnBrk="1" hangingPunct="1"/>
            <a:r>
              <a:rPr lang="en-US" sz="2000" dirty="0">
                <a:latin typeface="Arial" charset="0"/>
              </a:rPr>
              <a:t>Works for most </a:t>
            </a:r>
            <a:r>
              <a:rPr lang="en-US" sz="2000" dirty="0" smtClean="0">
                <a:latin typeface="Arial" charset="0"/>
              </a:rPr>
              <a:t>programs</a:t>
            </a:r>
          </a:p>
          <a:p>
            <a:pPr lvl="1"/>
            <a:r>
              <a:rPr lang="en-US" sz="1800" dirty="0" smtClean="0">
                <a:latin typeface="Arial" charset="0"/>
              </a:rPr>
              <a:t>Supported by Linux kernel from 2004</a:t>
            </a:r>
          </a:p>
          <a:p>
            <a:pPr lvl="1"/>
            <a:r>
              <a:rPr lang="en-US" sz="1800" dirty="0" smtClean="0">
                <a:latin typeface="Arial" charset="0"/>
              </a:rPr>
              <a:t>Supported by Windows XP service pack 1 and Windows Server 2003</a:t>
            </a:r>
          </a:p>
          <a:p>
            <a:pPr lvl="2"/>
            <a:r>
              <a:rPr lang="en-US" sz="1400" dirty="0" smtClean="0">
                <a:latin typeface="Arial" charset="0"/>
              </a:rPr>
              <a:t>Called DEP – Data Execution Prevention</a:t>
            </a:r>
            <a:endParaRPr lang="en-US" sz="1400" dirty="0">
              <a:latin typeface="Arial" charset="0"/>
            </a:endParaRPr>
          </a:p>
          <a:p>
            <a:pPr eaLnBrk="1" hangingPunct="1"/>
            <a:r>
              <a:rPr lang="en-US" sz="2000" dirty="0">
                <a:latin typeface="Arial" charset="0"/>
              </a:rPr>
              <a:t>Does not work for some programs that NEED to execute from the stack. </a:t>
            </a:r>
          </a:p>
          <a:p>
            <a:pPr lvl="1" eaLnBrk="1" hangingPunct="1"/>
            <a:r>
              <a:rPr lang="en-US" sz="1800" dirty="0" err="1">
                <a:latin typeface="Arial" charset="0"/>
                <a:cs typeface="Arial" charset="0"/>
              </a:rPr>
              <a:t>Eg</a:t>
            </a:r>
            <a:r>
              <a:rPr lang="en-US" sz="1800" dirty="0">
                <a:latin typeface="Arial" charset="0"/>
                <a:cs typeface="Arial" charset="0"/>
              </a:rPr>
              <a:t>. </a:t>
            </a:r>
            <a:r>
              <a:rPr lang="en-US" sz="1800" dirty="0" smtClean="0">
                <a:latin typeface="Arial" charset="0"/>
                <a:cs typeface="Arial" charset="0"/>
              </a:rPr>
              <a:t>JIT Compiler, constructs assembly code from external data and then executes it.</a:t>
            </a:r>
            <a:br>
              <a:rPr lang="en-US" sz="1800" dirty="0" smtClean="0">
                <a:latin typeface="Arial" charset="0"/>
                <a:cs typeface="Arial" charset="0"/>
              </a:rPr>
            </a:br>
            <a:r>
              <a:rPr lang="en-US" sz="1800" dirty="0" smtClean="0">
                <a:latin typeface="Arial" charset="0"/>
                <a:cs typeface="Arial" charset="0"/>
              </a:rPr>
              <a:t>(Need to disable the W^X bit, to get this to work)</a:t>
            </a:r>
            <a:endParaRPr lang="en-US" sz="2000" dirty="0">
              <a:latin typeface="Arial" charset="0"/>
            </a:endParaRPr>
          </a:p>
          <a:p>
            <a:pPr eaLnBrk="1" hangingPunct="1"/>
            <a:endParaRPr lang="en-US" sz="2000" dirty="0">
              <a:latin typeface="Arial" charset="0"/>
            </a:endParaRPr>
          </a:p>
          <a:p>
            <a:pPr eaLnBrk="1" hangingPunct="1"/>
            <a:endParaRPr lang="en-US" sz="2000" dirty="0">
              <a:latin typeface="Arial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32</a:t>
            </a:fld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32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29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Arial" charset="0"/>
              </a:rPr>
              <a:t>Some Defense Mechanisms already Incorporated</a:t>
            </a:r>
            <a:endParaRPr lang="en-US" dirty="0">
              <a:latin typeface="Arial" charset="0"/>
            </a:endParaRP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71576"/>
            <a:ext cx="60960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819033" y="3758233"/>
            <a:ext cx="64707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bash$ </a:t>
            </a:r>
            <a:r>
              <a:rPr lang="en-US" sz="1800" dirty="0" err="1"/>
              <a:t>gcc</a:t>
            </a:r>
            <a:r>
              <a:rPr lang="en-US" sz="1800" dirty="0"/>
              <a:t> -m32 -</a:t>
            </a:r>
            <a:r>
              <a:rPr lang="en-US" sz="1800" dirty="0" err="1"/>
              <a:t>fno</a:t>
            </a:r>
            <a:r>
              <a:rPr lang="en-US" sz="1800" dirty="0"/>
              <a:t>-stack-protector -z </a:t>
            </a:r>
            <a:r>
              <a:rPr lang="en-US" sz="1800" dirty="0" err="1"/>
              <a:t>execstack</a:t>
            </a:r>
            <a:r>
              <a:rPr lang="en-US" sz="1800" dirty="0"/>
              <a:t> overflow1.c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bash</a:t>
            </a:r>
            <a:r>
              <a:rPr lang="en-US" sz="1800" dirty="0"/>
              <a:t>$ ./</a:t>
            </a:r>
            <a:r>
              <a:rPr lang="en-US" sz="1800" dirty="0" err="1" smtClean="0"/>
              <a:t>a.out</a:t>
            </a:r>
            <a:endParaRPr lang="en-US" sz="1800" dirty="0" smtClean="0"/>
          </a:p>
          <a:p>
            <a:pPr eaLnBrk="1" hangingPunct="1"/>
            <a:r>
              <a:rPr lang="en-US" sz="1800" dirty="0" smtClean="0">
                <a:solidFill>
                  <a:srgbClr val="0000FF"/>
                </a:solidFill>
              </a:rPr>
              <a:t>$                                  (shell created successfully)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33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5663" y="4775939"/>
            <a:ext cx="741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://chetrebeiro@bitbucket.org/casl/</a:t>
            </a:r>
            <a:r>
              <a:rPr lang="en-US" dirty="0" smtClean="0">
                <a:hlinkClick r:id="rId3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/smash)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Points to Ponder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8FA844-6EAB-DC46-9FA0-CA79DB38948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451242"/>
            <a:ext cx="2870200" cy="1685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6666"/>
            <a:ext cx="5118100" cy="561975"/>
          </a:xfrm>
          <a:prstGeom prst="rect">
            <a:avLst/>
          </a:prstGeom>
          <a:ln>
            <a:solidFill>
              <a:srgbClr val="660066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4047388" y="1780585"/>
            <a:ext cx="3963901" cy="1200329"/>
          </a:xfrm>
          <a:prstGeom prst="rect">
            <a:avLst/>
          </a:prstGeom>
          <a:solidFill>
            <a:srgbClr val="CCFFCC"/>
          </a:solidFill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What happens to the execution when canaries are not enabled for this program and given the same input below?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7201" y="3786698"/>
            <a:ext cx="5118100" cy="150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176" y="3216311"/>
            <a:ext cx="1320662" cy="184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5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3" y="1217644"/>
            <a:ext cx="4130675" cy="3058262"/>
          </a:xfrm>
        </p:spPr>
        <p:txBody>
          <a:bodyPr>
            <a:normAutofit lnSpcReduction="10000"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latin typeface="Arial" charset="0"/>
              </a:rPr>
              <a:t>Will non executable stack prevent buffer overflow attacks ?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dirty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dirty="0">
              <a:latin typeface="Arial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sz="2400" b="1" i="1" dirty="0" smtClean="0">
                <a:latin typeface="Arial" charset="0"/>
              </a:rPr>
              <a:t>Return – to – </a:t>
            </a:r>
            <a:r>
              <a:rPr lang="en-US" sz="2400" b="1" i="1" dirty="0" err="1" smtClean="0">
                <a:latin typeface="Arial" charset="0"/>
              </a:rPr>
              <a:t>LibC</a:t>
            </a:r>
            <a:r>
              <a:rPr lang="en-US" sz="2400" b="1" i="1" dirty="0" smtClean="0">
                <a:latin typeface="Arial" charset="0"/>
              </a:rPr>
              <a:t> Attacks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2000" dirty="0">
              <a:latin typeface="Arial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latin typeface="Arial" charset="0"/>
              </a:rPr>
              <a:t>(Bypassing non-executable stack during exploitation using return-to-</a:t>
            </a:r>
            <a:r>
              <a:rPr lang="en-US" sz="2000" dirty="0" err="1" smtClean="0">
                <a:latin typeface="Arial" charset="0"/>
              </a:rPr>
              <a:t>libc</a:t>
            </a:r>
            <a:r>
              <a:rPr lang="en-US" sz="2000" dirty="0" smtClean="0">
                <a:latin typeface="Arial" charset="0"/>
              </a:rPr>
              <a:t> attacks)</a:t>
            </a:r>
            <a:endParaRPr lang="en-US" sz="2000" dirty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dirty="0">
              <a:latin typeface="Arial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35</a:t>
            </a:fld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443" y="1217646"/>
            <a:ext cx="3346359" cy="30582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626" y="4764584"/>
            <a:ext cx="689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css.csail.mit.edu</a:t>
            </a:r>
            <a:r>
              <a:rPr lang="en-US" dirty="0"/>
              <a:t>/6.858/2010/readings/return-to-</a:t>
            </a:r>
            <a:r>
              <a:rPr lang="en-US" dirty="0" err="1"/>
              <a:t>libc.pdf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35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3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libc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01214" y="-1038740"/>
            <a:ext cx="3258234" cy="78327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3977" y="2461980"/>
            <a:ext cx="7271890" cy="548849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3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 dirty="0">
                <a:latin typeface="Arial" charset="0"/>
              </a:rPr>
              <a:t>Return to </a:t>
            </a:r>
            <a:r>
              <a:rPr lang="en-US" sz="4000" dirty="0" err="1">
                <a:latin typeface="Arial" charset="0"/>
              </a:rPr>
              <a:t>Libc</a:t>
            </a:r>
            <a:r>
              <a:rPr lang="en-US" sz="4000" dirty="0">
                <a:latin typeface="Arial" charset="0"/>
              </a:rPr>
              <a:t/>
            </a:r>
            <a:br>
              <a:rPr lang="en-US" sz="4000" dirty="0">
                <a:latin typeface="Arial" charset="0"/>
              </a:rPr>
            </a:br>
            <a:r>
              <a:rPr lang="en-US" sz="2700" dirty="0" smtClean="0">
                <a:latin typeface="Arial" charset="0"/>
              </a:rPr>
              <a:t>(replace return address to point to a function within </a:t>
            </a:r>
            <a:r>
              <a:rPr lang="en-US" sz="2700" dirty="0" err="1" smtClean="0">
                <a:latin typeface="Arial" charset="0"/>
              </a:rPr>
              <a:t>libc</a:t>
            </a:r>
            <a:r>
              <a:rPr lang="en-US" sz="2700" dirty="0" smtClean="0">
                <a:latin typeface="Arial" charset="0"/>
              </a:rPr>
              <a:t>)</a:t>
            </a:r>
            <a:endParaRPr lang="en-US" sz="2700" dirty="0">
              <a:latin typeface="Arial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958975" y="3206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1958975" y="40064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1958975" y="2920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1958975" y="2063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958975" y="1777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1958975" y="1491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49" name="Rectangle 13"/>
          <p:cNvSpPr>
            <a:spLocks noChangeArrowheads="1"/>
          </p:cNvSpPr>
          <p:nvPr/>
        </p:nvSpPr>
        <p:spPr bwMode="auto">
          <a:xfrm>
            <a:off x="1958975" y="1206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39950" name="Rectangle 14"/>
          <p:cNvSpPr>
            <a:spLocks noChangeArrowheads="1"/>
          </p:cNvSpPr>
          <p:nvPr/>
        </p:nvSpPr>
        <p:spPr bwMode="auto">
          <a:xfrm>
            <a:off x="1958975" y="292060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1" name="Rectangle 15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1958975" y="149185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5" name="AutoShape 19"/>
          <p:cNvSpPr>
            <a:spLocks/>
          </p:cNvSpPr>
          <p:nvPr/>
        </p:nvSpPr>
        <p:spPr bwMode="auto">
          <a:xfrm>
            <a:off x="1724025" y="2977754"/>
            <a:ext cx="152400" cy="97155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6" name="Text Box 20"/>
          <p:cNvSpPr txBox="1">
            <a:spLocks noChangeArrowheads="1"/>
          </p:cNvSpPr>
          <p:nvPr/>
        </p:nvSpPr>
        <p:spPr bwMode="auto">
          <a:xfrm>
            <a:off x="962027" y="3320654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buffer</a:t>
            </a:r>
          </a:p>
        </p:txBody>
      </p:sp>
      <p:sp>
        <p:nvSpPr>
          <p:cNvPr id="39958" name="Rectangle 22"/>
          <p:cNvSpPr>
            <a:spLocks noChangeArrowheads="1"/>
          </p:cNvSpPr>
          <p:nvPr/>
        </p:nvSpPr>
        <p:spPr bwMode="auto">
          <a:xfrm>
            <a:off x="228600" y="2343150"/>
            <a:ext cx="1676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2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37</a:t>
            </a:fld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927932" y="3489986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F1 </a:t>
            </a:r>
            <a:r>
              <a:rPr lang="en-US" dirty="0" err="1" smtClean="0"/>
              <a:t>Addr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039556" y="1206104"/>
            <a:ext cx="1651000" cy="15168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Stack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Heap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039556" y="2722960"/>
            <a:ext cx="1651000" cy="6375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6039556" y="3360474"/>
            <a:ext cx="1651000" cy="140454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Text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35378" y="1206104"/>
            <a:ext cx="2404181" cy="1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" idx="1"/>
          </p:cNvCxnSpPr>
          <p:nvPr/>
        </p:nvCxnSpPr>
        <p:spPr>
          <a:xfrm flipV="1">
            <a:off x="3604332" y="1964532"/>
            <a:ext cx="2435224" cy="2335742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" idx="1"/>
          </p:cNvCxnSpPr>
          <p:nvPr/>
        </p:nvCxnSpPr>
        <p:spPr>
          <a:xfrm flipV="1">
            <a:off x="6039556" y="1956463"/>
            <a:ext cx="1651000" cy="8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39952" idx="3"/>
          </p:cNvCxnSpPr>
          <p:nvPr/>
        </p:nvCxnSpPr>
        <p:spPr>
          <a:xfrm>
            <a:off x="3635378" y="2491979"/>
            <a:ext cx="2404181" cy="1800225"/>
          </a:xfrm>
          <a:prstGeom prst="curved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933" y="4380357"/>
            <a:ext cx="4545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Bypasses W^X since F1 is in the code segment,</a:t>
            </a:r>
          </a:p>
          <a:p>
            <a:r>
              <a:rPr lang="en-US" dirty="0" smtClean="0"/>
              <a:t>And can be legally executed.</a:t>
            </a:r>
            <a:endParaRPr lang="en-US" dirty="0"/>
          </a:p>
        </p:txBody>
      </p:sp>
      <p:sp>
        <p:nvSpPr>
          <p:cNvPr id="2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37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98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F1 = system()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Arial" charset="0"/>
              </a:rPr>
              <a:t>One option is function </a:t>
            </a:r>
            <a:r>
              <a:rPr lang="en-US" sz="2400" b="1" dirty="0">
                <a:latin typeface="Arial" charset="0"/>
              </a:rPr>
              <a:t>system </a:t>
            </a:r>
            <a:r>
              <a:rPr lang="en-US" sz="2400" dirty="0">
                <a:latin typeface="Arial" charset="0"/>
              </a:rPr>
              <a:t>present in </a:t>
            </a:r>
            <a:r>
              <a:rPr lang="en-US" sz="2400" dirty="0" err="1" smtClean="0">
                <a:latin typeface="Arial" charset="0"/>
              </a:rPr>
              <a:t>libc</a:t>
            </a:r>
            <a:endParaRPr lang="en-US" sz="2400" dirty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charset="0"/>
              </a:rPr>
              <a:t>      </a:t>
            </a:r>
            <a:r>
              <a:rPr lang="en-US" sz="2000" i="1" dirty="0">
                <a:latin typeface="Arial" charset="0"/>
              </a:rPr>
              <a:t>system(</a:t>
            </a:r>
            <a:r>
              <a:rPr lang="ja-JP" altLang="en-US" sz="2000" i="1" dirty="0">
                <a:latin typeface="Arial" charset="0"/>
              </a:rPr>
              <a:t>“</a:t>
            </a:r>
            <a:r>
              <a:rPr lang="en-US" altLang="ja-JP" sz="2000" i="1" dirty="0">
                <a:latin typeface="Arial" charset="0"/>
              </a:rPr>
              <a:t>/bin/bash</a:t>
            </a:r>
            <a:r>
              <a:rPr lang="ja-JP" altLang="en-US" sz="2000" i="1" dirty="0">
                <a:latin typeface="Arial" charset="0"/>
              </a:rPr>
              <a:t>”</a:t>
            </a:r>
            <a:r>
              <a:rPr lang="en-US" altLang="ja-JP" sz="2000" i="1" dirty="0">
                <a:latin typeface="Arial" charset="0"/>
              </a:rPr>
              <a:t>)</a:t>
            </a:r>
            <a:r>
              <a:rPr lang="en-US" altLang="ja-JP" sz="2000" i="1" dirty="0" smtClean="0">
                <a:latin typeface="Arial" charset="0"/>
              </a:rPr>
              <a:t>; </a:t>
            </a:r>
            <a:r>
              <a:rPr lang="en-US" sz="2000" i="1" dirty="0" smtClean="0">
                <a:latin typeface="Arial" charset="0"/>
              </a:rPr>
              <a:t>would </a:t>
            </a:r>
            <a:r>
              <a:rPr lang="en-US" sz="2000" i="1" dirty="0">
                <a:latin typeface="Arial" charset="0"/>
              </a:rPr>
              <a:t>create a bash </a:t>
            </a:r>
            <a:r>
              <a:rPr lang="en-US" sz="2000" i="1" dirty="0" smtClean="0">
                <a:latin typeface="Arial" charset="0"/>
              </a:rPr>
              <a:t>shell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000" i="1" dirty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charset="0"/>
              </a:rPr>
              <a:t>So we need to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dirty="0">
                <a:latin typeface="Arial" charset="0"/>
              </a:rPr>
              <a:t>Find the address of </a:t>
            </a:r>
            <a:r>
              <a:rPr lang="en-US" sz="2000" dirty="0">
                <a:solidFill>
                  <a:srgbClr val="FF6600"/>
                </a:solidFill>
                <a:latin typeface="Arial" charset="0"/>
              </a:rPr>
              <a:t>system</a:t>
            </a:r>
            <a:r>
              <a:rPr lang="en-US" sz="2000" dirty="0">
                <a:latin typeface="Arial" charset="0"/>
              </a:rPr>
              <a:t> in the </a:t>
            </a:r>
            <a:r>
              <a:rPr lang="en-US" sz="2000" dirty="0" smtClean="0">
                <a:latin typeface="Arial" charset="0"/>
              </a:rPr>
              <a:t>program</a:t>
            </a:r>
            <a:br>
              <a:rPr lang="en-US" sz="2000" dirty="0" smtClean="0">
                <a:latin typeface="Arial" charset="0"/>
              </a:rPr>
            </a:br>
            <a:endParaRPr lang="en-US" sz="2000" dirty="0" smtClean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000" dirty="0" smtClean="0">
                <a:latin typeface="Arial" charset="0"/>
              </a:rPr>
              <a:t>Supply </a:t>
            </a:r>
            <a:r>
              <a:rPr lang="en-US" sz="2000" dirty="0">
                <a:latin typeface="Arial" charset="0"/>
              </a:rPr>
              <a:t>an address that points to the string </a:t>
            </a:r>
            <a:r>
              <a:rPr lang="en-US" sz="2000" dirty="0" smtClean="0">
                <a:latin typeface="Arial" charset="0"/>
              </a:rPr>
              <a:t>/</a:t>
            </a:r>
            <a:r>
              <a:rPr lang="en-US" sz="2000" dirty="0">
                <a:latin typeface="Arial" charset="0"/>
              </a:rPr>
              <a:t>bin</a:t>
            </a:r>
            <a:r>
              <a:rPr lang="en-US" sz="2000" dirty="0" smtClean="0">
                <a:latin typeface="Arial" charset="0"/>
              </a:rPr>
              <a:t>/bash</a:t>
            </a:r>
            <a:endParaRPr lang="en-US" sz="2000" dirty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endParaRPr lang="en-US" sz="2000" i="1" dirty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2000" b="1" i="1" dirty="0">
              <a:latin typeface="Arial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38</a:t>
            </a:fld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38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7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The return-to-libc attack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958975" y="3206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1958975" y="40064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1958975" y="2920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err="1" smtClean="0"/>
              <a:t>addr</a:t>
            </a:r>
            <a:r>
              <a:rPr lang="en-US" dirty="0" smtClean="0"/>
              <a:t>(system)</a:t>
            </a:r>
            <a:endParaRPr lang="en-US" dirty="0"/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1958975" y="2063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1958975" y="1777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string </a:t>
            </a:r>
            <a:r>
              <a:rPr lang="en-US" dirty="0" err="1"/>
              <a:t>ptr</a:t>
            </a:r>
            <a:endParaRPr lang="en-US" dirty="0"/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1958975" y="1491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20" name="Rectangle 12"/>
          <p:cNvSpPr>
            <a:spLocks noChangeArrowheads="1"/>
          </p:cNvSpPr>
          <p:nvPr/>
        </p:nvSpPr>
        <p:spPr bwMode="auto">
          <a:xfrm>
            <a:off x="1958975" y="1206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1958975" y="292060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2" name="Rectangle 14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Rectangle 16"/>
          <p:cNvSpPr>
            <a:spLocks noChangeArrowheads="1"/>
          </p:cNvSpPr>
          <p:nvPr/>
        </p:nvSpPr>
        <p:spPr bwMode="auto">
          <a:xfrm>
            <a:off x="1958975" y="149185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5" name="AutoShape 17"/>
          <p:cNvSpPr>
            <a:spLocks/>
          </p:cNvSpPr>
          <p:nvPr/>
        </p:nvSpPr>
        <p:spPr bwMode="auto">
          <a:xfrm>
            <a:off x="1724025" y="2977754"/>
            <a:ext cx="152400" cy="97155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962027" y="3320654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buffer</a:t>
            </a:r>
          </a:p>
        </p:txBody>
      </p:sp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1968500" y="34861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43028" name="Rectangle 20"/>
          <p:cNvSpPr>
            <a:spLocks noChangeArrowheads="1"/>
          </p:cNvSpPr>
          <p:nvPr/>
        </p:nvSpPr>
        <p:spPr bwMode="auto">
          <a:xfrm>
            <a:off x="228600" y="2343150"/>
            <a:ext cx="1676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43029" name="Rectangle 21"/>
          <p:cNvSpPr>
            <a:spLocks noChangeArrowheads="1"/>
          </p:cNvSpPr>
          <p:nvPr/>
        </p:nvSpPr>
        <p:spPr bwMode="auto">
          <a:xfrm>
            <a:off x="5562600" y="285750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system()</a:t>
            </a:r>
          </a:p>
          <a:p>
            <a:pPr algn="ctr"/>
            <a:r>
              <a:rPr lang="en-US"/>
              <a:t>In libc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3581400" y="2514600"/>
            <a:ext cx="1981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1" name="Rectangle 24"/>
          <p:cNvSpPr>
            <a:spLocks noChangeArrowheads="1"/>
          </p:cNvSpPr>
          <p:nvPr/>
        </p:nvSpPr>
        <p:spPr bwMode="auto">
          <a:xfrm>
            <a:off x="5562600" y="3543300"/>
            <a:ext cx="1143000" cy="1028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3032" name="Rectangle 25"/>
          <p:cNvSpPr>
            <a:spLocks noChangeArrowheads="1"/>
          </p:cNvSpPr>
          <p:nvPr/>
        </p:nvSpPr>
        <p:spPr bwMode="auto">
          <a:xfrm>
            <a:off x="5562600" y="1828800"/>
            <a:ext cx="1143000" cy="1028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3033" name="Rectangle 26"/>
          <p:cNvSpPr>
            <a:spLocks noChangeArrowheads="1"/>
          </p:cNvSpPr>
          <p:nvPr/>
        </p:nvSpPr>
        <p:spPr bwMode="auto">
          <a:xfrm>
            <a:off x="5562600" y="1543050"/>
            <a:ext cx="1143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/bin/bash</a:t>
            </a:r>
          </a:p>
        </p:txBody>
      </p:sp>
      <p:sp>
        <p:nvSpPr>
          <p:cNvPr id="43034" name="Rectangle 27"/>
          <p:cNvSpPr>
            <a:spLocks noChangeArrowheads="1"/>
          </p:cNvSpPr>
          <p:nvPr/>
        </p:nvSpPr>
        <p:spPr bwMode="auto">
          <a:xfrm>
            <a:off x="5562600" y="1028700"/>
            <a:ext cx="1143000" cy="514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3035" name="Line 28"/>
          <p:cNvSpPr>
            <a:spLocks noChangeShapeType="1"/>
          </p:cNvSpPr>
          <p:nvPr/>
        </p:nvSpPr>
        <p:spPr bwMode="auto">
          <a:xfrm flipV="1">
            <a:off x="3505200" y="1714500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39</a:t>
            </a:fld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39</a:t>
            </a:fld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 flipH="1">
            <a:off x="2309252" y="4387334"/>
            <a:ext cx="70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 flipH="1">
            <a:off x="4988998" y="4572000"/>
            <a:ext cx="242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Virtual address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79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</a:rPr>
              <a:t>Find address of </a:t>
            </a:r>
            <a:r>
              <a:rPr lang="en-US" dirty="0" smtClean="0">
                <a:latin typeface="Arial" charset="0"/>
              </a:rPr>
              <a:t>system in the executable</a:t>
            </a:r>
            <a:endParaRPr lang="en-US" dirty="0">
              <a:latin typeface="Arial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40</a:t>
            </a:fld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39" y="1407881"/>
            <a:ext cx="7415537" cy="2712203"/>
          </a:xfrm>
          <a:prstGeom prst="rect">
            <a:avLst/>
          </a:prstGeom>
          <a:ln>
            <a:solidFill>
              <a:srgbClr val="4F81B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815239" y="3257934"/>
            <a:ext cx="7415537" cy="212100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40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85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Find address of /bin</a:t>
            </a:r>
            <a:r>
              <a:rPr lang="en-US" dirty="0" smtClean="0">
                <a:latin typeface="Arial" charset="0"/>
              </a:rPr>
              <a:t>/bash</a:t>
            </a:r>
            <a:endParaRPr lang="en-US" dirty="0">
              <a:latin typeface="Arial" charset="0"/>
            </a:endParaRP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Arial" charset="0"/>
              </a:rPr>
              <a:t>Every process stores the </a:t>
            </a:r>
            <a:r>
              <a:rPr lang="en-US" sz="2000" dirty="0" err="1">
                <a:latin typeface="Arial" charset="0"/>
              </a:rPr>
              <a:t>enviroment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 smtClean="0">
                <a:latin typeface="Arial" charset="0"/>
              </a:rPr>
              <a:t>variables at the bottom of the stack</a:t>
            </a:r>
            <a:endParaRPr lang="en-US" sz="2000" dirty="0">
              <a:latin typeface="Arial" charset="0"/>
            </a:endParaRPr>
          </a:p>
          <a:p>
            <a:pPr eaLnBrk="1" hangingPunct="1"/>
            <a:r>
              <a:rPr lang="en-US" sz="2000" dirty="0">
                <a:latin typeface="Arial" charset="0"/>
              </a:rPr>
              <a:t>We need to find this and extract the string /bin</a:t>
            </a:r>
            <a:r>
              <a:rPr lang="en-US" sz="2000" dirty="0" smtClean="0">
                <a:latin typeface="Arial" charset="0"/>
              </a:rPr>
              <a:t>/bash </a:t>
            </a:r>
            <a:r>
              <a:rPr lang="en-US" sz="2000" dirty="0">
                <a:latin typeface="Arial" charset="0"/>
              </a:rPr>
              <a:t>from it</a:t>
            </a:r>
          </a:p>
        </p:txBody>
      </p:sp>
      <p:pic>
        <p:nvPicPr>
          <p:cNvPr id="4506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00350"/>
            <a:ext cx="5486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Line 5"/>
          <p:cNvSpPr>
            <a:spLocks noChangeShapeType="1"/>
          </p:cNvSpPr>
          <p:nvPr/>
        </p:nvSpPr>
        <p:spPr bwMode="auto">
          <a:xfrm>
            <a:off x="1524000" y="4057650"/>
            <a:ext cx="4572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41</a:t>
            </a:fld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41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3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final exploit Stack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58975" y="3206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58975" y="40064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958975" y="2920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0x28085260</a:t>
            </a: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958975" y="2063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dead</a:t>
            </a:r>
            <a:endParaRPr lang="en-US" dirty="0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958975" y="1777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0xbfbffe25</a:t>
            </a:r>
            <a:endParaRPr lang="en-US" dirty="0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958975" y="1491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958975" y="1206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958975" y="292060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958975" y="149185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AutoShape 17"/>
          <p:cNvSpPr>
            <a:spLocks/>
          </p:cNvSpPr>
          <p:nvPr/>
        </p:nvSpPr>
        <p:spPr bwMode="auto">
          <a:xfrm>
            <a:off x="1724025" y="2977754"/>
            <a:ext cx="152400" cy="97155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962027" y="3320654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buffer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968500" y="34861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228600" y="2343150"/>
            <a:ext cx="1676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562600" y="2857500"/>
            <a:ext cx="1143000" cy="6858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system()</a:t>
            </a:r>
          </a:p>
          <a:p>
            <a:pPr algn="ctr"/>
            <a:r>
              <a:rPr lang="en-US"/>
              <a:t>In libc</a:t>
            </a: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3581400" y="2514600"/>
            <a:ext cx="1981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5562600" y="3543300"/>
            <a:ext cx="1143000" cy="1028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5562600" y="1828800"/>
            <a:ext cx="1143000" cy="1028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5562600" y="1543050"/>
            <a:ext cx="1143000" cy="285750"/>
          </a:xfrm>
          <a:prstGeom prst="rect">
            <a:avLst/>
          </a:prstGeom>
          <a:solidFill>
            <a:schemeClr val="accent1"/>
          </a:solidFill>
          <a:ln w="1905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/bin</a:t>
            </a:r>
            <a:r>
              <a:rPr lang="en-US" dirty="0" smtClean="0"/>
              <a:t>/bash</a:t>
            </a:r>
            <a:endParaRPr lang="en-US" dirty="0"/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5562600" y="1028700"/>
            <a:ext cx="1143000" cy="514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V="1">
            <a:off x="3505200" y="1714500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42</a:t>
            </a:fld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flipH="1">
            <a:off x="4988998" y="4572000"/>
            <a:ext cx="242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Virtual address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70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clean exit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58975" y="3206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58975" y="40064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958975" y="2920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0x28085260</a:t>
            </a: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958975" y="20633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0x281130d0</a:t>
            </a:r>
            <a:endParaRPr lang="en-US" dirty="0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958975" y="17776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0xbfbffe25</a:t>
            </a:r>
            <a:endParaRPr lang="en-US" dirty="0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958975" y="14918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958975" y="12061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958975" y="292060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958975" y="26348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958975" y="23491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958975" y="149185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AutoShape 17"/>
          <p:cNvSpPr>
            <a:spLocks/>
          </p:cNvSpPr>
          <p:nvPr/>
        </p:nvSpPr>
        <p:spPr bwMode="auto">
          <a:xfrm>
            <a:off x="1724025" y="2977754"/>
            <a:ext cx="152400" cy="97155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962027" y="3320654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buffer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968500" y="3486150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228600" y="2343150"/>
            <a:ext cx="1676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/>
              <a:t>Return Address</a:t>
            </a: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562600" y="285750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system()</a:t>
            </a:r>
          </a:p>
          <a:p>
            <a:pPr algn="ctr"/>
            <a:r>
              <a:rPr lang="en-US"/>
              <a:t>In libc</a:t>
            </a: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3581400" y="2514600"/>
            <a:ext cx="1981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5562600" y="3543300"/>
            <a:ext cx="1143000" cy="1028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5562600" y="1828800"/>
            <a:ext cx="1143000" cy="1028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5562600" y="1543050"/>
            <a:ext cx="1143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/bin/</a:t>
            </a:r>
            <a:r>
              <a:rPr lang="en-US" dirty="0" smtClean="0"/>
              <a:t>bash</a:t>
            </a:r>
            <a:endParaRPr lang="en-US" dirty="0"/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5562600" y="1028700"/>
            <a:ext cx="1143000" cy="514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V="1">
            <a:off x="3505200" y="1714500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5562600" y="2006204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 smtClean="0"/>
              <a:t>exit(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In </a:t>
            </a:r>
            <a:r>
              <a:rPr lang="en-US" dirty="0" err="1"/>
              <a:t>libc</a:t>
            </a:r>
            <a:endParaRPr lang="en-US" dirty="0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3559178" y="2234804"/>
            <a:ext cx="2003425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43</a:t>
            </a:fld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 flipH="1">
            <a:off x="4988998" y="4572000"/>
            <a:ext cx="242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Virtual address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46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Limitation of ret2libc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457200" y="1399551"/>
            <a:ext cx="8229600" cy="59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x-none" sz="2400" dirty="0" smtClean="0"/>
              <a:t>Limitation on what the attacker can do</a:t>
            </a:r>
          </a:p>
          <a:p>
            <a:pPr marL="342900" indent="-342900">
              <a:spcBef>
                <a:spcPct val="20000"/>
              </a:spcBef>
            </a:pPr>
            <a:r>
              <a:rPr lang="x-none" altLang="ja-JP" sz="2400" dirty="0" smtClean="0"/>
              <a:t>(only restricted to certain functions in the library)</a:t>
            </a:r>
          </a:p>
          <a:p>
            <a:pPr marL="342900" indent="-342900">
              <a:spcBef>
                <a:spcPct val="20000"/>
              </a:spcBef>
            </a:pPr>
            <a:endParaRPr lang="x-none" altLang="ja-JP" sz="2400" dirty="0"/>
          </a:p>
          <a:p>
            <a:pPr marL="342900" indent="-342900">
              <a:spcBef>
                <a:spcPct val="20000"/>
              </a:spcBef>
            </a:pPr>
            <a:r>
              <a:rPr lang="x-none" altLang="ja-JP" sz="2400" dirty="0" smtClean="0"/>
              <a:t>These functions could be removed from the library</a:t>
            </a:r>
            <a:endParaRPr lang="en-US" altLang="ja-JP" sz="2400" dirty="0"/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b="1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4865105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CAFCD0DC-D74B-0F46-85B0-4EF680DB144A}" type="slidenum">
              <a:rPr lang="en-US" sz="1400">
                <a:solidFill>
                  <a:schemeClr val="bg2"/>
                </a:solidFill>
              </a:rPr>
              <a:pPr algn="r" eaLnBrk="1" hangingPunct="1"/>
              <a:t>44</a:t>
            </a:fld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4815429"/>
            <a:ext cx="2133600" cy="273844"/>
          </a:xfrm>
        </p:spPr>
        <p:txBody>
          <a:bodyPr/>
          <a:lstStyle/>
          <a:p>
            <a:pPr algn="r">
              <a:defRPr/>
            </a:pPr>
            <a:fld id="{358FA844-6EAB-DC46-9FA0-CA79DB389480}" type="slidenum">
              <a:rPr lang="en-US" b="1" smtClean="0">
                <a:solidFill>
                  <a:srgbClr val="000000"/>
                </a:solidFill>
              </a:rPr>
              <a:pPr algn="r">
                <a:defRPr/>
              </a:pPr>
              <a:t>44</a:t>
            </a:fld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90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3978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>Return Oriented Programming</a:t>
            </a:r>
            <a:br>
              <a:rPr lang="en-US" b="1" i="1" dirty="0" smtClean="0"/>
            </a:br>
            <a:r>
              <a:rPr lang="en-US" b="1" i="1" dirty="0" smtClean="0"/>
              <a:t>(ROP)</a:t>
            </a:r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0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Return Oriented Programming Attacks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Arial" charset="0"/>
              </a:rPr>
              <a:t>Discovered by </a:t>
            </a:r>
            <a:r>
              <a:rPr lang="en-US" sz="2400" dirty="0" err="1">
                <a:latin typeface="Arial" charset="0"/>
              </a:rPr>
              <a:t>Hovav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err="1">
                <a:latin typeface="Arial" charset="0"/>
              </a:rPr>
              <a:t>Shacham</a:t>
            </a:r>
            <a:r>
              <a:rPr lang="en-US" sz="2400" dirty="0">
                <a:latin typeface="Arial" charset="0"/>
              </a:rPr>
              <a:t> of Stanford University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Subverts execution to </a:t>
            </a:r>
            <a:r>
              <a:rPr lang="en-US" sz="2400" dirty="0" err="1" smtClean="0">
                <a:latin typeface="Arial" charset="0"/>
              </a:rPr>
              <a:t>libc</a:t>
            </a:r>
            <a:r>
              <a:rPr lang="en-US" sz="2400" dirty="0" smtClean="0">
                <a:latin typeface="Arial" charset="0"/>
              </a:rPr>
              <a:t> </a:t>
            </a:r>
          </a:p>
          <a:p>
            <a:pPr lvl="1"/>
            <a:r>
              <a:rPr lang="en-US" sz="1600" dirty="0" smtClean="0">
                <a:latin typeface="Arial" charset="0"/>
                <a:cs typeface="Arial" charset="0"/>
              </a:rPr>
              <a:t>As with the regular ret-2-libc, can </a:t>
            </a:r>
            <a:r>
              <a:rPr lang="en-US" sz="1600" dirty="0">
                <a:latin typeface="Arial" charset="0"/>
                <a:cs typeface="Arial" charset="0"/>
              </a:rPr>
              <a:t>be used </a:t>
            </a:r>
            <a:r>
              <a:rPr lang="en-US" sz="1600" dirty="0" smtClean="0">
                <a:latin typeface="Arial" charset="0"/>
                <a:cs typeface="Arial" charset="0"/>
              </a:rPr>
              <a:t>with non </a:t>
            </a:r>
            <a:r>
              <a:rPr lang="en-US" sz="1600" dirty="0">
                <a:latin typeface="Arial" charset="0"/>
                <a:cs typeface="Arial" charset="0"/>
              </a:rPr>
              <a:t>executable </a:t>
            </a:r>
            <a:r>
              <a:rPr lang="en-US" sz="1600" dirty="0" smtClean="0">
                <a:latin typeface="Arial" charset="0"/>
                <a:cs typeface="Arial" charset="0"/>
              </a:rPr>
              <a:t>stacks since the instructions can be legally executed</a:t>
            </a:r>
          </a:p>
          <a:p>
            <a:pPr lvl="1"/>
            <a:r>
              <a:rPr lang="en-US" sz="1600" dirty="0" smtClean="0">
                <a:latin typeface="Arial" charset="0"/>
                <a:cs typeface="Arial" charset="0"/>
              </a:rPr>
              <a:t>Unlike ret-2-libc does not require to execute functions in </a:t>
            </a:r>
            <a:r>
              <a:rPr lang="en-US" sz="1600" dirty="0" err="1" smtClean="0">
                <a:latin typeface="Arial" charset="0"/>
                <a:cs typeface="Arial" charset="0"/>
              </a:rPr>
              <a:t>libc</a:t>
            </a:r>
            <a:r>
              <a:rPr lang="en-US" sz="1600" dirty="0" smtClean="0">
                <a:latin typeface="Arial" charset="0"/>
                <a:cs typeface="Arial" charset="0"/>
              </a:rPr>
              <a:t> (can execute any arbitrary code)</a:t>
            </a: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46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46594" y="4333169"/>
            <a:ext cx="7690356" cy="646331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Geometry of Innocent Flesh on the Bone: Return-into-</a:t>
            </a:r>
            <a:r>
              <a:rPr lang="en-US" dirty="0" err="1"/>
              <a:t>libc</a:t>
            </a:r>
            <a:r>
              <a:rPr lang="en-US" dirty="0"/>
              <a:t> without Function Calls (on the </a:t>
            </a:r>
            <a:r>
              <a:rPr lang="en-US" dirty="0" smtClean="0"/>
              <a:t>x86)</a:t>
            </a:r>
          </a:p>
        </p:txBody>
      </p:sp>
    </p:spTree>
    <p:extLst>
      <p:ext uri="{BB962C8B-B14F-4D97-AF65-F5344CB8AC3E}">
        <p14:creationId xmlns:p14="http://schemas.microsoft.com/office/powerpoint/2010/main" val="48651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Target Payload</a:t>
            </a:r>
            <a:endParaRPr lang="en-US" dirty="0">
              <a:latin typeface="Arial" charset="0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buFontTx/>
              <a:buNone/>
            </a:pPr>
            <a:r>
              <a:rPr lang="en-US" sz="2000" dirty="0">
                <a:latin typeface="Arial" charset="0"/>
              </a:rPr>
              <a:t>Lets say this is the payload </a:t>
            </a:r>
            <a:r>
              <a:rPr lang="en-US" sz="2000" dirty="0" smtClean="0">
                <a:latin typeface="Arial" charset="0"/>
              </a:rPr>
              <a:t>needed </a:t>
            </a:r>
            <a:r>
              <a:rPr lang="en-US" sz="2000" dirty="0">
                <a:latin typeface="Arial" charset="0"/>
              </a:rPr>
              <a:t>to be executed by an attacker</a:t>
            </a:r>
            <a:r>
              <a:rPr lang="en-US" sz="2000" dirty="0" smtClean="0">
                <a:latin typeface="Arial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>
              <a:buFontTx/>
              <a:buNone/>
            </a:pPr>
            <a:endParaRPr lang="en-US" sz="2000" dirty="0" smtClean="0">
              <a:latin typeface="Arial" charset="0"/>
            </a:endParaRP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>
              <a:buFontTx/>
              <a:buNone/>
            </a:pPr>
            <a:endParaRPr lang="en-US" sz="2000" dirty="0" smtClean="0">
              <a:latin typeface="Arial" charset="0"/>
            </a:endParaRPr>
          </a:p>
          <a:p>
            <a:pPr eaLnBrk="1" hangingPunct="1">
              <a:buFontTx/>
              <a:buNone/>
            </a:pPr>
            <a:endParaRPr lang="en-US" sz="2000" dirty="0" smtClean="0">
              <a:latin typeface="Arial" charset="0"/>
            </a:endParaRP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>
              <a:buFontTx/>
              <a:buNone/>
            </a:pPr>
            <a:r>
              <a:rPr lang="en-US" sz="2000" dirty="0" smtClean="0">
                <a:latin typeface="Arial" charset="0"/>
              </a:rPr>
              <a:t>Suppose there is a function in </a:t>
            </a:r>
            <a:r>
              <a:rPr lang="en-US" sz="2000" dirty="0" err="1" smtClean="0">
                <a:latin typeface="Arial" charset="0"/>
              </a:rPr>
              <a:t>libc</a:t>
            </a:r>
            <a:r>
              <a:rPr lang="en-US" sz="2000" dirty="0" smtClean="0">
                <a:latin typeface="Arial" charset="0"/>
              </a:rPr>
              <a:t>, which has exactly this sequence of instructions </a:t>
            </a:r>
            <a:r>
              <a:rPr lang="is-IS" sz="2000" dirty="0" smtClean="0">
                <a:latin typeface="Arial" charset="0"/>
              </a:rPr>
              <a:t>… then we are done.. </a:t>
            </a:r>
            <a:r>
              <a:rPr lang="en-US" sz="2000" dirty="0" smtClean="0">
                <a:latin typeface="Arial" charset="0"/>
              </a:rPr>
              <a:t>we just need to subvert execution to the function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>
              <a:buFontTx/>
              <a:buNone/>
            </a:pPr>
            <a:r>
              <a:rPr lang="en-US" sz="2000" dirty="0" smtClean="0">
                <a:latin typeface="Arial" charset="0"/>
              </a:rPr>
              <a:t>What if such a function does not exist?</a:t>
            </a:r>
            <a:br>
              <a:rPr lang="en-US" sz="2000" dirty="0" smtClean="0">
                <a:latin typeface="Arial" charset="0"/>
              </a:rPr>
            </a:br>
            <a:r>
              <a:rPr lang="en-US" sz="2000" dirty="0" smtClean="0">
                <a:latin typeface="Arial" charset="0"/>
              </a:rPr>
              <a:t>If you can’t find it then build it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</p:txBody>
      </p:sp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5" y="1487739"/>
            <a:ext cx="3324225" cy="1407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9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Step 1: Find Gadgets</a:t>
            </a:r>
            <a:endParaRPr lang="en-US" dirty="0">
              <a:latin typeface="Arial" charset="0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000" dirty="0" smtClean="0">
                <a:latin typeface="Arial" charset="0"/>
              </a:rPr>
              <a:t>Find gadgets</a:t>
            </a:r>
          </a:p>
          <a:p>
            <a:pPr eaLnBrk="1" hangingPunct="1"/>
            <a:r>
              <a:rPr lang="en-US" sz="2000" dirty="0" smtClean="0">
                <a:latin typeface="Arial" charset="0"/>
              </a:rPr>
              <a:t>A gadget is a short sequence of instructions followed by a return</a:t>
            </a:r>
            <a:endParaRPr lang="en-US" sz="2000" dirty="0">
              <a:latin typeface="Arial" charset="0"/>
            </a:endParaRPr>
          </a:p>
          <a:p>
            <a:pPr eaLnBrk="1" hangingPunct="1"/>
            <a:endParaRPr lang="en-US" sz="2000" dirty="0" smtClean="0">
              <a:latin typeface="Arial" charset="0"/>
            </a:endParaRPr>
          </a:p>
          <a:p>
            <a:pPr eaLnBrk="1" hangingPunct="1"/>
            <a:endParaRPr lang="en-US" sz="2000" dirty="0">
              <a:latin typeface="Arial" charset="0"/>
            </a:endParaRPr>
          </a:p>
          <a:p>
            <a:pPr eaLnBrk="1" hangingPunct="1"/>
            <a:r>
              <a:rPr lang="en-US" sz="2000" dirty="0" smtClean="0">
                <a:latin typeface="Arial" charset="0"/>
              </a:rPr>
              <a:t>Useful instructions : should not transfer control outside the gadget</a:t>
            </a:r>
          </a:p>
          <a:p>
            <a:pPr eaLnBrk="1" hangingPunct="1"/>
            <a:endParaRPr lang="en-US" sz="2000" dirty="0">
              <a:latin typeface="Arial" charset="0"/>
            </a:endParaRPr>
          </a:p>
          <a:p>
            <a:pPr eaLnBrk="1" hangingPunct="1"/>
            <a:r>
              <a:rPr lang="en-US" sz="2000" dirty="0" smtClean="0">
                <a:latin typeface="Arial" charset="0"/>
              </a:rPr>
              <a:t>This is a pre-processing step by statically analyzing the </a:t>
            </a:r>
            <a:r>
              <a:rPr lang="en-US" sz="2000" dirty="0" err="1" smtClean="0">
                <a:latin typeface="Arial" charset="0"/>
              </a:rPr>
              <a:t>libc</a:t>
            </a:r>
            <a:r>
              <a:rPr lang="en-US" sz="2000" dirty="0" smtClean="0">
                <a:latin typeface="Arial" charset="0"/>
              </a:rPr>
              <a:t> library</a:t>
            </a:r>
            <a:endParaRPr lang="en-US" sz="2000" dirty="0">
              <a:latin typeface="Arial" charset="0"/>
            </a:endParaRP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3500441" y="1988601"/>
            <a:ext cx="2185965" cy="646331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useful instruction(s)</a:t>
            </a:r>
          </a:p>
          <a:p>
            <a:pPr eaLnBrk="1" hangingPunct="1"/>
            <a:r>
              <a:rPr lang="en-US" sz="1800"/>
              <a:t>ret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5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Step 2: Stitching</a:t>
            </a:r>
            <a:endParaRPr lang="en-US" dirty="0">
              <a:latin typeface="Arial" charset="0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 smtClean="0">
                <a:latin typeface="Arial" charset="0"/>
              </a:rPr>
              <a:t>Stitch gadgets so that the payload is built</a:t>
            </a:r>
            <a:endParaRPr lang="en-US" sz="2800" dirty="0">
              <a:latin typeface="Arial" charset="0"/>
            </a:endParaRPr>
          </a:p>
        </p:txBody>
      </p:sp>
      <p:pic>
        <p:nvPicPr>
          <p:cNvPr id="5018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71751"/>
            <a:ext cx="2971800" cy="1258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Rectangle 5"/>
          <p:cNvSpPr>
            <a:spLocks noChangeArrowheads="1"/>
          </p:cNvSpPr>
          <p:nvPr/>
        </p:nvSpPr>
        <p:spPr bwMode="auto">
          <a:xfrm>
            <a:off x="5867400" y="1828800"/>
            <a:ext cx="2438400" cy="285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0183" name="Text Box 6"/>
          <p:cNvSpPr txBox="1">
            <a:spLocks noChangeArrowheads="1"/>
          </p:cNvSpPr>
          <p:nvPr/>
        </p:nvSpPr>
        <p:spPr bwMode="auto">
          <a:xfrm>
            <a:off x="5851527" y="4713685"/>
            <a:ext cx="1788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Program Binary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505202" y="2686051"/>
            <a:ext cx="5292725" cy="1768078"/>
            <a:chOff x="2208" y="2256"/>
            <a:chExt cx="3334" cy="1485"/>
          </a:xfrm>
        </p:grpSpPr>
        <p:sp>
          <p:nvSpPr>
            <p:cNvPr id="50206" name="Rectangle 7"/>
            <p:cNvSpPr>
              <a:spLocks noChangeArrowheads="1"/>
            </p:cNvSpPr>
            <p:nvPr/>
          </p:nvSpPr>
          <p:spPr bwMode="auto">
            <a:xfrm>
              <a:off x="3696" y="3408"/>
              <a:ext cx="1536" cy="333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 err="1"/>
                <a:t>movl</a:t>
              </a:r>
              <a:r>
                <a:rPr lang="en-US" sz="1600" dirty="0"/>
                <a:t> %</a:t>
              </a:r>
              <a:r>
                <a:rPr lang="en-US" sz="1600" dirty="0" err="1"/>
                <a:t>esi</a:t>
              </a:r>
              <a:r>
                <a:rPr lang="en-US" sz="1600" dirty="0"/>
                <a:t>, 0x8(%</a:t>
              </a:r>
              <a:r>
                <a:rPr lang="en-US" sz="1600" dirty="0" err="1"/>
                <a:t>esi</a:t>
              </a:r>
              <a:r>
                <a:rPr lang="en-US" sz="1600" dirty="0"/>
                <a:t>)</a:t>
              </a:r>
            </a:p>
            <a:p>
              <a:pPr algn="ctr"/>
              <a:r>
                <a:rPr lang="en-US" sz="1600" dirty="0"/>
                <a:t>ret</a:t>
              </a:r>
            </a:p>
          </p:txBody>
        </p:sp>
        <p:sp>
          <p:nvSpPr>
            <p:cNvPr id="50207" name="Line 11"/>
            <p:cNvSpPr>
              <a:spLocks noChangeShapeType="1"/>
            </p:cNvSpPr>
            <p:nvPr/>
          </p:nvSpPr>
          <p:spPr bwMode="auto">
            <a:xfrm>
              <a:off x="2208" y="2256"/>
              <a:ext cx="67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8" name="Line 12"/>
            <p:cNvSpPr>
              <a:spLocks noChangeShapeType="1"/>
            </p:cNvSpPr>
            <p:nvPr/>
          </p:nvSpPr>
          <p:spPr bwMode="auto">
            <a:xfrm>
              <a:off x="2880" y="2256"/>
              <a:ext cx="0" cy="12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9" name="Line 13"/>
            <p:cNvSpPr>
              <a:spLocks noChangeShapeType="1"/>
            </p:cNvSpPr>
            <p:nvPr/>
          </p:nvSpPr>
          <p:spPr bwMode="auto">
            <a:xfrm>
              <a:off x="2880" y="3552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10" name="Text Box 14"/>
            <p:cNvSpPr txBox="1">
              <a:spLocks noChangeArrowheads="1"/>
            </p:cNvSpPr>
            <p:nvPr/>
          </p:nvSpPr>
          <p:spPr bwMode="auto">
            <a:xfrm>
              <a:off x="5232" y="3431"/>
              <a:ext cx="31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G1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3505202" y="2171700"/>
            <a:ext cx="5292725" cy="685800"/>
            <a:chOff x="2208" y="1824"/>
            <a:chExt cx="3334" cy="576"/>
          </a:xfrm>
        </p:grpSpPr>
        <p:sp>
          <p:nvSpPr>
            <p:cNvPr id="50201" name="Rectangle 8"/>
            <p:cNvSpPr>
              <a:spLocks noChangeArrowheads="1"/>
            </p:cNvSpPr>
            <p:nvPr/>
          </p:nvSpPr>
          <p:spPr bwMode="auto">
            <a:xfrm>
              <a:off x="3696" y="1824"/>
              <a:ext cx="1536" cy="3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 err="1"/>
                <a:t>movb</a:t>
              </a:r>
              <a:r>
                <a:rPr lang="en-US" sz="1600" dirty="0"/>
                <a:t> $0x0, 0x7(%</a:t>
              </a:r>
              <a:r>
                <a:rPr lang="en-US" sz="1600" dirty="0" err="1"/>
                <a:t>esi</a:t>
              </a:r>
              <a:r>
                <a:rPr lang="en-US" sz="1600" dirty="0" smtClean="0"/>
                <a:t>)</a:t>
              </a:r>
            </a:p>
            <a:p>
              <a:pPr algn="ctr"/>
              <a:r>
                <a:rPr lang="en-US" sz="1600" dirty="0" smtClean="0"/>
                <a:t>ret</a:t>
              </a:r>
              <a:endParaRPr lang="en-US" sz="1600" dirty="0"/>
            </a:p>
          </p:txBody>
        </p:sp>
        <p:sp>
          <p:nvSpPr>
            <p:cNvPr id="50202" name="Text Box 15"/>
            <p:cNvSpPr txBox="1">
              <a:spLocks noChangeArrowheads="1"/>
            </p:cNvSpPr>
            <p:nvPr/>
          </p:nvSpPr>
          <p:spPr bwMode="auto">
            <a:xfrm>
              <a:off x="5232" y="1881"/>
              <a:ext cx="31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G2</a:t>
              </a:r>
            </a:p>
          </p:txBody>
        </p:sp>
        <p:sp>
          <p:nvSpPr>
            <p:cNvPr id="50203" name="Line 19"/>
            <p:cNvSpPr>
              <a:spLocks noChangeShapeType="1"/>
            </p:cNvSpPr>
            <p:nvPr/>
          </p:nvSpPr>
          <p:spPr bwMode="auto">
            <a:xfrm>
              <a:off x="2208" y="2400"/>
              <a:ext cx="52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4" name="Line 20"/>
            <p:cNvSpPr>
              <a:spLocks noChangeShapeType="1"/>
            </p:cNvSpPr>
            <p:nvPr/>
          </p:nvSpPr>
          <p:spPr bwMode="auto">
            <a:xfrm flipV="1">
              <a:off x="2736" y="1968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5" name="Line 21"/>
            <p:cNvSpPr>
              <a:spLocks noChangeShapeType="1"/>
            </p:cNvSpPr>
            <p:nvPr/>
          </p:nvSpPr>
          <p:spPr bwMode="auto">
            <a:xfrm>
              <a:off x="2736" y="1968"/>
              <a:ext cx="96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3505202" y="3028953"/>
            <a:ext cx="5292725" cy="883444"/>
            <a:chOff x="2208" y="2544"/>
            <a:chExt cx="3334" cy="742"/>
          </a:xfrm>
        </p:grpSpPr>
        <p:sp>
          <p:nvSpPr>
            <p:cNvPr id="50196" name="Rectangle 9"/>
            <p:cNvSpPr>
              <a:spLocks noChangeArrowheads="1"/>
            </p:cNvSpPr>
            <p:nvPr/>
          </p:nvSpPr>
          <p:spPr bwMode="auto">
            <a:xfrm>
              <a:off x="3696" y="2928"/>
              <a:ext cx="1536" cy="358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 err="1"/>
                <a:t>movb</a:t>
              </a:r>
              <a:r>
                <a:rPr lang="en-US" sz="1600" dirty="0"/>
                <a:t> $0x0, 0xc(%</a:t>
              </a:r>
              <a:r>
                <a:rPr lang="en-US" sz="1600" dirty="0" err="1"/>
                <a:t>esi</a:t>
              </a:r>
              <a:r>
                <a:rPr lang="en-US" sz="1600" dirty="0"/>
                <a:t>)</a:t>
              </a:r>
            </a:p>
            <a:p>
              <a:pPr algn="ctr"/>
              <a:r>
                <a:rPr lang="en-US" sz="1600" dirty="0"/>
                <a:t>ret</a:t>
              </a:r>
            </a:p>
          </p:txBody>
        </p:sp>
        <p:sp>
          <p:nvSpPr>
            <p:cNvPr id="50197" name="Text Box 16"/>
            <p:cNvSpPr txBox="1">
              <a:spLocks noChangeArrowheads="1"/>
            </p:cNvSpPr>
            <p:nvPr/>
          </p:nvSpPr>
          <p:spPr bwMode="auto">
            <a:xfrm>
              <a:off x="5232" y="2976"/>
              <a:ext cx="31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G3</a:t>
              </a:r>
            </a:p>
          </p:txBody>
        </p:sp>
        <p:sp>
          <p:nvSpPr>
            <p:cNvPr id="50198" name="Line 23"/>
            <p:cNvSpPr>
              <a:spLocks noChangeShapeType="1"/>
            </p:cNvSpPr>
            <p:nvPr/>
          </p:nvSpPr>
          <p:spPr bwMode="auto">
            <a:xfrm>
              <a:off x="2208" y="2544"/>
              <a:ext cx="86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9" name="Line 24"/>
            <p:cNvSpPr>
              <a:spLocks noChangeShapeType="1"/>
            </p:cNvSpPr>
            <p:nvPr/>
          </p:nvSpPr>
          <p:spPr bwMode="auto">
            <a:xfrm>
              <a:off x="3072" y="2544"/>
              <a:ext cx="0" cy="52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0" name="Line 25"/>
            <p:cNvSpPr>
              <a:spLocks noChangeShapeType="1"/>
            </p:cNvSpPr>
            <p:nvPr/>
          </p:nvSpPr>
          <p:spPr bwMode="auto">
            <a:xfrm>
              <a:off x="3072" y="3072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3505202" y="2800350"/>
            <a:ext cx="5292725" cy="457200"/>
            <a:chOff x="2208" y="2352"/>
            <a:chExt cx="3334" cy="384"/>
          </a:xfrm>
        </p:grpSpPr>
        <p:sp>
          <p:nvSpPr>
            <p:cNvPr id="50191" name="Rectangle 10"/>
            <p:cNvSpPr>
              <a:spLocks noChangeArrowheads="1"/>
            </p:cNvSpPr>
            <p:nvPr/>
          </p:nvSpPr>
          <p:spPr bwMode="auto">
            <a:xfrm>
              <a:off x="3696" y="2352"/>
              <a:ext cx="1536" cy="384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 err="1"/>
                <a:t>movl</a:t>
              </a:r>
              <a:r>
                <a:rPr lang="en-US" sz="1600" dirty="0"/>
                <a:t> $0xb, %</a:t>
              </a:r>
              <a:r>
                <a:rPr lang="en-US" sz="1600" dirty="0" err="1"/>
                <a:t>eax</a:t>
              </a:r>
              <a:endParaRPr lang="en-US" sz="1600" dirty="0"/>
            </a:p>
            <a:p>
              <a:pPr algn="ctr"/>
              <a:r>
                <a:rPr lang="en-US" sz="1600" dirty="0"/>
                <a:t>ret</a:t>
              </a:r>
            </a:p>
          </p:txBody>
        </p:sp>
        <p:sp>
          <p:nvSpPr>
            <p:cNvPr id="50192" name="Text Box 17"/>
            <p:cNvSpPr txBox="1">
              <a:spLocks noChangeArrowheads="1"/>
            </p:cNvSpPr>
            <p:nvPr/>
          </p:nvSpPr>
          <p:spPr bwMode="auto">
            <a:xfrm>
              <a:off x="5232" y="2361"/>
              <a:ext cx="31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G4</a:t>
              </a:r>
            </a:p>
          </p:txBody>
        </p:sp>
        <p:sp>
          <p:nvSpPr>
            <p:cNvPr id="50193" name="Line 27"/>
            <p:cNvSpPr>
              <a:spLocks noChangeShapeType="1"/>
            </p:cNvSpPr>
            <p:nvPr/>
          </p:nvSpPr>
          <p:spPr bwMode="auto">
            <a:xfrm>
              <a:off x="2208" y="2736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4" name="Line 28"/>
            <p:cNvSpPr>
              <a:spLocks noChangeShapeType="1"/>
            </p:cNvSpPr>
            <p:nvPr/>
          </p:nvSpPr>
          <p:spPr bwMode="auto">
            <a:xfrm flipV="1">
              <a:off x="3264" y="2448"/>
              <a:ext cx="0" cy="28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5" name="Line 29"/>
            <p:cNvSpPr>
              <a:spLocks noChangeShapeType="1"/>
            </p:cNvSpPr>
            <p:nvPr/>
          </p:nvSpPr>
          <p:spPr bwMode="auto">
            <a:xfrm>
              <a:off x="3264" y="2448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64" name="Line 32"/>
          <p:cNvSpPr>
            <a:spLocks noChangeShapeType="1"/>
          </p:cNvSpPr>
          <p:nvPr/>
        </p:nvSpPr>
        <p:spPr bwMode="auto">
          <a:xfrm>
            <a:off x="3505200" y="3429000"/>
            <a:ext cx="914400" cy="0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5" name="Line 33"/>
          <p:cNvSpPr>
            <a:spLocks noChangeShapeType="1"/>
          </p:cNvSpPr>
          <p:nvPr/>
        </p:nvSpPr>
        <p:spPr bwMode="auto">
          <a:xfrm>
            <a:off x="3505200" y="3600450"/>
            <a:ext cx="914400" cy="0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6" name="Line 34"/>
          <p:cNvSpPr>
            <a:spLocks noChangeShapeType="1"/>
          </p:cNvSpPr>
          <p:nvPr/>
        </p:nvSpPr>
        <p:spPr bwMode="auto">
          <a:xfrm>
            <a:off x="3505200" y="3771900"/>
            <a:ext cx="914400" cy="0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4828256"/>
            <a:ext cx="2133600" cy="273844"/>
          </a:xfrm>
        </p:spPr>
        <p:txBody>
          <a:bodyPr/>
          <a:lstStyle/>
          <a:p>
            <a:fld id="{F3E6A548-B2ED-8C42-9E64-DB4B1D814103}" type="slidenum">
              <a:rPr lang="en-US" smtClean="0"/>
              <a:t>49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2779" y="4051267"/>
            <a:ext cx="46346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Ret instruction has 2 steps: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Pops the contents pointed to by ESP into EIP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Increment ESP by 4 (32bit machine)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5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64" grpId="0" animBg="1"/>
      <p:bldP spid="69665" grpId="0" animBg="1"/>
      <p:bldP spid="6966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Construct the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50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5000" y="3496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05000" y="42964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905000" y="3210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G1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05000" y="2353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G2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5000" y="2067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G3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5000" y="1781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G4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5000" y="1496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05000" y="321055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905000" y="178180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14525" y="3776101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953125" y="1308741"/>
            <a:ext cx="2438400" cy="285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937252" y="4193626"/>
            <a:ext cx="1788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Program Binary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953125" y="3537591"/>
            <a:ext cx="2438400" cy="342900"/>
          </a:xfrm>
          <a:prstGeom prst="rect">
            <a:avLst/>
          </a:prstGeom>
          <a:solidFill>
            <a:srgbClr val="F2DCD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err="1"/>
              <a:t>movl</a:t>
            </a:r>
            <a:r>
              <a:rPr lang="en-US" sz="1400" dirty="0"/>
              <a:t> %</a:t>
            </a:r>
            <a:r>
              <a:rPr lang="en-US" sz="1400" dirty="0" err="1"/>
              <a:t>esi</a:t>
            </a:r>
            <a:r>
              <a:rPr lang="en-US" sz="1400" dirty="0"/>
              <a:t>, 0x8(%</a:t>
            </a:r>
            <a:r>
              <a:rPr lang="en-US" sz="1400" dirty="0" err="1"/>
              <a:t>esi</a:t>
            </a:r>
            <a:r>
              <a:rPr lang="en-US" sz="1400" dirty="0"/>
              <a:t>)</a:t>
            </a:r>
          </a:p>
          <a:p>
            <a:pPr algn="ctr"/>
            <a:r>
              <a:rPr lang="en-US" sz="1400" dirty="0"/>
              <a:t>ret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3581400" y="2827393"/>
            <a:ext cx="106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4657725" y="2827393"/>
            <a:ext cx="0" cy="88164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>
            <a:off x="4657725" y="3709041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8391527" y="3564976"/>
            <a:ext cx="492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G1</a:t>
            </a: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914525" y="4594622"/>
            <a:ext cx="17112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Program Stack</a:t>
            </a:r>
            <a:endParaRPr lang="en-US" sz="1800" dirty="0"/>
          </a:p>
        </p:txBody>
      </p:sp>
      <p:cxnSp>
        <p:nvCxnSpPr>
          <p:cNvPr id="22" name="Straight Arrow Connector 21"/>
          <p:cNvCxnSpPr>
            <a:endCxn id="9" idx="1"/>
          </p:cNvCxnSpPr>
          <p:nvPr/>
        </p:nvCxnSpPr>
        <p:spPr>
          <a:xfrm>
            <a:off x="1424039" y="2781929"/>
            <a:ext cx="4809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88891" y="2558782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3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Construct the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51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5000" y="3496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05000" y="42964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905000" y="3210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G1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05000" y="2353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G2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5000" y="2067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G3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5000" y="1781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G4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5000" y="1496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05000" y="321055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905000" y="178180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14525" y="3776101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953125" y="1308741"/>
            <a:ext cx="2438400" cy="285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937252" y="4193626"/>
            <a:ext cx="1788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Program Binary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953125" y="3537591"/>
            <a:ext cx="2438400" cy="342900"/>
          </a:xfrm>
          <a:prstGeom prst="rect">
            <a:avLst/>
          </a:prstGeom>
          <a:solidFill>
            <a:srgbClr val="F2DCD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err="1"/>
              <a:t>movl</a:t>
            </a:r>
            <a:r>
              <a:rPr lang="en-US" sz="1400" dirty="0"/>
              <a:t> %</a:t>
            </a:r>
            <a:r>
              <a:rPr lang="en-US" sz="1400" dirty="0" err="1"/>
              <a:t>esi</a:t>
            </a:r>
            <a:r>
              <a:rPr lang="en-US" sz="1400" dirty="0"/>
              <a:t>, 0x8(%</a:t>
            </a:r>
            <a:r>
              <a:rPr lang="en-US" sz="1400" dirty="0" err="1"/>
              <a:t>esi</a:t>
            </a:r>
            <a:r>
              <a:rPr lang="en-US" sz="1400" dirty="0"/>
              <a:t>)</a:t>
            </a:r>
          </a:p>
          <a:p>
            <a:pPr algn="ctr"/>
            <a:r>
              <a:rPr lang="en-US" sz="1400" dirty="0"/>
              <a:t>ret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3581400" y="2827393"/>
            <a:ext cx="106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4657725" y="2827393"/>
            <a:ext cx="0" cy="88164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>
            <a:off x="4657725" y="3709041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8391527" y="3564976"/>
            <a:ext cx="492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G1</a:t>
            </a:r>
          </a:p>
        </p:txBody>
      </p:sp>
      <p:grpSp>
        <p:nvGrpSpPr>
          <p:cNvPr id="32" name="Group 22"/>
          <p:cNvGrpSpPr>
            <a:grpSpLocks/>
          </p:cNvGrpSpPr>
          <p:nvPr/>
        </p:nvGrpSpPr>
        <p:grpSpPr bwMode="auto">
          <a:xfrm>
            <a:off x="3590927" y="1799930"/>
            <a:ext cx="5224463" cy="685800"/>
            <a:chOff x="2208" y="1824"/>
            <a:chExt cx="3291" cy="576"/>
          </a:xfrm>
        </p:grpSpPr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3696" y="1824"/>
              <a:ext cx="1536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err="1"/>
                <a:t>movb</a:t>
              </a:r>
              <a:r>
                <a:rPr lang="en-US" sz="1400" dirty="0"/>
                <a:t> $0x0, 0x7(%</a:t>
              </a:r>
              <a:r>
                <a:rPr lang="en-US" sz="1400" dirty="0" err="1"/>
                <a:t>esi</a:t>
              </a:r>
              <a:r>
                <a:rPr lang="en-US" sz="1400" dirty="0"/>
                <a:t>)</a:t>
              </a:r>
            </a:p>
            <a:p>
              <a:pPr algn="ctr"/>
              <a:r>
                <a:rPr lang="en-US" sz="1400" dirty="0"/>
                <a:t>ret</a:t>
              </a:r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5232" y="1881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/>
                <a:t>G2</a:t>
              </a: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>
              <a:off x="2208" y="2400"/>
              <a:ext cx="52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V="1">
              <a:off x="2736" y="1968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2736" y="1968"/>
              <a:ext cx="96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914525" y="4594622"/>
            <a:ext cx="17112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Program Stack</a:t>
            </a:r>
            <a:endParaRPr lang="en-US" sz="1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414512" y="2495150"/>
            <a:ext cx="4809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79364" y="2272003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4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Construct the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52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5000" y="3496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05000" y="42964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905000" y="3210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G1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05000" y="2353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G2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5000" y="2067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G3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5000" y="1781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G4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5000" y="1496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05000" y="321055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905000" y="178180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14525" y="3776101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953125" y="1308741"/>
            <a:ext cx="2438400" cy="285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937252" y="4193626"/>
            <a:ext cx="1788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Program Binary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953125" y="3537591"/>
            <a:ext cx="2438400" cy="342900"/>
          </a:xfrm>
          <a:prstGeom prst="rect">
            <a:avLst/>
          </a:prstGeom>
          <a:solidFill>
            <a:srgbClr val="F2DCD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err="1"/>
              <a:t>movl</a:t>
            </a:r>
            <a:r>
              <a:rPr lang="en-US" sz="1400" dirty="0"/>
              <a:t> %</a:t>
            </a:r>
            <a:r>
              <a:rPr lang="en-US" sz="1400" dirty="0" err="1"/>
              <a:t>esi</a:t>
            </a:r>
            <a:r>
              <a:rPr lang="en-US" sz="1400" dirty="0"/>
              <a:t>, 0x8(%</a:t>
            </a:r>
            <a:r>
              <a:rPr lang="en-US" sz="1400" dirty="0" err="1"/>
              <a:t>esi</a:t>
            </a:r>
            <a:r>
              <a:rPr lang="en-US" sz="1400" dirty="0"/>
              <a:t>)</a:t>
            </a:r>
          </a:p>
          <a:p>
            <a:pPr algn="ctr"/>
            <a:r>
              <a:rPr lang="en-US" sz="1400" dirty="0"/>
              <a:t>ret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3581400" y="2827393"/>
            <a:ext cx="106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4657725" y="2827393"/>
            <a:ext cx="0" cy="88164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>
            <a:off x="4657725" y="3709041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8391527" y="3564976"/>
            <a:ext cx="492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G1</a:t>
            </a:r>
          </a:p>
        </p:txBody>
      </p:sp>
      <p:grpSp>
        <p:nvGrpSpPr>
          <p:cNvPr id="38" name="Group 26"/>
          <p:cNvGrpSpPr>
            <a:grpSpLocks/>
          </p:cNvGrpSpPr>
          <p:nvPr/>
        </p:nvGrpSpPr>
        <p:grpSpPr bwMode="auto">
          <a:xfrm>
            <a:off x="3590927" y="2239007"/>
            <a:ext cx="5259388" cy="852488"/>
            <a:chOff x="2208" y="2544"/>
            <a:chExt cx="3313" cy="716"/>
          </a:xfrm>
        </p:grpSpPr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3696" y="2928"/>
              <a:ext cx="1536" cy="288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 dirty="0" err="1"/>
                <a:t>movb</a:t>
              </a:r>
              <a:r>
                <a:rPr lang="en-US" sz="1200" dirty="0"/>
                <a:t> $0x0, 0xc(%</a:t>
              </a:r>
              <a:r>
                <a:rPr lang="en-US" sz="1200" dirty="0" err="1"/>
                <a:t>esi</a:t>
              </a:r>
              <a:r>
                <a:rPr lang="en-US" sz="1200" dirty="0"/>
                <a:t>)</a:t>
              </a:r>
            </a:p>
            <a:p>
              <a:pPr algn="ctr"/>
              <a:r>
                <a:rPr lang="en-US" sz="1200" dirty="0"/>
                <a:t>ret</a:t>
              </a:r>
            </a:p>
          </p:txBody>
        </p:sp>
        <p:sp>
          <p:nvSpPr>
            <p:cNvPr id="40" name="Text Box 16"/>
            <p:cNvSpPr txBox="1">
              <a:spLocks noChangeArrowheads="1"/>
            </p:cNvSpPr>
            <p:nvPr/>
          </p:nvSpPr>
          <p:spPr bwMode="auto">
            <a:xfrm>
              <a:off x="5232" y="2976"/>
              <a:ext cx="2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/>
                <a:t>G3</a:t>
              </a:r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2208" y="2544"/>
              <a:ext cx="86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>
              <a:off x="3072" y="2544"/>
              <a:ext cx="0" cy="52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>
              <a:off x="3072" y="3072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914525" y="4594622"/>
            <a:ext cx="17112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Program Stack</a:t>
            </a:r>
            <a:endParaRPr lang="en-US" sz="1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436910" y="2239007"/>
            <a:ext cx="4809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01762" y="2015860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  <p:grpSp>
        <p:nvGrpSpPr>
          <p:cNvPr id="35" name="Group 22"/>
          <p:cNvGrpSpPr>
            <a:grpSpLocks/>
          </p:cNvGrpSpPr>
          <p:nvPr/>
        </p:nvGrpSpPr>
        <p:grpSpPr bwMode="auto">
          <a:xfrm>
            <a:off x="3590927" y="1799930"/>
            <a:ext cx="5224463" cy="685800"/>
            <a:chOff x="2208" y="1824"/>
            <a:chExt cx="3291" cy="576"/>
          </a:xfrm>
        </p:grpSpPr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3696" y="1824"/>
              <a:ext cx="1536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err="1"/>
                <a:t>movb</a:t>
              </a:r>
              <a:r>
                <a:rPr lang="en-US" sz="1400" dirty="0"/>
                <a:t> $0x0, 0x7(%</a:t>
              </a:r>
              <a:r>
                <a:rPr lang="en-US" sz="1400" dirty="0" err="1"/>
                <a:t>esi</a:t>
              </a:r>
              <a:r>
                <a:rPr lang="en-US" sz="1400" dirty="0"/>
                <a:t>)</a:t>
              </a:r>
            </a:p>
            <a:p>
              <a:pPr algn="ctr"/>
              <a:r>
                <a:rPr lang="en-US" sz="1400" dirty="0"/>
                <a:t>ret</a:t>
              </a:r>
            </a:p>
          </p:txBody>
        </p:sp>
        <p:sp>
          <p:nvSpPr>
            <p:cNvPr id="37" name="Text Box 15"/>
            <p:cNvSpPr txBox="1">
              <a:spLocks noChangeArrowheads="1"/>
            </p:cNvSpPr>
            <p:nvPr/>
          </p:nvSpPr>
          <p:spPr bwMode="auto">
            <a:xfrm>
              <a:off x="5232" y="1881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/>
                <a:t>G2</a:t>
              </a:r>
            </a:p>
          </p:txBody>
        </p:sp>
        <p:sp>
          <p:nvSpPr>
            <p:cNvPr id="44" name="Line 19"/>
            <p:cNvSpPr>
              <a:spLocks noChangeShapeType="1"/>
            </p:cNvSpPr>
            <p:nvPr/>
          </p:nvSpPr>
          <p:spPr bwMode="auto">
            <a:xfrm>
              <a:off x="2208" y="2400"/>
              <a:ext cx="52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45" name="Line 20"/>
            <p:cNvSpPr>
              <a:spLocks noChangeShapeType="1"/>
            </p:cNvSpPr>
            <p:nvPr/>
          </p:nvSpPr>
          <p:spPr bwMode="auto">
            <a:xfrm flipV="1">
              <a:off x="2736" y="1968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46" name="Line 21"/>
            <p:cNvSpPr>
              <a:spLocks noChangeShapeType="1"/>
            </p:cNvSpPr>
            <p:nvPr/>
          </p:nvSpPr>
          <p:spPr bwMode="auto">
            <a:xfrm>
              <a:off x="2736" y="1968"/>
              <a:ext cx="96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68664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Construct the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53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5000" y="3496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05000" y="42964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905000" y="3210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G1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05000" y="2353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G2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5000" y="2067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G3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5000" y="1781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G4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5000" y="1496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05000" y="321055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905000" y="178180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14525" y="3776101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953125" y="1308741"/>
            <a:ext cx="2438400" cy="285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937252" y="4193626"/>
            <a:ext cx="1788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Program Binary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953125" y="3537591"/>
            <a:ext cx="2438400" cy="342900"/>
          </a:xfrm>
          <a:prstGeom prst="rect">
            <a:avLst/>
          </a:prstGeom>
          <a:solidFill>
            <a:srgbClr val="F2DCD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err="1"/>
              <a:t>movl</a:t>
            </a:r>
            <a:r>
              <a:rPr lang="en-US" sz="1400" dirty="0"/>
              <a:t> %</a:t>
            </a:r>
            <a:r>
              <a:rPr lang="en-US" sz="1400" dirty="0" err="1"/>
              <a:t>esi</a:t>
            </a:r>
            <a:r>
              <a:rPr lang="en-US" sz="1400" dirty="0"/>
              <a:t>, 0x8(%</a:t>
            </a:r>
            <a:r>
              <a:rPr lang="en-US" sz="1400" dirty="0" err="1"/>
              <a:t>esi</a:t>
            </a:r>
            <a:r>
              <a:rPr lang="en-US" sz="1400" dirty="0"/>
              <a:t>)</a:t>
            </a:r>
          </a:p>
          <a:p>
            <a:pPr algn="ctr"/>
            <a:r>
              <a:rPr lang="en-US" sz="1400" dirty="0"/>
              <a:t>ret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3581400" y="2827393"/>
            <a:ext cx="106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4657725" y="2827393"/>
            <a:ext cx="0" cy="88164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>
            <a:off x="4657725" y="3709041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8391527" y="3564976"/>
            <a:ext cx="492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G1</a:t>
            </a:r>
          </a:p>
        </p:txBody>
      </p:sp>
      <p:grpSp>
        <p:nvGrpSpPr>
          <p:cNvPr id="32" name="Group 22"/>
          <p:cNvGrpSpPr>
            <a:grpSpLocks/>
          </p:cNvGrpSpPr>
          <p:nvPr/>
        </p:nvGrpSpPr>
        <p:grpSpPr bwMode="auto">
          <a:xfrm>
            <a:off x="3590927" y="1799930"/>
            <a:ext cx="5224463" cy="685800"/>
            <a:chOff x="2208" y="1824"/>
            <a:chExt cx="3291" cy="576"/>
          </a:xfrm>
        </p:grpSpPr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3696" y="1824"/>
              <a:ext cx="1536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err="1"/>
                <a:t>movb</a:t>
              </a:r>
              <a:r>
                <a:rPr lang="en-US" sz="1400" dirty="0"/>
                <a:t> $0x0, 0x7(%</a:t>
              </a:r>
              <a:r>
                <a:rPr lang="en-US" sz="1400" dirty="0" err="1"/>
                <a:t>esi</a:t>
              </a:r>
              <a:r>
                <a:rPr lang="en-US" sz="1400" dirty="0"/>
                <a:t>)</a:t>
              </a:r>
            </a:p>
            <a:p>
              <a:pPr algn="ctr"/>
              <a:r>
                <a:rPr lang="en-US" sz="1400" dirty="0"/>
                <a:t>ret</a:t>
              </a:r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5232" y="1881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/>
                <a:t>G2</a:t>
              </a: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>
              <a:off x="2208" y="2400"/>
              <a:ext cx="52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V="1">
              <a:off x="2736" y="1968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2736" y="1968"/>
              <a:ext cx="96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38" name="Group 26"/>
          <p:cNvGrpSpPr>
            <a:grpSpLocks/>
          </p:cNvGrpSpPr>
          <p:nvPr/>
        </p:nvGrpSpPr>
        <p:grpSpPr bwMode="auto">
          <a:xfrm>
            <a:off x="3590927" y="2239007"/>
            <a:ext cx="5259388" cy="852488"/>
            <a:chOff x="2208" y="2544"/>
            <a:chExt cx="3313" cy="716"/>
          </a:xfrm>
        </p:grpSpPr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3696" y="2928"/>
              <a:ext cx="1536" cy="288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 dirty="0" err="1"/>
                <a:t>movb</a:t>
              </a:r>
              <a:r>
                <a:rPr lang="en-US" sz="1200" dirty="0"/>
                <a:t> $0x0, 0xc(%</a:t>
              </a:r>
              <a:r>
                <a:rPr lang="en-US" sz="1200" dirty="0" err="1"/>
                <a:t>esi</a:t>
              </a:r>
              <a:r>
                <a:rPr lang="en-US" sz="1200" dirty="0"/>
                <a:t>)</a:t>
              </a:r>
            </a:p>
            <a:p>
              <a:pPr algn="ctr"/>
              <a:r>
                <a:rPr lang="en-US" sz="1200" dirty="0"/>
                <a:t>ret</a:t>
              </a:r>
            </a:p>
          </p:txBody>
        </p:sp>
        <p:sp>
          <p:nvSpPr>
            <p:cNvPr id="40" name="Text Box 16"/>
            <p:cNvSpPr txBox="1">
              <a:spLocks noChangeArrowheads="1"/>
            </p:cNvSpPr>
            <p:nvPr/>
          </p:nvSpPr>
          <p:spPr bwMode="auto">
            <a:xfrm>
              <a:off x="5232" y="2976"/>
              <a:ext cx="2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/>
                <a:t>G3</a:t>
              </a:r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2208" y="2544"/>
              <a:ext cx="86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>
              <a:off x="3072" y="2544"/>
              <a:ext cx="0" cy="52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>
              <a:off x="3072" y="3072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44" name="Group 30"/>
          <p:cNvGrpSpPr>
            <a:grpSpLocks/>
          </p:cNvGrpSpPr>
          <p:nvPr/>
        </p:nvGrpSpPr>
        <p:grpSpPr bwMode="auto">
          <a:xfrm>
            <a:off x="3590927" y="1868335"/>
            <a:ext cx="5224463" cy="754856"/>
            <a:chOff x="2208" y="2006"/>
            <a:chExt cx="3291" cy="634"/>
          </a:xfrm>
        </p:grpSpPr>
        <p:sp>
          <p:nvSpPr>
            <p:cNvPr id="45" name="Rectangle 10"/>
            <p:cNvSpPr>
              <a:spLocks noChangeArrowheads="1"/>
            </p:cNvSpPr>
            <p:nvPr/>
          </p:nvSpPr>
          <p:spPr bwMode="auto">
            <a:xfrm>
              <a:off x="3696" y="2352"/>
              <a:ext cx="1536" cy="288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 dirty="0" err="1"/>
                <a:t>movl</a:t>
              </a:r>
              <a:r>
                <a:rPr lang="en-US" sz="1200" dirty="0"/>
                <a:t> $0xb, %</a:t>
              </a:r>
              <a:r>
                <a:rPr lang="en-US" sz="1200" dirty="0" err="1"/>
                <a:t>eax</a:t>
              </a:r>
              <a:endParaRPr lang="en-US" sz="1200" dirty="0"/>
            </a:p>
            <a:p>
              <a:pPr algn="ctr"/>
              <a:r>
                <a:rPr lang="en-US" sz="1200" dirty="0"/>
                <a:t>ret</a:t>
              </a:r>
            </a:p>
          </p:txBody>
        </p:sp>
        <p:sp>
          <p:nvSpPr>
            <p:cNvPr id="46" name="Text Box 17"/>
            <p:cNvSpPr txBox="1">
              <a:spLocks noChangeArrowheads="1"/>
            </p:cNvSpPr>
            <p:nvPr/>
          </p:nvSpPr>
          <p:spPr bwMode="auto">
            <a:xfrm>
              <a:off x="5232" y="2361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 dirty="0"/>
                <a:t>G4</a:t>
              </a:r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 flipV="1">
              <a:off x="2208" y="2006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8"/>
            <p:cNvSpPr>
              <a:spLocks noChangeShapeType="1"/>
            </p:cNvSpPr>
            <p:nvPr/>
          </p:nvSpPr>
          <p:spPr bwMode="auto">
            <a:xfrm>
              <a:off x="3264" y="2006"/>
              <a:ext cx="0" cy="44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9"/>
            <p:cNvSpPr>
              <a:spLocks noChangeShapeType="1"/>
            </p:cNvSpPr>
            <p:nvPr/>
          </p:nvSpPr>
          <p:spPr bwMode="auto">
            <a:xfrm>
              <a:off x="3264" y="2448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914525" y="4594622"/>
            <a:ext cx="17112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Program Stack</a:t>
            </a:r>
            <a:endParaRPr lang="en-US" sz="1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433564" y="1971380"/>
            <a:ext cx="4809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98416" y="1748233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4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Gadgets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Static analysis of </a:t>
            </a:r>
            <a:r>
              <a:rPr lang="en-US" sz="2400" dirty="0" err="1" smtClean="0"/>
              <a:t>libc</a:t>
            </a:r>
            <a:endParaRPr lang="en-US" sz="2400" dirty="0" smtClean="0"/>
          </a:p>
          <a:p>
            <a:r>
              <a:rPr lang="en-US" sz="2400" dirty="0" smtClean="0"/>
              <a:t>To find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 smtClean="0"/>
              <a:t>A set of instructions that end in a ret (0xc3)</a:t>
            </a:r>
          </a:p>
          <a:p>
            <a:pPr marL="857250" lvl="2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660066"/>
                </a:solidFill>
              </a:rPr>
              <a:t>The instructions can be intended (put in by the compiler) or unintended</a:t>
            </a:r>
            <a:endParaRPr lang="en-US" sz="1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000" dirty="0" smtClean="0"/>
              <a:t>Besides ret, none of the instructions transfer control out of the gadget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6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Gadgets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Scan </a:t>
            </a:r>
            <a:r>
              <a:rPr lang="en-US" sz="2400" dirty="0" err="1" smtClean="0"/>
              <a:t>libc</a:t>
            </a:r>
            <a:r>
              <a:rPr lang="en-US" sz="2400" dirty="0" smtClean="0"/>
              <a:t> from the beginning toward the end</a:t>
            </a:r>
          </a:p>
          <a:p>
            <a:r>
              <a:rPr lang="en-US" sz="2400" dirty="0" smtClean="0"/>
              <a:t>If 0xc3 is found</a:t>
            </a:r>
          </a:p>
          <a:p>
            <a:pPr lvl="1"/>
            <a:r>
              <a:rPr lang="en-US" sz="2000" dirty="0" smtClean="0"/>
              <a:t>Start scanning backward</a:t>
            </a:r>
          </a:p>
          <a:p>
            <a:pPr lvl="1"/>
            <a:r>
              <a:rPr lang="en-US" sz="2000" dirty="0" smtClean="0"/>
              <a:t>With each byte, ask the question if the subsequence forms a valid instruction</a:t>
            </a:r>
          </a:p>
          <a:p>
            <a:pPr lvl="1"/>
            <a:r>
              <a:rPr lang="en-US" sz="2000" dirty="0" smtClean="0"/>
              <a:t>If yes, add as child</a:t>
            </a:r>
          </a:p>
          <a:p>
            <a:pPr lvl="1"/>
            <a:r>
              <a:rPr lang="en-US" sz="2000" dirty="0" smtClean="0"/>
              <a:t>If no, go backwards until we reach the maximum instruction length (20 bytes)</a:t>
            </a:r>
          </a:p>
          <a:p>
            <a:pPr lvl="1"/>
            <a:r>
              <a:rPr lang="en-US" sz="2000" dirty="0" smtClean="0"/>
              <a:t>Repeat this till (a predefined) length W, which is the max instructions in the gadget</a:t>
            </a:r>
          </a:p>
          <a:p>
            <a:pPr lvl="1"/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60242"/>
              </p:ext>
            </p:extLst>
          </p:nvPr>
        </p:nvGraphicFramePr>
        <p:xfrm>
          <a:off x="169340" y="1422821"/>
          <a:ext cx="8517460" cy="5029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25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58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a5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67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ab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ba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4a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3c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ff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ee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ab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09</a:t>
                      </a:r>
                      <a:endParaRPr lang="en-US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69340" y="1200150"/>
            <a:ext cx="16651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86781" y="1422821"/>
            <a:ext cx="451555" cy="278130"/>
          </a:xfrm>
          <a:prstGeom prst="ellipse">
            <a:avLst/>
          </a:prstGeom>
          <a:noFill/>
          <a:ln w="28575" cmpd="sng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938889" y="1322918"/>
            <a:ext cx="917222" cy="10583"/>
          </a:xfrm>
          <a:prstGeom prst="straightConnector1">
            <a:avLst/>
          </a:prstGeom>
          <a:ln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9996" y="2180785"/>
            <a:ext cx="2319077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Found 15,121 nodes in</a:t>
            </a:r>
            <a:br>
              <a:rPr lang="en-US" dirty="0" smtClean="0"/>
            </a:br>
            <a:r>
              <a:rPr lang="en-US" dirty="0" smtClean="0"/>
              <a:t>~1MB of </a:t>
            </a:r>
            <a:r>
              <a:rPr lang="en-US" dirty="0" err="1" smtClean="0"/>
              <a:t>libc</a:t>
            </a:r>
            <a:r>
              <a:rPr lang="en-US" dirty="0" smtClean="0"/>
              <a:t> binary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Intended </a:t>
            </a:r>
            <a:r>
              <a:rPr lang="en-US" dirty="0" err="1" smtClean="0"/>
              <a:t>vs</a:t>
            </a:r>
            <a:r>
              <a:rPr lang="en-US" dirty="0" smtClean="0"/>
              <a:t> Unintended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660066"/>
                </a:solidFill>
              </a:rPr>
              <a:t>Intended : </a:t>
            </a:r>
            <a:r>
              <a:rPr lang="en-US" sz="2000" dirty="0" smtClean="0"/>
              <a:t>machine code intentionally put in by the compiler</a:t>
            </a:r>
          </a:p>
          <a:p>
            <a:r>
              <a:rPr lang="en-US" sz="2000" b="1" dirty="0" smtClean="0">
                <a:solidFill>
                  <a:srgbClr val="660066"/>
                </a:solidFill>
              </a:rPr>
              <a:t>Unintended : </a:t>
            </a:r>
            <a:r>
              <a:rPr lang="en-US" sz="2000" dirty="0" smtClean="0"/>
              <a:t>interpret machine code differently in order to build new instructions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68904" y="2030898"/>
            <a:ext cx="3141079" cy="369332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F7  C7  07 00 00 00 0F 95 45  C3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21247" y="2037118"/>
            <a:ext cx="1647657" cy="369332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Machine Code :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7469" y="2374161"/>
            <a:ext cx="2945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660066"/>
                </a:solidFill>
                <a:latin typeface="Apple Chancery"/>
                <a:cs typeface="Apple Chancery"/>
              </a:rPr>
              <a:t>What the compiler intended..</a:t>
            </a:r>
            <a:endParaRPr lang="en-US" b="1" dirty="0">
              <a:solidFill>
                <a:srgbClr val="660066"/>
              </a:solidFill>
              <a:latin typeface="Apple Chancery"/>
              <a:cs typeface="Apple Chancer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5773" y="3301261"/>
            <a:ext cx="251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660066"/>
                </a:solidFill>
                <a:latin typeface="Apple Chancery"/>
                <a:cs typeface="Apple Chancery"/>
              </a:rPr>
              <a:t>What was </a:t>
            </a:r>
            <a:r>
              <a:rPr lang="en-US" b="1" dirty="0">
                <a:solidFill>
                  <a:srgbClr val="660066"/>
                </a:solidFill>
                <a:latin typeface="Apple Chancery"/>
                <a:cs typeface="Apple Chancery"/>
              </a:rPr>
              <a:t> </a:t>
            </a:r>
            <a:r>
              <a:rPr lang="en-US" b="1" dirty="0" smtClean="0">
                <a:solidFill>
                  <a:srgbClr val="660066"/>
                </a:solidFill>
                <a:latin typeface="Apple Chancery"/>
                <a:cs typeface="Apple Chancery"/>
              </a:rPr>
              <a:t> not </a:t>
            </a:r>
            <a:r>
              <a:rPr lang="en-US" b="1" dirty="0" err="1" smtClean="0">
                <a:solidFill>
                  <a:srgbClr val="660066"/>
                </a:solidFill>
                <a:latin typeface="Apple Chancery"/>
                <a:cs typeface="Apple Chancery"/>
              </a:rPr>
              <a:t>ntended</a:t>
            </a:r>
            <a:endParaRPr lang="en-US" b="1" dirty="0">
              <a:solidFill>
                <a:srgbClr val="660066"/>
              </a:solidFill>
              <a:latin typeface="Apple Chancery"/>
              <a:cs typeface="Apple Chancer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2" y="4534575"/>
            <a:ext cx="767995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Highly likely to find many diverse instructions of this form in x86; not so likely to</a:t>
            </a:r>
            <a:br>
              <a:rPr lang="en-US" dirty="0" smtClean="0"/>
            </a:br>
            <a:r>
              <a:rPr lang="en-US" dirty="0" smtClean="0"/>
              <a:t>have such diverse instructions in RISC processors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71" y="2701186"/>
            <a:ext cx="5778500" cy="600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51" y="3616883"/>
            <a:ext cx="59309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9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Gadgets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Example Gadgets</a:t>
            </a:r>
          </a:p>
          <a:p>
            <a:pPr lvl="1"/>
            <a:r>
              <a:rPr lang="en-US" sz="2000" dirty="0" smtClean="0"/>
              <a:t>Loading a constant into a register (</a:t>
            </a:r>
            <a:r>
              <a:rPr lang="en-US" sz="2000" dirty="0" err="1" smtClean="0"/>
              <a:t>edx</a:t>
            </a:r>
            <a:r>
              <a:rPr lang="en-US" sz="2000" dirty="0" smtClean="0"/>
              <a:t> </a:t>
            </a:r>
            <a:r>
              <a:rPr lang="en-US" sz="2000" dirty="0" smtClean="0">
                <a:sym typeface="Wingdings"/>
              </a:rPr>
              <a:t> </a:t>
            </a:r>
            <a:r>
              <a:rPr lang="en-US" sz="2000" dirty="0" err="1" smtClean="0">
                <a:sym typeface="Wingdings"/>
              </a:rPr>
              <a:t>deadbeef</a:t>
            </a:r>
            <a:r>
              <a:rPr lang="en-US" sz="2000" dirty="0" smtClean="0">
                <a:sym typeface="Wingdings"/>
              </a:rPr>
              <a:t>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08202" y="2182970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08202" y="237222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8202" y="2557079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08202" y="2746339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solidFill>
                  <a:srgbClr val="000000"/>
                </a:solidFill>
              </a:rPr>
              <a:t>deadbeef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8202" y="2931190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660066"/>
                </a:solidFill>
              </a:rPr>
              <a:t>GadgetAdd</a:t>
            </a:r>
            <a:endParaRPr lang="en-US" sz="1200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8202" y="312044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08202" y="3305299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08202" y="349455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72829" y="3679751"/>
            <a:ext cx="66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206747" y="2530624"/>
            <a:ext cx="1352737" cy="3744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pop %</a:t>
            </a:r>
            <a:r>
              <a:rPr lang="en-US" sz="1400" dirty="0" err="1" smtClean="0">
                <a:solidFill>
                  <a:schemeClr val="tx1"/>
                </a:solidFill>
              </a:rPr>
              <a:t>edx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5920" y="2878278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  <p:cxnSp>
        <p:nvCxnSpPr>
          <p:cNvPr id="17" name="Curved Connector 16"/>
          <p:cNvCxnSpPr>
            <a:stCxn id="9" idx="3"/>
          </p:cNvCxnSpPr>
          <p:nvPr/>
        </p:nvCxnSpPr>
        <p:spPr>
          <a:xfrm flipV="1">
            <a:off x="2254740" y="2632723"/>
            <a:ext cx="1023022" cy="391064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endCxn id="7" idx="3"/>
          </p:cNvCxnSpPr>
          <p:nvPr/>
        </p:nvCxnSpPr>
        <p:spPr>
          <a:xfrm rot="10800000">
            <a:off x="2254740" y="2649676"/>
            <a:ext cx="1023022" cy="198785"/>
          </a:xfrm>
          <a:prstGeom prst="curvedConnector3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95742" y="3221453"/>
            <a:ext cx="63174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A previous return will pop the gadget address</a:t>
            </a:r>
            <a:r>
              <a:rPr lang="en-US" dirty="0"/>
              <a:t> </a:t>
            </a:r>
            <a:r>
              <a:rPr lang="en-US" dirty="0" smtClean="0"/>
              <a:t>into %</a:t>
            </a:r>
            <a:r>
              <a:rPr lang="en-US" dirty="0" err="1" smtClean="0"/>
              <a:t>eip</a:t>
            </a: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%</a:t>
            </a:r>
            <a:r>
              <a:rPr lang="en-US" dirty="0" err="1" smtClean="0"/>
              <a:t>esp</a:t>
            </a:r>
            <a:r>
              <a:rPr lang="en-US" dirty="0" smtClean="0"/>
              <a:t> will also be incremented to point to </a:t>
            </a:r>
            <a:r>
              <a:rPr lang="en-US" dirty="0" err="1" smtClean="0"/>
              <a:t>deadbeef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(4 bytes on 32 bit platform)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The pop %</a:t>
            </a:r>
            <a:r>
              <a:rPr lang="en-US" dirty="0" err="1" smtClean="0"/>
              <a:t>edx</a:t>
            </a:r>
            <a:r>
              <a:rPr lang="en-US" dirty="0" smtClean="0"/>
              <a:t> will pop </a:t>
            </a:r>
            <a:r>
              <a:rPr lang="en-US" dirty="0" err="1" smtClean="0"/>
              <a:t>deadbeef</a:t>
            </a:r>
            <a:r>
              <a:rPr lang="en-US" dirty="0" smtClean="0"/>
              <a:t>  from the stack and increment %</a:t>
            </a:r>
            <a:r>
              <a:rPr lang="en-US" dirty="0" err="1" smtClean="0"/>
              <a:t>esp</a:t>
            </a:r>
            <a:r>
              <a:rPr lang="en-US" dirty="0" smtClean="0"/>
              <a:t> to point to the next 4 bytes on the 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78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Stitching Gadgets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8835"/>
            <a:ext cx="8229600" cy="8057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26414" y="1366457"/>
            <a:ext cx="1352737" cy="3744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pop %</a:t>
            </a:r>
            <a:r>
              <a:rPr lang="en-US" sz="1400" dirty="0" err="1" smtClean="0">
                <a:solidFill>
                  <a:schemeClr val="tx1"/>
                </a:solidFill>
              </a:rPr>
              <a:t>edx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26414" y="1056782"/>
            <a:ext cx="447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926414" y="2093291"/>
            <a:ext cx="2240145" cy="3744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 smtClean="0">
                <a:solidFill>
                  <a:schemeClr val="tx1"/>
                </a:solidFill>
              </a:rPr>
              <a:t>mov</a:t>
            </a:r>
            <a:r>
              <a:rPr lang="en-US" sz="1400" dirty="0" smtClean="0">
                <a:solidFill>
                  <a:schemeClr val="tx1"/>
                </a:solidFill>
              </a:rPr>
              <a:t> 64(%</a:t>
            </a:r>
            <a:r>
              <a:rPr lang="en-US" sz="1400" dirty="0" err="1" smtClean="0">
                <a:solidFill>
                  <a:schemeClr val="tx1"/>
                </a:solidFill>
              </a:rPr>
              <a:t>edx</a:t>
            </a:r>
            <a:r>
              <a:rPr lang="en-US" sz="1400" dirty="0" smtClean="0">
                <a:solidFill>
                  <a:schemeClr val="tx1"/>
                </a:solidFill>
              </a:rPr>
              <a:t>), %</a:t>
            </a:r>
            <a:r>
              <a:rPr lang="en-US" sz="1400" dirty="0" err="1" smtClean="0">
                <a:solidFill>
                  <a:schemeClr val="tx1"/>
                </a:solidFill>
              </a:rPr>
              <a:t>eax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26414" y="1736786"/>
            <a:ext cx="447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G2</a:t>
            </a:r>
            <a:endParaRPr 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386928" y="1284382"/>
            <a:ext cx="3539486" cy="2756158"/>
            <a:chOff x="386925" y="1712509"/>
            <a:chExt cx="3539486" cy="3674877"/>
          </a:xfrm>
        </p:grpSpPr>
        <p:sp>
          <p:nvSpPr>
            <p:cNvPr id="10" name="Rectangle 9"/>
            <p:cNvSpPr/>
            <p:nvPr/>
          </p:nvSpPr>
          <p:spPr>
            <a:xfrm>
              <a:off x="1372826" y="1712509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72826" y="1964855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372826" y="2211322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rgbClr val="660066"/>
                  </a:solidFill>
                </a:rPr>
                <a:t>G2</a:t>
              </a:r>
              <a:endParaRPr lang="en-US" sz="1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72826" y="2463668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rgbClr val="000000"/>
                  </a:solidFill>
                </a:rPr>
                <a:t>addr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72826" y="2710136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rgbClr val="660066"/>
                  </a:solidFill>
                </a:rPr>
                <a:t>G1</a:t>
              </a:r>
              <a:endParaRPr lang="en-US" sz="1600" dirty="0">
                <a:solidFill>
                  <a:srgbClr val="660066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2826" y="2962482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372826" y="3208949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72826" y="3461295"/>
              <a:ext cx="1046541" cy="9390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37453" y="4894943"/>
              <a:ext cx="66537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stack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06529" y="2652164"/>
              <a:ext cx="439544" cy="41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/>
                <a:t>esp</a:t>
              </a:r>
              <a:endParaRPr lang="en-US" sz="1400" dirty="0"/>
            </a:p>
          </p:txBody>
        </p:sp>
        <p:cxnSp>
          <p:nvCxnSpPr>
            <p:cNvPr id="21" name="Straight Arrow Connector 20"/>
            <p:cNvCxnSpPr>
              <a:stCxn id="14" idx="3"/>
            </p:cNvCxnSpPr>
            <p:nvPr/>
          </p:nvCxnSpPr>
          <p:spPr>
            <a:xfrm flipV="1">
              <a:off x="2419367" y="1821942"/>
              <a:ext cx="1507044" cy="10116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1365082" y="4400379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 smtClean="0">
                  <a:solidFill>
                    <a:srgbClr val="000000"/>
                  </a:solidFill>
                </a:rPr>
                <a:t>deadbeef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365082" y="4648019"/>
              <a:ext cx="1046541" cy="2469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Elbow Connector 24"/>
            <p:cNvCxnSpPr/>
            <p:nvPr/>
          </p:nvCxnSpPr>
          <p:spPr>
            <a:xfrm rot="5400000">
              <a:off x="200855" y="3924487"/>
              <a:ext cx="1239436" cy="12700"/>
            </a:xfrm>
            <a:prstGeom prst="bent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86925" y="3720223"/>
              <a:ext cx="5336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+64</a:t>
              </a:r>
              <a:endParaRPr lang="en-US" dirty="0"/>
            </a:p>
          </p:txBody>
        </p:sp>
        <p:cxnSp>
          <p:nvCxnSpPr>
            <p:cNvPr id="30" name="Straight Arrow Connector 29"/>
            <p:cNvCxnSpPr>
              <a:stCxn id="12" idx="3"/>
              <a:endCxn id="8" idx="1"/>
            </p:cNvCxnSpPr>
            <p:nvPr/>
          </p:nvCxnSpPr>
          <p:spPr>
            <a:xfrm>
              <a:off x="2419367" y="2334784"/>
              <a:ext cx="1507044" cy="70590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3926414" y="2836335"/>
            <a:ext cx="4264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Load arbitrary data into %</a:t>
            </a:r>
            <a:r>
              <a:rPr lang="en-US" dirty="0" err="1" smtClean="0"/>
              <a:t>eax</a:t>
            </a:r>
            <a:r>
              <a:rPr lang="en-US" dirty="0" smtClean="0"/>
              <a:t> register using</a:t>
            </a:r>
          </a:p>
          <a:p>
            <a:r>
              <a:rPr lang="en-US" dirty="0" smtClean="0"/>
              <a:t>Gadgets G1 and G2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885237" y="2360991"/>
            <a:ext cx="5229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addr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64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 Gadget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Store the contents of a register to a memory location in the stack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59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08202" y="1999472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08202" y="2188732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8202" y="2373581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rgbClr val="660066"/>
                </a:solidFill>
              </a:rPr>
              <a:t>GadgetAddr</a:t>
            </a:r>
            <a:r>
              <a:rPr lang="en-US" sz="1200" dirty="0">
                <a:solidFill>
                  <a:srgbClr val="660066"/>
                </a:solidFill>
              </a:rPr>
              <a:t> </a:t>
            </a:r>
            <a:r>
              <a:rPr lang="en-US" sz="1200" dirty="0" smtClean="0">
                <a:solidFill>
                  <a:srgbClr val="660066"/>
                </a:solidFill>
              </a:rPr>
              <a:t>2</a:t>
            </a:r>
            <a:endParaRPr lang="en-US" sz="1200" dirty="0">
              <a:solidFill>
                <a:srgbClr val="66006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8202" y="2562842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0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8202" y="2747693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rgbClr val="660066"/>
                </a:solidFill>
              </a:rPr>
              <a:t>GadgetAddr</a:t>
            </a:r>
            <a:r>
              <a:rPr lang="en-US" sz="1200" dirty="0" smtClean="0">
                <a:solidFill>
                  <a:srgbClr val="660066"/>
                </a:solidFill>
              </a:rPr>
              <a:t> 1</a:t>
            </a:r>
            <a:endParaRPr lang="en-US" sz="1200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8202" y="2936951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08202" y="3121802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08202" y="3311062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72828" y="4328117"/>
            <a:ext cx="66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124435" y="2694782"/>
            <a:ext cx="1352737" cy="3744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pop %</a:t>
            </a:r>
            <a:r>
              <a:rPr lang="en-US" sz="1400" dirty="0" err="1" smtClean="0">
                <a:solidFill>
                  <a:schemeClr val="tx1"/>
                </a:solidFill>
              </a:rPr>
              <a:t>edx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5920" y="2694781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  <p:cxnSp>
        <p:nvCxnSpPr>
          <p:cNvPr id="16" name="Curved Connector 15"/>
          <p:cNvCxnSpPr>
            <a:stCxn id="9" idx="3"/>
          </p:cNvCxnSpPr>
          <p:nvPr/>
        </p:nvCxnSpPr>
        <p:spPr>
          <a:xfrm flipV="1">
            <a:off x="2254740" y="2748035"/>
            <a:ext cx="869692" cy="92255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124432" y="2001506"/>
            <a:ext cx="2402242" cy="3744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 smtClean="0">
                <a:solidFill>
                  <a:schemeClr val="tx1"/>
                </a:solidFill>
              </a:rPr>
              <a:t>mov</a:t>
            </a:r>
            <a:r>
              <a:rPr lang="en-US" sz="1400" dirty="0" smtClean="0">
                <a:solidFill>
                  <a:schemeClr val="tx1"/>
                </a:solidFill>
              </a:rPr>
              <a:t> %</a:t>
            </a:r>
            <a:r>
              <a:rPr lang="en-US" sz="1400" dirty="0" err="1" smtClean="0">
                <a:solidFill>
                  <a:schemeClr val="tx1"/>
                </a:solidFill>
              </a:rPr>
              <a:t>eax</a:t>
            </a:r>
            <a:r>
              <a:rPr lang="en-US" sz="1400" dirty="0" smtClean="0">
                <a:solidFill>
                  <a:schemeClr val="tx1"/>
                </a:solidFill>
              </a:rPr>
              <a:t>, 24(%</a:t>
            </a:r>
            <a:r>
              <a:rPr lang="en-US" sz="1400" dirty="0" err="1" smtClean="0">
                <a:solidFill>
                  <a:schemeClr val="tx1"/>
                </a:solidFill>
              </a:rPr>
              <a:t>edx</a:t>
            </a:r>
            <a:r>
              <a:rPr lang="en-US" sz="1400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3" name="Curved Connector 32"/>
          <p:cNvCxnSpPr/>
          <p:nvPr/>
        </p:nvCxnSpPr>
        <p:spPr>
          <a:xfrm flipV="1">
            <a:off x="2254740" y="2090031"/>
            <a:ext cx="869692" cy="383263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20902" y="4081625"/>
            <a:ext cx="1046541" cy="246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urved Connector 36"/>
          <p:cNvCxnSpPr>
            <a:stCxn id="8" idx="1"/>
            <a:endCxn id="35" idx="1"/>
          </p:cNvCxnSpPr>
          <p:nvPr/>
        </p:nvCxnSpPr>
        <p:spPr>
          <a:xfrm rot="10800000" flipH="1" flipV="1">
            <a:off x="1208199" y="2655437"/>
            <a:ext cx="12700" cy="1549434"/>
          </a:xfrm>
          <a:prstGeom prst="curvedConnector3">
            <a:avLst>
              <a:gd name="adj1" fmla="val -615170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08999" y="3130502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24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219960" y="3896432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2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5" grpId="0"/>
      <p:bldP spid="35" grpId="0" animBg="1"/>
      <p:bldP spid="39" grpId="0"/>
      <p:bldP spid="4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Gadget for addition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432" y="2001506"/>
            <a:ext cx="2402242" cy="582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addl</a:t>
            </a:r>
            <a:r>
              <a:rPr lang="en-US" sz="1200" dirty="0" smtClean="0">
                <a:solidFill>
                  <a:schemeClr val="tx1"/>
                </a:solidFill>
              </a:rPr>
              <a:t> (%</a:t>
            </a:r>
            <a:r>
              <a:rPr lang="en-US" sz="1200" dirty="0" err="1" smtClean="0">
                <a:solidFill>
                  <a:schemeClr val="tx1"/>
                </a:solidFill>
              </a:rPr>
              <a:t>edx</a:t>
            </a:r>
            <a:r>
              <a:rPr lang="en-US" sz="1200" dirty="0" smtClean="0">
                <a:solidFill>
                  <a:schemeClr val="tx1"/>
                </a:solidFill>
              </a:rPr>
              <a:t>), %</a:t>
            </a:r>
            <a:r>
              <a:rPr lang="en-US" sz="1200" dirty="0" err="1" smtClean="0">
                <a:solidFill>
                  <a:schemeClr val="tx1"/>
                </a:solidFill>
              </a:rPr>
              <a:t>eax</a:t>
            </a:r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push %</a:t>
            </a:r>
            <a:r>
              <a:rPr lang="en-US" sz="1200" dirty="0" err="1" smtClean="0">
                <a:solidFill>
                  <a:schemeClr val="tx1"/>
                </a:solidFill>
              </a:rPr>
              <a:t>edi</a:t>
            </a:r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ret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Elbow Connector 6"/>
          <p:cNvCxnSpPr/>
          <p:nvPr/>
        </p:nvCxnSpPr>
        <p:spPr>
          <a:xfrm flipV="1">
            <a:off x="4985766" y="1631459"/>
            <a:ext cx="1610966" cy="493847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 flipV="1">
            <a:off x="4250840" y="2318977"/>
            <a:ext cx="2345895" cy="1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96732" y="1354458"/>
            <a:ext cx="21762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Add the memory pointed</a:t>
            </a:r>
            <a:br>
              <a:rPr lang="en-US" sz="1400" dirty="0" smtClean="0"/>
            </a:br>
            <a:r>
              <a:rPr lang="en-US" sz="1400" dirty="0" smtClean="0"/>
              <a:t>to by %</a:t>
            </a:r>
            <a:r>
              <a:rPr lang="en-US" sz="1400" dirty="0" err="1" smtClean="0"/>
              <a:t>edx</a:t>
            </a:r>
            <a:r>
              <a:rPr lang="en-US" sz="1400" dirty="0" smtClean="0"/>
              <a:t> to %</a:t>
            </a:r>
            <a:r>
              <a:rPr lang="en-US" sz="1400" dirty="0" err="1" smtClean="0"/>
              <a:t>eax</a:t>
            </a:r>
            <a:r>
              <a:rPr lang="en-US" sz="1400" dirty="0" smtClean="0"/>
              <a:t>. </a:t>
            </a:r>
            <a:endParaRPr lang="en-US" sz="1400" dirty="0"/>
          </a:p>
          <a:p>
            <a:r>
              <a:rPr lang="en-US" sz="1400" dirty="0" smtClean="0"/>
              <a:t>The result is stored in %</a:t>
            </a:r>
            <a:r>
              <a:rPr lang="en-US" sz="1400" dirty="0" err="1" smtClean="0"/>
              <a:t>eax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596732" y="2128580"/>
            <a:ext cx="239284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pushes %</a:t>
            </a:r>
            <a:r>
              <a:rPr lang="en-US" sz="1400" dirty="0" err="1" smtClean="0"/>
              <a:t>edi</a:t>
            </a:r>
            <a:r>
              <a:rPr lang="en-US" sz="1400" dirty="0" smtClean="0"/>
              <a:t>.. onto the stack</a:t>
            </a:r>
            <a:br>
              <a:rPr lang="en-US" sz="1400" dirty="0" smtClean="0"/>
            </a:br>
            <a:r>
              <a:rPr lang="en-US" sz="1400" dirty="0" smtClean="0"/>
              <a:t>why is this present?</a:t>
            </a:r>
            <a:br>
              <a:rPr lang="en-US" sz="1400" dirty="0" smtClean="0"/>
            </a:br>
            <a:r>
              <a:rPr lang="is-IS" sz="1400" dirty="0" smtClean="0"/>
              <a:t>…. </a:t>
            </a:r>
            <a:r>
              <a:rPr lang="en-US" sz="1400" dirty="0" smtClean="0"/>
              <a:t>T</a:t>
            </a:r>
            <a:r>
              <a:rPr lang="is-IS" sz="1400" dirty="0" smtClean="0"/>
              <a:t>his is unnecessary, but</a:t>
            </a:r>
            <a:br>
              <a:rPr lang="is-IS" sz="1400" dirty="0" smtClean="0"/>
            </a:br>
            <a:r>
              <a:rPr lang="is-IS" sz="1400" dirty="0" smtClean="0"/>
              <a:t>this is best gadget that we can</a:t>
            </a:r>
            <a:br>
              <a:rPr lang="is-IS" sz="1400" dirty="0" smtClean="0"/>
            </a:br>
            <a:r>
              <a:rPr lang="is-IS" sz="1400" dirty="0" smtClean="0"/>
              <a:t>find for addition</a:t>
            </a:r>
          </a:p>
          <a:p>
            <a:r>
              <a:rPr lang="is-IS" sz="1400" dirty="0" smtClean="0"/>
              <a:t>But can create problems!!</a:t>
            </a:r>
          </a:p>
          <a:p>
            <a:endParaRPr lang="is-IS" sz="1400" dirty="0"/>
          </a:p>
          <a:p>
            <a:r>
              <a:rPr lang="is-IS" sz="1400" dirty="0" smtClean="0"/>
              <a:t>We need work arounds!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991667" y="179595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91667" y="198521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91667" y="2170067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1667" y="235932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GadgetAddr2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91667" y="254417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rgbClr val="660066"/>
                </a:solidFill>
              </a:rPr>
              <a:t>GadgetAddr</a:t>
            </a:r>
            <a:endParaRPr lang="en-US" sz="1200" dirty="0">
              <a:solidFill>
                <a:srgbClr val="66006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1667" y="2733437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91667" y="291828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91667" y="310754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56292" y="3216192"/>
            <a:ext cx="66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39385" y="2491267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  <p:cxnSp>
        <p:nvCxnSpPr>
          <p:cNvPr id="23" name="Elbow Connector 22"/>
          <p:cNvCxnSpPr>
            <a:stCxn id="16" idx="3"/>
          </p:cNvCxnSpPr>
          <p:nvPr/>
        </p:nvCxnSpPr>
        <p:spPr>
          <a:xfrm flipV="1">
            <a:off x="2038208" y="1981152"/>
            <a:ext cx="1086227" cy="655624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 rot="10800000" flipV="1">
            <a:off x="2038209" y="2318976"/>
            <a:ext cx="1086229" cy="172292"/>
          </a:xfrm>
          <a:prstGeom prst="bentConnector3">
            <a:avLst>
              <a:gd name="adj1" fmla="val 32679"/>
            </a:avLst>
          </a:prstGeom>
          <a:ln>
            <a:prstDash val="dash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1667" y="2350171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Modified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2" name="Elbow Connector 31"/>
          <p:cNvCxnSpPr/>
          <p:nvPr/>
        </p:nvCxnSpPr>
        <p:spPr>
          <a:xfrm rot="16200000" flipH="1">
            <a:off x="1925103" y="2536369"/>
            <a:ext cx="1210040" cy="983826"/>
          </a:xfrm>
          <a:prstGeom prst="bentConnector3">
            <a:avLst>
              <a:gd name="adj1" fmla="val 117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782959" y="3633303"/>
            <a:ext cx="2402242" cy="582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Some gadget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4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Gadget for addition</a:t>
            </a:r>
            <a:br>
              <a:rPr lang="en-US" dirty="0" smtClean="0"/>
            </a:br>
            <a:r>
              <a:rPr lang="en-US" dirty="0" smtClean="0"/>
              <a:t>(put 0xc3 into %</a:t>
            </a:r>
            <a:r>
              <a:rPr lang="en-US" dirty="0" err="1" smtClean="0"/>
              <a:t>edi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432" y="2001506"/>
            <a:ext cx="2402242" cy="582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 smtClean="0">
                <a:solidFill>
                  <a:schemeClr val="tx1"/>
                </a:solidFill>
              </a:rPr>
              <a:t>addl</a:t>
            </a:r>
            <a:r>
              <a:rPr lang="en-US" sz="1400" dirty="0" smtClean="0">
                <a:solidFill>
                  <a:schemeClr val="tx1"/>
                </a:solidFill>
              </a:rPr>
              <a:t> (%</a:t>
            </a:r>
            <a:r>
              <a:rPr lang="en-US" sz="1400" dirty="0" err="1" smtClean="0">
                <a:solidFill>
                  <a:schemeClr val="tx1"/>
                </a:solidFill>
              </a:rPr>
              <a:t>edx</a:t>
            </a:r>
            <a:r>
              <a:rPr lang="en-US" sz="1400" dirty="0" smtClean="0">
                <a:solidFill>
                  <a:schemeClr val="tx1"/>
                </a:solidFill>
              </a:rPr>
              <a:t>), %</a:t>
            </a:r>
            <a:r>
              <a:rPr lang="en-US" sz="1400" dirty="0" err="1" smtClean="0">
                <a:solidFill>
                  <a:schemeClr val="tx1"/>
                </a:solidFill>
              </a:rPr>
              <a:t>eax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push %</a:t>
            </a:r>
            <a:r>
              <a:rPr lang="en-US" sz="1400" dirty="0" err="1" smtClean="0">
                <a:solidFill>
                  <a:schemeClr val="tx1"/>
                </a:solidFill>
              </a:rPr>
              <a:t>edi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6152" y="1479656"/>
            <a:ext cx="337784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 smtClean="0"/>
              <a:t>First put gadget </a:t>
            </a:r>
            <a:r>
              <a:rPr lang="en-US" sz="1600" dirty="0" err="1" smtClean="0"/>
              <a:t>ptr</a:t>
            </a:r>
            <a:r>
              <a:rPr lang="en-US" sz="1600" dirty="0" smtClean="0"/>
              <a:t> for 0xC3 into </a:t>
            </a:r>
            <a:br>
              <a:rPr lang="en-US" sz="1600" dirty="0" smtClean="0"/>
            </a:br>
            <a:r>
              <a:rPr lang="en-US" sz="1600" dirty="0" smtClean="0"/>
              <a:t>%</a:t>
            </a:r>
            <a:r>
              <a:rPr lang="en-US" sz="1600" dirty="0" err="1" smtClean="0"/>
              <a:t>edi</a:t>
            </a:r>
            <a:endParaRPr lang="en-US" sz="1600" dirty="0" smtClean="0"/>
          </a:p>
          <a:p>
            <a:pPr marL="342900" indent="-342900">
              <a:buAutoNum type="arabicPeriod"/>
            </a:pPr>
            <a:r>
              <a:rPr lang="en-US" sz="1600" dirty="0" smtClean="0"/>
              <a:t>0xC3 corresponds to NOP in</a:t>
            </a:r>
            <a:br>
              <a:rPr lang="en-US" sz="1600" dirty="0" smtClean="0"/>
            </a:br>
            <a:r>
              <a:rPr lang="en-US" sz="1600" dirty="0" smtClean="0"/>
              <a:t>ROP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push %</a:t>
            </a:r>
            <a:r>
              <a:rPr lang="en-US" sz="1600" dirty="0" err="1" smtClean="0"/>
              <a:t>edi</a:t>
            </a:r>
            <a:r>
              <a:rPr lang="en-US" sz="1600" dirty="0" smtClean="0"/>
              <a:t> in gadget 2 just pushes</a:t>
            </a:r>
            <a:br>
              <a:rPr lang="en-US" sz="1600" dirty="0" smtClean="0"/>
            </a:br>
            <a:r>
              <a:rPr lang="en-US" sz="1600" dirty="0" smtClean="0"/>
              <a:t>0xc3 back into the stack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Therefore not disturbing the stack</a:t>
            </a:r>
            <a:br>
              <a:rPr lang="en-US" sz="1600" dirty="0" smtClean="0"/>
            </a:br>
            <a:r>
              <a:rPr lang="en-US" sz="1600" dirty="0" smtClean="0"/>
              <a:t>contents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Gadget 3 executes as planned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667" y="179595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91667" y="198521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91667" y="2170067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GadgetAddr3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991667" y="235932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rgbClr val="000000"/>
                </a:solidFill>
              </a:rPr>
              <a:t>Gadget_RET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91667" y="254417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660066"/>
                </a:solidFill>
              </a:rPr>
              <a:t>GadgetAddr2</a:t>
            </a:r>
            <a:endParaRPr lang="en-US" sz="1200" dirty="0">
              <a:solidFill>
                <a:srgbClr val="66006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1667" y="2733437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rgbClr val="660066"/>
                </a:solidFill>
              </a:rPr>
              <a:t>Gadget_RET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991667" y="291828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GadgetAddr1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91667" y="3107548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56292" y="3216192"/>
            <a:ext cx="66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39385" y="2844007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  <p:cxnSp>
        <p:nvCxnSpPr>
          <p:cNvPr id="23" name="Elbow Connector 22"/>
          <p:cNvCxnSpPr>
            <a:stCxn id="16" idx="3"/>
          </p:cNvCxnSpPr>
          <p:nvPr/>
        </p:nvCxnSpPr>
        <p:spPr>
          <a:xfrm flipV="1">
            <a:off x="2038208" y="1981152"/>
            <a:ext cx="1086227" cy="655624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 rot="10800000" flipV="1">
            <a:off x="2038209" y="2318976"/>
            <a:ext cx="1086229" cy="172292"/>
          </a:xfrm>
          <a:prstGeom prst="bentConnector3">
            <a:avLst>
              <a:gd name="adj1" fmla="val 32679"/>
            </a:avLst>
          </a:prstGeom>
          <a:ln>
            <a:prstDash val="dash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24432" y="2709560"/>
            <a:ext cx="2402242" cy="439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0xc3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Elbow Connector 24"/>
          <p:cNvCxnSpPr>
            <a:stCxn id="18" idx="3"/>
          </p:cNvCxnSpPr>
          <p:nvPr/>
        </p:nvCxnSpPr>
        <p:spPr>
          <a:xfrm>
            <a:off x="2038205" y="3010884"/>
            <a:ext cx="1086230" cy="281856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64031" y="4312339"/>
            <a:ext cx="4371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0xc3 is ret ; in ROP ret is equivalent to NOP v 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202116" y="3255173"/>
            <a:ext cx="2402242" cy="439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pop %</a:t>
            </a:r>
            <a:r>
              <a:rPr lang="en-US" sz="1400" dirty="0" err="1" smtClean="0">
                <a:solidFill>
                  <a:schemeClr val="tx1"/>
                </a:solidFill>
              </a:rPr>
              <a:t>edi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ret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Elbow Connector 25"/>
          <p:cNvCxnSpPr>
            <a:endCxn id="24" idx="1"/>
          </p:cNvCxnSpPr>
          <p:nvPr/>
        </p:nvCxnSpPr>
        <p:spPr>
          <a:xfrm>
            <a:off x="2038202" y="2820831"/>
            <a:ext cx="1086230" cy="108486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Unconditional Branch</a:t>
            </a:r>
            <a:br>
              <a:rPr lang="en-US" dirty="0" smtClean="0"/>
            </a:br>
            <a:r>
              <a:rPr lang="en-US" dirty="0" smtClean="0"/>
              <a:t>in ROP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Changing the %</a:t>
            </a:r>
            <a:r>
              <a:rPr lang="en-US" sz="2400" dirty="0" err="1" smtClean="0"/>
              <a:t>esp</a:t>
            </a:r>
            <a:r>
              <a:rPr lang="en-US" sz="2400" dirty="0" smtClean="0"/>
              <a:t> causes unconditional jumps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97003" y="2454056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97003" y="2643317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097003" y="2828167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GA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97003" y="3017426"/>
            <a:ext cx="1046541" cy="18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61629" y="3126071"/>
            <a:ext cx="66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44721" y="2753885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856574" y="2454058"/>
            <a:ext cx="12417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pop %</a:t>
            </a:r>
            <a:r>
              <a:rPr lang="en-US" dirty="0" err="1" smtClean="0"/>
              <a:t>esp</a:t>
            </a:r>
            <a:endParaRPr lang="en-US" dirty="0" smtClean="0"/>
          </a:p>
          <a:p>
            <a:r>
              <a:rPr lang="en-US" dirty="0" smtClean="0"/>
              <a:t>ret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822222" y="2454058"/>
            <a:ext cx="2034352" cy="46670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endCxn id="11" idx="3"/>
          </p:cNvCxnSpPr>
          <p:nvPr/>
        </p:nvCxnSpPr>
        <p:spPr>
          <a:xfrm>
            <a:off x="2624667" y="2735914"/>
            <a:ext cx="518874" cy="184850"/>
          </a:xfrm>
          <a:prstGeom prst="bentConnector3">
            <a:avLst>
              <a:gd name="adj1" fmla="val 14405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75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Gadgets can do much more</a:t>
            </a:r>
            <a:r>
              <a:rPr lang="is-IS" sz="2000" dirty="0" smtClean="0"/>
              <a:t>…</a:t>
            </a:r>
            <a:br>
              <a:rPr lang="is-IS" sz="2000" dirty="0" smtClean="0"/>
            </a:br>
            <a:r>
              <a:rPr lang="is-IS" sz="2000" dirty="0" smtClean="0"/>
              <a:t>		invoke libc functions, </a:t>
            </a:r>
            <a:br>
              <a:rPr lang="is-IS" sz="2000" dirty="0" smtClean="0"/>
            </a:br>
            <a:r>
              <a:rPr lang="is-IS" sz="2000" dirty="0" smtClean="0"/>
              <a:t>		invoke system calls, ...</a:t>
            </a:r>
            <a:endParaRPr lang="en-US" sz="2000" dirty="0" smtClean="0"/>
          </a:p>
          <a:p>
            <a:r>
              <a:rPr lang="en-US" sz="2000" dirty="0" smtClean="0"/>
              <a:t>For x86, gadgets are said to be turning complete</a:t>
            </a:r>
          </a:p>
          <a:p>
            <a:pPr lvl="1"/>
            <a:r>
              <a:rPr lang="en-US" sz="1800" dirty="0" smtClean="0"/>
              <a:t>Can program just about anything with gadgets</a:t>
            </a:r>
          </a:p>
          <a:p>
            <a:r>
              <a:rPr lang="en-US" sz="2400" dirty="0" smtClean="0"/>
              <a:t>For RISC processors, more difficult to find gadgets</a:t>
            </a:r>
          </a:p>
          <a:p>
            <a:pPr lvl="1"/>
            <a:r>
              <a:rPr lang="en-US" sz="2000" dirty="0" smtClean="0"/>
              <a:t>Instructions are fixed width</a:t>
            </a:r>
          </a:p>
          <a:p>
            <a:pPr lvl="1"/>
            <a:r>
              <a:rPr lang="en-US" sz="2000" dirty="0" smtClean="0"/>
              <a:t>Therefore can’t find unintentional instructions</a:t>
            </a:r>
          </a:p>
          <a:p>
            <a:r>
              <a:rPr lang="en-US" sz="2400" dirty="0" smtClean="0"/>
              <a:t>Tools available to find gadgets automatically</a:t>
            </a:r>
          </a:p>
          <a:p>
            <a:pPr marL="457200" lvl="1" indent="0">
              <a:buNone/>
            </a:pPr>
            <a:r>
              <a:rPr lang="en-US" sz="2000" dirty="0" err="1" smtClean="0"/>
              <a:t>Eg</a:t>
            </a:r>
            <a:r>
              <a:rPr lang="en-US" sz="2000" dirty="0" smtClean="0"/>
              <a:t>. </a:t>
            </a:r>
            <a:r>
              <a:rPr lang="en-US" sz="2000" dirty="0" err="1" smtClean="0"/>
              <a:t>ROPGadget</a:t>
            </a:r>
            <a:r>
              <a:rPr lang="en-US" sz="2000" dirty="0"/>
              <a:t> </a:t>
            </a:r>
            <a:r>
              <a:rPr lang="en-US" sz="1600" dirty="0"/>
              <a:t>(</a:t>
            </a:r>
            <a:r>
              <a:rPr lang="en-US" sz="1600" dirty="0">
                <a:hlinkClick r:id="rId2"/>
              </a:rPr>
              <a:t>https://github.com/JonathanSalwan/</a:t>
            </a:r>
            <a:r>
              <a:rPr lang="en-US" sz="1600" dirty="0" smtClean="0">
                <a:hlinkClick r:id="rId2"/>
              </a:rPr>
              <a:t>ROPgadget</a:t>
            </a:r>
            <a:r>
              <a:rPr lang="en-US" sz="1600" dirty="0" smtClean="0"/>
              <a:t>)</a:t>
            </a:r>
          </a:p>
          <a:p>
            <a:pPr marL="457200" lvl="1" indent="0">
              <a:buNone/>
            </a:pPr>
            <a:r>
              <a:rPr lang="en-US" sz="1600" dirty="0" smtClean="0"/>
              <a:t>         </a:t>
            </a:r>
            <a:r>
              <a:rPr lang="en-US" sz="1600" dirty="0" err="1" smtClean="0"/>
              <a:t>Ropper</a:t>
            </a:r>
            <a:r>
              <a:rPr lang="en-US" sz="1600" dirty="0" smtClean="0"/>
              <a:t> </a:t>
            </a:r>
            <a:r>
              <a:rPr lang="en-US" sz="1600" dirty="0"/>
              <a:t>(</a:t>
            </a:r>
            <a:r>
              <a:rPr lang="en-US" sz="1600" dirty="0">
                <a:hlinkClick r:id="rId3"/>
              </a:rPr>
              <a:t>https://github.com/sashs/</a:t>
            </a:r>
            <a:r>
              <a:rPr lang="en-US" sz="1600" dirty="0" smtClean="0">
                <a:hlinkClick r:id="rId3"/>
              </a:rPr>
              <a:t>Ropper</a:t>
            </a:r>
            <a:r>
              <a:rPr lang="en-US" sz="1600" dirty="0" smtClean="0"/>
              <a:t>)</a:t>
            </a:r>
          </a:p>
          <a:p>
            <a:pPr lvl="1"/>
            <a:endParaRPr lang="en-US" sz="2400" dirty="0" smtClean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8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56978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Address Space Layout Randomization</a:t>
            </a:r>
            <a:br>
              <a:rPr lang="en-US" b="1" dirty="0" smtClean="0"/>
            </a:br>
            <a:r>
              <a:rPr lang="en-US" b="1" dirty="0" smtClean="0"/>
              <a:t>(ASLR)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1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Attacker’s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Find the bug in the source code (for </a:t>
            </a:r>
            <a:r>
              <a:rPr lang="en-US" sz="2000" dirty="0" err="1" smtClean="0"/>
              <a:t>eg</a:t>
            </a:r>
            <a:r>
              <a:rPr lang="en-US" sz="2000" dirty="0" smtClean="0"/>
              <a:t>. Kernel) that can be exploited</a:t>
            </a:r>
          </a:p>
          <a:p>
            <a:pPr lvl="1"/>
            <a:r>
              <a:rPr lang="en-US" sz="1800" dirty="0" smtClean="0"/>
              <a:t>Eyeballing</a:t>
            </a:r>
          </a:p>
          <a:p>
            <a:pPr lvl="1"/>
            <a:r>
              <a:rPr lang="en-US" sz="1800" dirty="0" smtClean="0"/>
              <a:t>Noticing something in the patches</a:t>
            </a:r>
          </a:p>
          <a:p>
            <a:pPr lvl="1"/>
            <a:r>
              <a:rPr lang="en-US" sz="1800" dirty="0" smtClean="0"/>
              <a:t>Following CVE</a:t>
            </a:r>
          </a:p>
          <a:p>
            <a:r>
              <a:rPr lang="en-US" sz="2000" dirty="0" smtClean="0"/>
              <a:t>Use that bug to insert malicious code to perform something nefarious</a:t>
            </a:r>
          </a:p>
          <a:p>
            <a:pPr lvl="1"/>
            <a:r>
              <a:rPr lang="en-US" sz="1800" dirty="0" smtClean="0"/>
              <a:t>Such as getting root privileges in the kernel</a:t>
            </a:r>
            <a:endParaRPr lang="en-US" sz="1800" dirty="0"/>
          </a:p>
          <a:p>
            <a:pPr lvl="1"/>
            <a:endParaRPr lang="en-US" sz="1800" b="1" dirty="0"/>
          </a:p>
          <a:p>
            <a:pPr marL="457200" lvl="1" indent="0">
              <a:buNone/>
            </a:pPr>
            <a:r>
              <a:rPr lang="en-US" sz="1800" b="1" dirty="0" smtClean="0"/>
              <a:t>Attacker depends upon knowing where these functions reside in memory. Assumes that many systems use the same address mapping. Therefore one exploit may spread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1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66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5000" y="3496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05000" y="42964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905000" y="3210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G1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05000" y="23533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G2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5000" y="20675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G3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5000" y="178180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rgbClr val="660066"/>
                </a:solidFill>
              </a:rPr>
              <a:t>Address of G4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5000" y="1496054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05000" y="3210554"/>
            <a:ext cx="1676400" cy="1085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05000" y="292480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905000" y="2639054"/>
            <a:ext cx="1676400" cy="285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905000" y="1781804"/>
            <a:ext cx="1676400" cy="8572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14525" y="3776101"/>
            <a:ext cx="1676400" cy="2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dirty="0" smtClean="0"/>
              <a:t>xxx</a:t>
            </a:r>
            <a:endParaRPr lang="en-US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953125" y="1308741"/>
            <a:ext cx="2438400" cy="285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937252" y="4193626"/>
            <a:ext cx="1788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Program Binary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953125" y="3537591"/>
            <a:ext cx="2438400" cy="342900"/>
          </a:xfrm>
          <a:prstGeom prst="rect">
            <a:avLst/>
          </a:prstGeom>
          <a:solidFill>
            <a:srgbClr val="F2DCD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err="1"/>
              <a:t>movl</a:t>
            </a:r>
            <a:r>
              <a:rPr lang="en-US" sz="1400" dirty="0"/>
              <a:t> %</a:t>
            </a:r>
            <a:r>
              <a:rPr lang="en-US" sz="1400" dirty="0" err="1"/>
              <a:t>esi</a:t>
            </a:r>
            <a:r>
              <a:rPr lang="en-US" sz="1400" dirty="0"/>
              <a:t>, 0x8(%</a:t>
            </a:r>
            <a:r>
              <a:rPr lang="en-US" sz="1400" dirty="0" err="1"/>
              <a:t>esi</a:t>
            </a:r>
            <a:r>
              <a:rPr lang="en-US" sz="1400" dirty="0"/>
              <a:t>)</a:t>
            </a:r>
          </a:p>
          <a:p>
            <a:pPr algn="ctr"/>
            <a:r>
              <a:rPr lang="en-US" sz="1400" dirty="0"/>
              <a:t>ret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3581400" y="2827393"/>
            <a:ext cx="106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4657725" y="2827393"/>
            <a:ext cx="0" cy="88164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>
            <a:off x="4657725" y="3709041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8391527" y="3564976"/>
            <a:ext cx="492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G1</a:t>
            </a:r>
          </a:p>
        </p:txBody>
      </p:sp>
      <p:grpSp>
        <p:nvGrpSpPr>
          <p:cNvPr id="32" name="Group 22"/>
          <p:cNvGrpSpPr>
            <a:grpSpLocks/>
          </p:cNvGrpSpPr>
          <p:nvPr/>
        </p:nvGrpSpPr>
        <p:grpSpPr bwMode="auto">
          <a:xfrm>
            <a:off x="3590927" y="1799930"/>
            <a:ext cx="5224463" cy="685800"/>
            <a:chOff x="2208" y="1824"/>
            <a:chExt cx="3291" cy="576"/>
          </a:xfrm>
        </p:grpSpPr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3696" y="1824"/>
              <a:ext cx="1536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err="1"/>
                <a:t>movb</a:t>
              </a:r>
              <a:r>
                <a:rPr lang="en-US" sz="1400" dirty="0"/>
                <a:t> $0x0, 0x7(%</a:t>
              </a:r>
              <a:r>
                <a:rPr lang="en-US" sz="1400" dirty="0" err="1"/>
                <a:t>esi</a:t>
              </a:r>
              <a:r>
                <a:rPr lang="en-US" sz="1400" dirty="0"/>
                <a:t>)</a:t>
              </a:r>
            </a:p>
            <a:p>
              <a:pPr algn="ctr"/>
              <a:r>
                <a:rPr lang="en-US" sz="1400" dirty="0"/>
                <a:t>ret</a:t>
              </a:r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5232" y="1881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/>
                <a:t>G2</a:t>
              </a: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>
              <a:off x="2208" y="2400"/>
              <a:ext cx="52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V="1">
              <a:off x="2736" y="1968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2736" y="1968"/>
              <a:ext cx="96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38" name="Group 26"/>
          <p:cNvGrpSpPr>
            <a:grpSpLocks/>
          </p:cNvGrpSpPr>
          <p:nvPr/>
        </p:nvGrpSpPr>
        <p:grpSpPr bwMode="auto">
          <a:xfrm>
            <a:off x="3590927" y="2239007"/>
            <a:ext cx="5259388" cy="852488"/>
            <a:chOff x="2208" y="2544"/>
            <a:chExt cx="3313" cy="716"/>
          </a:xfrm>
        </p:grpSpPr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3696" y="2928"/>
              <a:ext cx="1536" cy="288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 dirty="0" err="1"/>
                <a:t>movb</a:t>
              </a:r>
              <a:r>
                <a:rPr lang="en-US" sz="1200" dirty="0"/>
                <a:t> $0x0, 0xc(%</a:t>
              </a:r>
              <a:r>
                <a:rPr lang="en-US" sz="1200" dirty="0" err="1"/>
                <a:t>esi</a:t>
              </a:r>
              <a:r>
                <a:rPr lang="en-US" sz="1200" dirty="0"/>
                <a:t>)</a:t>
              </a:r>
            </a:p>
            <a:p>
              <a:pPr algn="ctr"/>
              <a:r>
                <a:rPr lang="en-US" sz="1200" dirty="0"/>
                <a:t>ret</a:t>
              </a:r>
            </a:p>
          </p:txBody>
        </p:sp>
        <p:sp>
          <p:nvSpPr>
            <p:cNvPr id="40" name="Text Box 16"/>
            <p:cNvSpPr txBox="1">
              <a:spLocks noChangeArrowheads="1"/>
            </p:cNvSpPr>
            <p:nvPr/>
          </p:nvSpPr>
          <p:spPr bwMode="auto">
            <a:xfrm>
              <a:off x="5232" y="2976"/>
              <a:ext cx="2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/>
                <a:t>G3</a:t>
              </a:r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2208" y="2544"/>
              <a:ext cx="86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>
              <a:off x="3072" y="2544"/>
              <a:ext cx="0" cy="52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>
              <a:off x="3072" y="3072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44" name="Group 30"/>
          <p:cNvGrpSpPr>
            <a:grpSpLocks/>
          </p:cNvGrpSpPr>
          <p:nvPr/>
        </p:nvGrpSpPr>
        <p:grpSpPr bwMode="auto">
          <a:xfrm>
            <a:off x="3590927" y="1868335"/>
            <a:ext cx="5224463" cy="754856"/>
            <a:chOff x="2208" y="2006"/>
            <a:chExt cx="3291" cy="634"/>
          </a:xfrm>
        </p:grpSpPr>
        <p:sp>
          <p:nvSpPr>
            <p:cNvPr id="45" name="Rectangle 10"/>
            <p:cNvSpPr>
              <a:spLocks noChangeArrowheads="1"/>
            </p:cNvSpPr>
            <p:nvPr/>
          </p:nvSpPr>
          <p:spPr bwMode="auto">
            <a:xfrm>
              <a:off x="3696" y="2352"/>
              <a:ext cx="1536" cy="288"/>
            </a:xfrm>
            <a:prstGeom prst="rect">
              <a:avLst/>
            </a:prstGeom>
            <a:solidFill>
              <a:srgbClr val="F2DCD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 dirty="0" err="1"/>
                <a:t>movl</a:t>
              </a:r>
              <a:r>
                <a:rPr lang="en-US" sz="1200" dirty="0"/>
                <a:t> $0xb, %</a:t>
              </a:r>
              <a:r>
                <a:rPr lang="en-US" sz="1200" dirty="0" err="1"/>
                <a:t>eax</a:t>
              </a:r>
              <a:endParaRPr lang="en-US" sz="1200" dirty="0"/>
            </a:p>
            <a:p>
              <a:pPr algn="ctr"/>
              <a:r>
                <a:rPr lang="en-US" sz="1200" dirty="0"/>
                <a:t>ret</a:t>
              </a:r>
            </a:p>
          </p:txBody>
        </p:sp>
        <p:sp>
          <p:nvSpPr>
            <p:cNvPr id="46" name="Text Box 17"/>
            <p:cNvSpPr txBox="1">
              <a:spLocks noChangeArrowheads="1"/>
            </p:cNvSpPr>
            <p:nvPr/>
          </p:nvSpPr>
          <p:spPr bwMode="auto">
            <a:xfrm>
              <a:off x="5232" y="2361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 dirty="0"/>
                <a:t>G4</a:t>
              </a:r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 flipV="1">
              <a:off x="2208" y="2006"/>
              <a:ext cx="105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8"/>
            <p:cNvSpPr>
              <a:spLocks noChangeShapeType="1"/>
            </p:cNvSpPr>
            <p:nvPr/>
          </p:nvSpPr>
          <p:spPr bwMode="auto">
            <a:xfrm>
              <a:off x="3264" y="2006"/>
              <a:ext cx="0" cy="44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9"/>
            <p:cNvSpPr>
              <a:spLocks noChangeShapeType="1"/>
            </p:cNvSpPr>
            <p:nvPr/>
          </p:nvSpPr>
          <p:spPr bwMode="auto">
            <a:xfrm>
              <a:off x="3264" y="2448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914525" y="4594622"/>
            <a:ext cx="17112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Program Stack</a:t>
            </a:r>
            <a:endParaRPr lang="en-US" sz="1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433564" y="1971380"/>
            <a:ext cx="4809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98416" y="1748233"/>
            <a:ext cx="511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5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Address Space Randomization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1"/>
            <a:ext cx="3940622" cy="339447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1800" dirty="0" smtClean="0">
                <a:latin typeface="Arial" charset="0"/>
              </a:rPr>
              <a:t>Address </a:t>
            </a:r>
            <a:r>
              <a:rPr lang="en-US" sz="1800" dirty="0">
                <a:latin typeface="Arial" charset="0"/>
              </a:rPr>
              <a:t>space layout randomization (ASLR) </a:t>
            </a:r>
            <a:r>
              <a:rPr lang="en-US" sz="1800" dirty="0" smtClean="0">
                <a:latin typeface="Arial" charset="0"/>
              </a:rPr>
              <a:t>randomizes </a:t>
            </a:r>
            <a:r>
              <a:rPr lang="en-US" sz="1800" dirty="0">
                <a:latin typeface="Arial" charset="0"/>
              </a:rPr>
              <a:t>the address space layout of the </a:t>
            </a:r>
            <a:r>
              <a:rPr lang="en-US" sz="1800" dirty="0" smtClean="0">
                <a:latin typeface="Arial" charset="0"/>
              </a:rPr>
              <a:t>process </a:t>
            </a:r>
          </a:p>
          <a:p>
            <a:pPr eaLnBrk="1" hangingPunct="1"/>
            <a:r>
              <a:rPr lang="en-US" sz="1800" dirty="0" smtClean="0">
                <a:latin typeface="Arial" charset="0"/>
              </a:rPr>
              <a:t>Each execution would have a different memory map, thus making it difficult for the attacker to run exploits</a:t>
            </a:r>
          </a:p>
          <a:p>
            <a:pPr eaLnBrk="1" hangingPunct="1"/>
            <a:r>
              <a:rPr lang="en-US" sz="1800" dirty="0" smtClean="0">
                <a:latin typeface="Arial" charset="0"/>
              </a:rPr>
              <a:t>Initiated by Linux </a:t>
            </a:r>
            <a:r>
              <a:rPr lang="en-US" sz="1800" dirty="0" err="1" smtClean="0">
                <a:latin typeface="Arial" charset="0"/>
              </a:rPr>
              <a:t>PaX</a:t>
            </a:r>
            <a:r>
              <a:rPr lang="en-US" sz="1800" dirty="0" smtClean="0">
                <a:latin typeface="Arial" charset="0"/>
              </a:rPr>
              <a:t> project in 2001</a:t>
            </a:r>
          </a:p>
          <a:p>
            <a:r>
              <a:rPr lang="en-US" sz="1800" dirty="0" smtClean="0">
                <a:latin typeface="Arial" charset="0"/>
              </a:rPr>
              <a:t>Now a default in many operating systems</a:t>
            </a:r>
            <a:endParaRPr lang="en-US" sz="1800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878" y="1067310"/>
            <a:ext cx="4259275" cy="35188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87875" y="4594622"/>
            <a:ext cx="467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Memory layout across boots for a Windows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6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ASLR in the Linux Kernel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Locations of the base, libraries, heap, and stack can be randomized in a process’ address space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Built into the Linux kernel and controlled by</a:t>
            </a:r>
            <a:br>
              <a:rPr lang="en-US" sz="2000" dirty="0" smtClean="0"/>
            </a:br>
            <a:r>
              <a:rPr lang="en-US" sz="2000" dirty="0">
                <a:solidFill>
                  <a:srgbClr val="660066"/>
                </a:solidFill>
              </a:rPr>
              <a:t>/</a:t>
            </a:r>
            <a:r>
              <a:rPr lang="en-US" sz="2000" dirty="0" err="1">
                <a:solidFill>
                  <a:srgbClr val="660066"/>
                </a:solidFill>
              </a:rPr>
              <a:t>proc</a:t>
            </a:r>
            <a:r>
              <a:rPr lang="en-US" sz="2000" dirty="0">
                <a:solidFill>
                  <a:srgbClr val="660066"/>
                </a:solidFill>
              </a:rPr>
              <a:t>/sys/kernel/</a:t>
            </a:r>
            <a:r>
              <a:rPr lang="en-US" sz="2000" dirty="0" err="1" smtClean="0">
                <a:solidFill>
                  <a:srgbClr val="660066"/>
                </a:solidFill>
              </a:rPr>
              <a:t>randomize_va_space</a:t>
            </a:r>
            <a:endParaRPr lang="en-US" sz="2000" dirty="0" smtClean="0">
              <a:solidFill>
                <a:srgbClr val="660066"/>
              </a:solidFill>
            </a:endParaRP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err="1" smtClean="0"/>
              <a:t>randomize_va_space</a:t>
            </a:r>
            <a:r>
              <a:rPr lang="en-US" sz="2000" dirty="0"/>
              <a:t> </a:t>
            </a:r>
            <a:r>
              <a:rPr lang="en-US" sz="2000" dirty="0" smtClean="0"/>
              <a:t>can take 3 values</a:t>
            </a:r>
            <a:br>
              <a:rPr lang="en-US" sz="2000" dirty="0" smtClean="0"/>
            </a:br>
            <a:r>
              <a:rPr lang="en-US" sz="2000" b="1" dirty="0" smtClean="0">
                <a:solidFill>
                  <a:srgbClr val="660066"/>
                </a:solidFill>
              </a:rPr>
              <a:t>0 :</a:t>
            </a:r>
            <a:r>
              <a:rPr lang="en-US" sz="2000" dirty="0" smtClean="0"/>
              <a:t> disable ASLR</a:t>
            </a:r>
            <a:br>
              <a:rPr lang="en-US" sz="2000" dirty="0" smtClean="0"/>
            </a:br>
            <a:r>
              <a:rPr lang="en-US" sz="2000" b="1" dirty="0" smtClean="0">
                <a:solidFill>
                  <a:srgbClr val="660066"/>
                </a:solidFill>
              </a:rPr>
              <a:t>1 : </a:t>
            </a:r>
            <a:r>
              <a:rPr lang="en-US" sz="2000" dirty="0" smtClean="0"/>
              <a:t>positions of stack, VDSO, shared memory regions are randomized</a:t>
            </a:r>
            <a:br>
              <a:rPr lang="en-US" sz="2000" dirty="0" smtClean="0"/>
            </a:br>
            <a:r>
              <a:rPr lang="en-US" sz="2000" dirty="0" smtClean="0"/>
              <a:t>      the data segment is immediately after the executable code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</a:t>
            </a:r>
            <a:r>
              <a:rPr lang="en-US" sz="2000" b="1" dirty="0" smtClean="0">
                <a:solidFill>
                  <a:srgbClr val="660066"/>
                </a:solidFill>
              </a:rPr>
              <a:t>2 : </a:t>
            </a:r>
            <a:r>
              <a:rPr lang="en-US" sz="2000" dirty="0" smtClean="0"/>
              <a:t>(default setting)  setting 1 as well as the data segment location is  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randomized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3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ASLR in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69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80" y="927155"/>
            <a:ext cx="7226300" cy="2009775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80" y="2999546"/>
            <a:ext cx="7200900" cy="20097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82883" y="1763738"/>
            <a:ext cx="1011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First Run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635280" y="3941610"/>
            <a:ext cx="137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Another Run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56580" y="3482225"/>
            <a:ext cx="7200900" cy="212100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6580" y="1427128"/>
            <a:ext cx="7200900" cy="212100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1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ASLR in the Linux Kernel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22" y="1297401"/>
            <a:ext cx="8229600" cy="339447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Permanent changes can be made by editing the /</a:t>
            </a:r>
            <a:r>
              <a:rPr lang="en-US" sz="2000" dirty="0" err="1" smtClean="0"/>
              <a:t>etc</a:t>
            </a:r>
            <a:r>
              <a:rPr lang="en-US" sz="2000" dirty="0" smtClean="0"/>
              <a:t>/</a:t>
            </a:r>
            <a:r>
              <a:rPr lang="en-US" sz="2000" dirty="0" err="1" smtClean="0"/>
              <a:t>sysctl.conf</a:t>
            </a:r>
            <a:r>
              <a:rPr lang="en-US" sz="2000" dirty="0" smtClean="0"/>
              <a:t> file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38400" y="1694430"/>
            <a:ext cx="4572000" cy="92333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r>
              <a:rPr lang="en-US" dirty="0"/>
              <a:t>, for example:</a:t>
            </a:r>
          </a:p>
          <a:p>
            <a:r>
              <a:rPr lang="en-US" dirty="0" err="1"/>
              <a:t>kernel.randomize_va_space</a:t>
            </a:r>
            <a:r>
              <a:rPr lang="en-US" dirty="0"/>
              <a:t> = </a:t>
            </a:r>
            <a:r>
              <a:rPr lang="en-US" b="1" i="1" dirty="0" smtClean="0"/>
              <a:t>value</a:t>
            </a:r>
          </a:p>
          <a:p>
            <a:r>
              <a:rPr lang="en-US" i="1" dirty="0" err="1" smtClean="0"/>
              <a:t>sysctl</a:t>
            </a:r>
            <a:r>
              <a:rPr lang="en-US" i="1" dirty="0" smtClean="0"/>
              <a:t> -p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38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Internals : Making code </a:t>
            </a:r>
            <a:r>
              <a:rPr lang="en-US" dirty="0" err="1" smtClean="0"/>
              <a:t>relocatable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b="1" dirty="0" smtClean="0">
                <a:solidFill>
                  <a:srgbClr val="660066"/>
                </a:solidFill>
              </a:rPr>
              <a:t>Load time </a:t>
            </a:r>
            <a:r>
              <a:rPr lang="en-US" sz="2800" b="1" dirty="0" err="1" smtClean="0">
                <a:solidFill>
                  <a:srgbClr val="660066"/>
                </a:solidFill>
              </a:rPr>
              <a:t>relocatable</a:t>
            </a:r>
            <a:endParaRPr lang="en-US" sz="2800" b="1" dirty="0" smtClean="0">
              <a:solidFill>
                <a:srgbClr val="660066"/>
              </a:solidFill>
            </a:endParaRPr>
          </a:p>
          <a:p>
            <a:pPr lvl="1"/>
            <a:r>
              <a:rPr lang="en-US" dirty="0"/>
              <a:t>where the loader modifies a program executable so that all addresses are adjusted properly </a:t>
            </a:r>
          </a:p>
          <a:p>
            <a:pPr lvl="1"/>
            <a:r>
              <a:rPr lang="en-US" dirty="0" err="1"/>
              <a:t>Relocatable</a:t>
            </a:r>
            <a:r>
              <a:rPr lang="en-US" dirty="0"/>
              <a:t> code </a:t>
            </a:r>
          </a:p>
          <a:p>
            <a:pPr lvl="2"/>
            <a:r>
              <a:rPr lang="en-US" dirty="0" smtClean="0"/>
              <a:t>Slow </a:t>
            </a:r>
            <a:r>
              <a:rPr lang="en-US" dirty="0"/>
              <a:t>load time since executable code needs to be modified.</a:t>
            </a:r>
          </a:p>
          <a:p>
            <a:pPr lvl="2"/>
            <a:r>
              <a:rPr lang="en-US" dirty="0"/>
              <a:t>Requires a writeable code segment, which could pose </a:t>
            </a:r>
            <a:r>
              <a:rPr lang="en-US" dirty="0" smtClean="0"/>
              <a:t>problems</a:t>
            </a:r>
            <a:endParaRPr lang="en-US" sz="3200" dirty="0" smtClean="0">
              <a:solidFill>
                <a:srgbClr val="660066"/>
              </a:solidFill>
            </a:endParaRPr>
          </a:p>
          <a:p>
            <a:r>
              <a:rPr lang="en-US" sz="2800" b="1" dirty="0" smtClean="0">
                <a:solidFill>
                  <a:srgbClr val="660066"/>
                </a:solidFill>
              </a:rPr>
              <a:t>PIE : position independent executable</a:t>
            </a:r>
          </a:p>
          <a:p>
            <a:pPr lvl="1"/>
            <a:r>
              <a:rPr lang="en-US" sz="2400" dirty="0" err="1" smtClean="0"/>
              <a:t>a.k.a</a:t>
            </a:r>
            <a:r>
              <a:rPr lang="en-US" sz="2400" dirty="0" smtClean="0"/>
              <a:t> PIC (position independent code)</a:t>
            </a:r>
          </a:p>
          <a:p>
            <a:pPr lvl="1"/>
            <a:r>
              <a:rPr lang="en-US" sz="2400" dirty="0"/>
              <a:t>c</a:t>
            </a:r>
            <a:r>
              <a:rPr lang="en-US" sz="2400" dirty="0" smtClean="0"/>
              <a:t>ode that executes properly irrespective of its absolute address</a:t>
            </a:r>
          </a:p>
          <a:p>
            <a:pPr lvl="1"/>
            <a:r>
              <a:rPr lang="en-US" sz="2400" dirty="0" smtClean="0"/>
              <a:t>Used extensively in shared libraries</a:t>
            </a:r>
          </a:p>
          <a:p>
            <a:pPr lvl="2"/>
            <a:r>
              <a:rPr lang="en-US" sz="2000" dirty="0" smtClean="0"/>
              <a:t>Easy to find a location where to load them without overlapping with other modules</a:t>
            </a:r>
          </a:p>
          <a:p>
            <a:pPr lvl="1"/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0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Time </a:t>
            </a:r>
            <a:r>
              <a:rPr lang="en-US" dirty="0" err="1" smtClean="0"/>
              <a:t>Relocatable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3228"/>
            <a:ext cx="3175000" cy="1571625"/>
          </a:xfrm>
          <a:prstGeom prst="rect">
            <a:avLst/>
          </a:prstGeom>
          <a:ln w="57150" cmpd="sng">
            <a:solidFill>
              <a:srgbClr val="4F81BD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78" y="2802071"/>
            <a:ext cx="3822700" cy="428625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41111" y="825500"/>
            <a:ext cx="479778" cy="3280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15663" y="4775939"/>
            <a:ext cx="7591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://chetrebeiro@bitbucket.org/casl/</a:t>
            </a:r>
            <a:r>
              <a:rPr lang="en-US" dirty="0" smtClean="0">
                <a:hlinkClick r:id="rId4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relocgot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2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Time </a:t>
            </a:r>
            <a:r>
              <a:rPr lang="en-US" dirty="0" err="1" smtClean="0"/>
              <a:t>Relocatable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3228"/>
            <a:ext cx="3175000" cy="1571625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8" y="1423062"/>
            <a:ext cx="4889500" cy="1028700"/>
          </a:xfrm>
          <a:prstGeom prst="rect">
            <a:avLst/>
          </a:prstGeom>
          <a:ln w="57150" cmpd="sng">
            <a:solidFill>
              <a:srgbClr val="4F81BD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970341" y="2943210"/>
            <a:ext cx="4393075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66006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note the 0x0 here</a:t>
            </a:r>
            <a:r>
              <a:rPr lang="is-IS" dirty="0" smtClean="0"/>
              <a:t>… </a:t>
            </a:r>
            <a:br>
              <a:rPr lang="is-IS" dirty="0" smtClean="0"/>
            </a:br>
            <a:r>
              <a:rPr lang="is-IS" dirty="0" smtClean="0"/>
              <a:t>the actual address of mylib_int is not filled in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783670" y="2127251"/>
            <a:ext cx="2003777" cy="815959"/>
          </a:xfrm>
          <a:prstGeom prst="straightConnector1">
            <a:avLst/>
          </a:prstGeom>
          <a:ln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30449" y="1153583"/>
            <a:ext cx="479778" cy="3280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Time </a:t>
            </a:r>
            <a:r>
              <a:rPr lang="en-US" dirty="0" err="1" smtClean="0"/>
              <a:t>Relocatable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3228"/>
            <a:ext cx="3175000" cy="1571625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8" y="1423062"/>
            <a:ext cx="4889500" cy="1028700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5152"/>
            <a:ext cx="6096000" cy="1400175"/>
          </a:xfrm>
          <a:prstGeom prst="rect">
            <a:avLst/>
          </a:prstGeom>
          <a:ln w="57150" cmpd="sng">
            <a:solidFill>
              <a:srgbClr val="4F81B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1452" y="2451764"/>
            <a:ext cx="4256243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660066"/>
            </a:solidFill>
          </a:ln>
        </p:spPr>
        <p:txBody>
          <a:bodyPr wrap="none" rtlCol="0">
            <a:spAutoFit/>
          </a:bodyPr>
          <a:lstStyle/>
          <a:p>
            <a:r>
              <a:rPr lang="x-none" dirty="0" smtClean="0"/>
              <a:t>Relocatable table present in the executable</a:t>
            </a:r>
            <a:br>
              <a:rPr lang="x-none" dirty="0" smtClean="0"/>
            </a:br>
            <a:r>
              <a:rPr lang="x-none" dirty="0" smtClean="0"/>
              <a:t>that contains all references of mylib_int</a:t>
            </a:r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>
            <a:off x="5559778" y="3746501"/>
            <a:ext cx="155222" cy="317501"/>
          </a:xfrm>
          <a:prstGeom prst="rightBrace">
            <a:avLst/>
          </a:prstGeom>
          <a:ln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715004" y="3098095"/>
            <a:ext cx="1439332" cy="817738"/>
          </a:xfrm>
          <a:prstGeom prst="straightConnector1">
            <a:avLst/>
          </a:prstGeom>
          <a:ln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7311" y="2852843"/>
            <a:ext cx="479778" cy="3280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57784" y="4815429"/>
            <a:ext cx="4857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Offset in memory where the fix needs to be made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369166" y="3746501"/>
            <a:ext cx="914400" cy="317501"/>
          </a:xfrm>
          <a:prstGeom prst="roundRect">
            <a:avLst/>
          </a:prstGeom>
          <a:noFill/>
          <a:ln w="19050" cmpd="sng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57785" y="4064000"/>
            <a:ext cx="155591" cy="840120"/>
          </a:xfrm>
          <a:prstGeom prst="straightConnector1">
            <a:avLst/>
          </a:prstGeom>
          <a:ln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02427" y="3757084"/>
            <a:ext cx="914400" cy="317501"/>
          </a:xfrm>
          <a:prstGeom prst="roundRect">
            <a:avLst/>
          </a:prstGeom>
          <a:noFill/>
          <a:ln w="19050" cmpd="sng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537000" y="4064000"/>
            <a:ext cx="155591" cy="637470"/>
          </a:xfrm>
          <a:prstGeom prst="straightConnector1">
            <a:avLst/>
          </a:prstGeom>
          <a:ln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40769" y="4593368"/>
            <a:ext cx="485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Store binary value in the symbol memory 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Time </a:t>
            </a:r>
            <a:r>
              <a:rPr lang="en-US" dirty="0" err="1" smtClean="0"/>
              <a:t>Relocatable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3228"/>
            <a:ext cx="3175000" cy="157162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solidFill>
              <a:srgbClr val="4F81BD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8" y="1423062"/>
            <a:ext cx="4889500" cy="102870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solidFill>
              <a:srgbClr val="4F81BD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5152"/>
            <a:ext cx="6096000" cy="140017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solidFill>
              <a:srgbClr val="4F81BD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49" y="2720579"/>
            <a:ext cx="4953000" cy="1543050"/>
          </a:xfrm>
          <a:prstGeom prst="rect">
            <a:avLst/>
          </a:prstGeom>
          <a:ln w="57150" cmpd="sng">
            <a:solidFill>
              <a:srgbClr val="00009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1449" y="2235833"/>
            <a:ext cx="4737194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660066"/>
            </a:solidFill>
          </a:ln>
        </p:spPr>
        <p:txBody>
          <a:bodyPr wrap="none" rtlCol="0">
            <a:spAutoFit/>
          </a:bodyPr>
          <a:lstStyle/>
          <a:p>
            <a:r>
              <a:rPr lang="x-none" dirty="0" smtClean="0"/>
              <a:t>The loader fills in the actual address of mylib_int</a:t>
            </a:r>
            <a:br>
              <a:rPr lang="x-none" dirty="0" smtClean="0"/>
            </a:br>
            <a:r>
              <a:rPr lang="x-none" dirty="0" smtClean="0"/>
              <a:t>at run time.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657670" y="2882164"/>
            <a:ext cx="1638937" cy="811921"/>
          </a:xfrm>
          <a:prstGeom prst="straightConnector1">
            <a:avLst/>
          </a:prstGeom>
          <a:ln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94489" y="2556539"/>
            <a:ext cx="479778" cy="32808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Time </a:t>
            </a:r>
            <a:r>
              <a:rPr lang="en-US" dirty="0" err="1" smtClean="0"/>
              <a:t>Relocatable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0222" y="1280584"/>
            <a:ext cx="777522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Limitations</a:t>
            </a:r>
            <a:endParaRPr lang="en-US" b="1" dirty="0" smtClean="0"/>
          </a:p>
          <a:p>
            <a:endParaRPr lang="en-US" dirty="0" smtClean="0"/>
          </a:p>
          <a:p>
            <a:pPr marL="285750" indent="-285750">
              <a:buFontTx/>
              <a:buChar char="•"/>
            </a:pPr>
            <a:r>
              <a:rPr lang="en-US" sz="2000" dirty="0" smtClean="0"/>
              <a:t>Slow </a:t>
            </a:r>
            <a:r>
              <a:rPr lang="en-US" sz="2000" dirty="0"/>
              <a:t>load time since executable code needs to be </a:t>
            </a:r>
            <a:r>
              <a:rPr lang="en-US" sz="2000" dirty="0" smtClean="0"/>
              <a:t>modified</a:t>
            </a:r>
          </a:p>
          <a:p>
            <a:endParaRPr lang="en-US" sz="2000" dirty="0" smtClean="0"/>
          </a:p>
          <a:p>
            <a:pPr marL="285750" lvl="2" indent="-285750">
              <a:buFontTx/>
              <a:buChar char="•"/>
            </a:pPr>
            <a:r>
              <a:rPr lang="en-US" sz="2000" dirty="0" smtClean="0"/>
              <a:t>Requires a writeable code segment, which could pose problems.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 smtClean="0"/>
          </a:p>
          <a:p>
            <a:pPr marL="285750" lvl="2" indent="-285750">
              <a:buFontTx/>
              <a:buChar char="•"/>
            </a:pPr>
            <a:r>
              <a:rPr lang="en-US" sz="2000" dirty="0" smtClean="0"/>
              <a:t>Since executable code of each program needs to be customized, it would prevent sharing of code sections</a:t>
            </a:r>
            <a:endParaRPr lang="en-US" sz="3600" dirty="0" smtClean="0">
              <a:solidFill>
                <a:srgbClr val="660066"/>
              </a:solidFill>
            </a:endParaRPr>
          </a:p>
          <a:p>
            <a:pPr marL="285750" indent="-285750">
              <a:buFontTx/>
              <a:buChar char="•"/>
            </a:pPr>
            <a:endParaRPr lang="en-US" sz="2000" dirty="0" smtClean="0"/>
          </a:p>
          <a:p>
            <a:pPr marL="285750" indent="-285750">
              <a:buFontTx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28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 Internals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An additional level of indirection for all global data and function references</a:t>
            </a:r>
          </a:p>
          <a:p>
            <a:r>
              <a:rPr lang="en-US" sz="2400" dirty="0" smtClean="0"/>
              <a:t>Uses a lot of relative addressing schemes and a global offset table (GOT)</a:t>
            </a:r>
          </a:p>
          <a:p>
            <a:r>
              <a:rPr lang="en-US" sz="2400" dirty="0" smtClean="0"/>
              <a:t>For relative addressing,</a:t>
            </a:r>
          </a:p>
          <a:p>
            <a:pPr lvl="1"/>
            <a:r>
              <a:rPr lang="en-US" sz="2000" dirty="0" smtClean="0"/>
              <a:t>data loads and stores should not be at absolute addresses but must be relative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1688" y="4497759"/>
            <a:ext cx="7884068" cy="58477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Details about PIC and GOT taken from </a:t>
            </a:r>
            <a:r>
              <a:rPr lang="is-IS" sz="1600" dirty="0" smtClean="0"/>
              <a:t>…</a:t>
            </a:r>
            <a:endParaRPr lang="en-US" sz="1600" dirty="0" smtClean="0"/>
          </a:p>
          <a:p>
            <a:r>
              <a:rPr lang="en-US" sz="1600" dirty="0" smtClean="0"/>
              <a:t>http</a:t>
            </a:r>
            <a:r>
              <a:rPr lang="en-US" sz="1600" dirty="0"/>
              <a:t>://</a:t>
            </a:r>
            <a:r>
              <a:rPr lang="en-US" sz="1600" dirty="0" err="1"/>
              <a:t>eli.thegreenplace.net</a:t>
            </a:r>
            <a:r>
              <a:rPr lang="en-US" sz="1600" dirty="0"/>
              <a:t>/2011/11/03/position-independent-code-pic-in-shared-libraries/</a:t>
            </a:r>
          </a:p>
        </p:txBody>
      </p:sp>
    </p:spTree>
    <p:extLst>
      <p:ext uri="{BB962C8B-B14F-4D97-AF65-F5344CB8AC3E}">
        <p14:creationId xmlns:p14="http://schemas.microsoft.com/office/powerpoint/2010/main" val="238910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 Offset Table (GOT)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1117213"/>
            <a:ext cx="5422241" cy="3394472"/>
          </a:xfrm>
        </p:spPr>
        <p:txBody>
          <a:bodyPr>
            <a:normAutofit/>
          </a:bodyPr>
          <a:lstStyle/>
          <a:p>
            <a:r>
              <a:rPr lang="en-US" sz="1400" dirty="0" smtClean="0"/>
              <a:t>Table at a fixed (known) location in memory space and known to the linker</a:t>
            </a:r>
          </a:p>
          <a:p>
            <a:r>
              <a:rPr lang="en-US" sz="1400" dirty="0" smtClean="0"/>
              <a:t>Has the location of the absolute address of variables and functions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998" y="1391573"/>
            <a:ext cx="3162002" cy="33092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41" y="2060984"/>
            <a:ext cx="4973714" cy="6146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0721" y="2124993"/>
            <a:ext cx="4846055" cy="4585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41" y="2749487"/>
            <a:ext cx="5245100" cy="2095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0721" y="2812508"/>
            <a:ext cx="5093923" cy="195809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3" y="1858099"/>
            <a:ext cx="145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660066"/>
                </a:solidFill>
              </a:rPr>
              <a:t>Without GOT</a:t>
            </a:r>
            <a:endParaRPr lang="en-US" b="1" dirty="0">
              <a:solidFill>
                <a:srgbClr val="66006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3" y="2560576"/>
            <a:ext cx="112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660066"/>
                </a:solidFill>
              </a:rPr>
              <a:t>With GOT</a:t>
            </a:r>
            <a:endParaRPr lang="en-US" b="1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80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Enforcing Relative Addressing</a:t>
            </a:r>
            <a:br>
              <a:rPr lang="en-US" dirty="0" smtClean="0"/>
            </a:br>
            <a:r>
              <a:rPr lang="en-US" dirty="0" smtClean="0"/>
              <a:t>(example)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79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1"/>
            <a:ext cx="3175000" cy="1571625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8" y="1426238"/>
            <a:ext cx="4889500" cy="1028700"/>
          </a:xfrm>
          <a:prstGeom prst="rect">
            <a:avLst/>
          </a:prstGeom>
          <a:ln>
            <a:solidFill>
              <a:srgbClr val="4F81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970339" y="1149239"/>
            <a:ext cx="2750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With load time </a:t>
            </a:r>
            <a:r>
              <a:rPr lang="en-US" b="1" dirty="0" err="1" smtClean="0"/>
              <a:t>relocatable</a:t>
            </a:r>
            <a:endParaRPr lang="en-US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338" y="2813051"/>
            <a:ext cx="6286500" cy="1381125"/>
          </a:xfrm>
          <a:prstGeom prst="rect">
            <a:avLst/>
          </a:prstGeom>
          <a:ln w="57150" cmpd="sng">
            <a:solidFill>
              <a:srgbClr val="00009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152914" y="2471916"/>
            <a:ext cx="101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With PIC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338" y="4271447"/>
            <a:ext cx="4584700" cy="438150"/>
          </a:xfrm>
          <a:prstGeom prst="rect">
            <a:avLst/>
          </a:prstGeom>
          <a:ln w="38100" cmpd="sng">
            <a:solidFill>
              <a:srgbClr val="000090"/>
            </a:solidFill>
          </a:ln>
        </p:spPr>
      </p:pic>
    </p:spTree>
    <p:extLst>
      <p:ext uri="{BB962C8B-B14F-4D97-AF65-F5344CB8AC3E}">
        <p14:creationId xmlns:p14="http://schemas.microsoft.com/office/powerpoint/2010/main" val="223598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Enforcing Relative Addressing</a:t>
            </a:r>
            <a:br>
              <a:rPr lang="en-US" dirty="0" smtClean="0"/>
            </a:br>
            <a:r>
              <a:rPr lang="en-US" dirty="0" smtClean="0"/>
              <a:t>(example)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1"/>
            <a:ext cx="3175000" cy="1571625"/>
          </a:xfrm>
          <a:prstGeom prst="rect">
            <a:avLst/>
          </a:prstGeom>
          <a:ln>
            <a:solidFill>
              <a:srgbClr val="4F81BD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8" y="1426238"/>
            <a:ext cx="4889500" cy="1028700"/>
          </a:xfrm>
          <a:prstGeom prst="rect">
            <a:avLst/>
          </a:prstGeom>
          <a:ln>
            <a:solidFill>
              <a:srgbClr val="4F81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970339" y="1149239"/>
            <a:ext cx="2750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With load time </a:t>
            </a:r>
            <a:r>
              <a:rPr lang="en-US" b="1" dirty="0" err="1" smtClean="0"/>
              <a:t>relocatable</a:t>
            </a:r>
            <a:endParaRPr lang="en-US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338" y="2813051"/>
            <a:ext cx="6286500" cy="1381125"/>
          </a:xfrm>
          <a:prstGeom prst="rect">
            <a:avLst/>
          </a:prstGeom>
          <a:ln>
            <a:solidFill>
              <a:srgbClr val="00009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152914" y="2536051"/>
            <a:ext cx="101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With PIC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338" y="4271447"/>
            <a:ext cx="4584700" cy="438150"/>
          </a:xfrm>
          <a:prstGeom prst="rect">
            <a:avLst/>
          </a:prstGeom>
          <a:ln>
            <a:solidFill>
              <a:srgbClr val="00009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18785" y="2855458"/>
            <a:ext cx="2436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Get address of next instruction</a:t>
            </a:r>
            <a:br>
              <a:rPr lang="en-US" sz="1400" dirty="0" smtClean="0"/>
            </a:br>
            <a:r>
              <a:rPr lang="en-US" sz="1400" dirty="0" smtClean="0"/>
              <a:t>to achieve relativeness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207226" y="3312371"/>
            <a:ext cx="24839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Index into GOT and get the </a:t>
            </a:r>
            <a:br>
              <a:rPr lang="en-US" sz="1400" dirty="0" smtClean="0"/>
            </a:br>
            <a:r>
              <a:rPr lang="en-US" sz="1400" dirty="0" smtClean="0"/>
              <a:t>actual address of </a:t>
            </a:r>
            <a:r>
              <a:rPr lang="en-US" sz="1400" dirty="0" err="1" smtClean="0"/>
              <a:t>mylib_int</a:t>
            </a:r>
            <a:r>
              <a:rPr lang="en-US" sz="1400" dirty="0" smtClean="0"/>
              <a:t> into</a:t>
            </a:r>
            <a:br>
              <a:rPr lang="en-US" sz="1400" dirty="0" smtClean="0"/>
            </a:br>
            <a:r>
              <a:rPr lang="en-US" sz="1400" dirty="0" err="1" smtClean="0"/>
              <a:t>eax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277389" y="3917176"/>
            <a:ext cx="206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Now work with the actual </a:t>
            </a:r>
            <a:br>
              <a:rPr lang="en-US" sz="1400" dirty="0" smtClean="0"/>
            </a:br>
            <a:r>
              <a:rPr lang="en-US" sz="1400" dirty="0" smtClean="0"/>
              <a:t>address.</a:t>
            </a:r>
            <a:endParaRPr lang="en-US" sz="1400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448755" y="2998283"/>
            <a:ext cx="2987848" cy="314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341927" y="3446702"/>
            <a:ext cx="3094676" cy="1370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8" idx="3"/>
          </p:cNvCxnSpPr>
          <p:nvPr/>
        </p:nvCxnSpPr>
        <p:spPr>
          <a:xfrm flipV="1">
            <a:off x="2341927" y="3807588"/>
            <a:ext cx="3027784" cy="3711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66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 of the GOT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With load time </a:t>
            </a:r>
            <a:r>
              <a:rPr lang="en-US" sz="2000" dirty="0" err="1" smtClean="0"/>
              <a:t>relocatable</a:t>
            </a:r>
            <a:r>
              <a:rPr lang="en-US" sz="2000" dirty="0" smtClean="0"/>
              <a:t> code, every variable reference would need to be changed</a:t>
            </a:r>
          </a:p>
          <a:p>
            <a:pPr lvl="1"/>
            <a:r>
              <a:rPr lang="en-US" sz="1800" dirty="0" smtClean="0"/>
              <a:t>Requires writeable code segments</a:t>
            </a:r>
          </a:p>
          <a:p>
            <a:pPr lvl="1"/>
            <a:r>
              <a:rPr lang="en-US" sz="1800" dirty="0" smtClean="0"/>
              <a:t>Huge overheads during load time</a:t>
            </a:r>
          </a:p>
          <a:p>
            <a:pPr lvl="1"/>
            <a:r>
              <a:rPr lang="en-US" sz="1800" dirty="0" smtClean="0"/>
              <a:t>Code pages cannot be shared</a:t>
            </a:r>
          </a:p>
          <a:p>
            <a:r>
              <a:rPr lang="en-US" sz="2000" dirty="0" smtClean="0"/>
              <a:t>With GOT, the GOT table needs to be constructed just once during the execution</a:t>
            </a:r>
          </a:p>
          <a:p>
            <a:pPr lvl="1"/>
            <a:r>
              <a:rPr lang="en-US" sz="1800" dirty="0" smtClean="0"/>
              <a:t>GOT is in the data segment, which is writeable</a:t>
            </a:r>
          </a:p>
          <a:p>
            <a:pPr lvl="1"/>
            <a:r>
              <a:rPr lang="en-US" sz="1800" dirty="0" smtClean="0"/>
              <a:t>Data pages are not shared anyway</a:t>
            </a:r>
          </a:p>
          <a:p>
            <a:pPr lvl="1"/>
            <a:r>
              <a:rPr lang="en-US" sz="1800" dirty="0" smtClean="0"/>
              <a:t>Drawback : runtime overheads due to multiple loads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6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of working with GOT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23" y="1238251"/>
            <a:ext cx="2895600" cy="88582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72526" y="2150531"/>
            <a:ext cx="3295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</a:t>
            </a:r>
            <a:r>
              <a:rPr lang="en-US" dirty="0" err="1" smtClean="0"/>
              <a:t>gcc</a:t>
            </a:r>
            <a:r>
              <a:rPr lang="en-US" dirty="0" smtClean="0"/>
              <a:t> –m32 –shared –</a:t>
            </a:r>
            <a:r>
              <a:rPr lang="en-US" dirty="0" err="1" smtClean="0"/>
              <a:t>fpic</a:t>
            </a:r>
            <a:r>
              <a:rPr lang="en-US" dirty="0" smtClean="0"/>
              <a:t> –S </a:t>
            </a:r>
            <a:r>
              <a:rPr lang="en-US" dirty="0" err="1" smtClean="0"/>
              <a:t>got.c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4830" y="2543880"/>
            <a:ext cx="4980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Besides </a:t>
            </a:r>
            <a:r>
              <a:rPr lang="en-US" dirty="0" err="1" smtClean="0"/>
              <a:t>a.out</a:t>
            </a:r>
            <a:r>
              <a:rPr lang="en-US" dirty="0" smtClean="0"/>
              <a:t>, this compilation also generates </a:t>
            </a:r>
            <a:r>
              <a:rPr lang="en-US" dirty="0" err="1" smtClean="0"/>
              <a:t>got.s</a:t>
            </a:r>
            <a:endParaRPr lang="en-US" dirty="0" smtClean="0"/>
          </a:p>
          <a:p>
            <a:r>
              <a:rPr lang="en-US" dirty="0" smtClean="0"/>
              <a:t>The assembly code for the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75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0917"/>
            <a:ext cx="7162800" cy="4295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68939" y="590854"/>
            <a:ext cx="1093656" cy="30777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/>
              <a:t>Data section</a:t>
            </a:r>
            <a:endParaRPr lang="en-US" sz="14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716798" y="729352"/>
            <a:ext cx="375214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716798" y="1496234"/>
            <a:ext cx="375214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68940" y="1357736"/>
            <a:ext cx="1065779" cy="30777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/>
              <a:t>Text section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468938" y="4144100"/>
            <a:ext cx="3687378" cy="95410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/>
              <a:t>Fills %</a:t>
            </a:r>
            <a:r>
              <a:rPr lang="en-US" sz="1400" dirty="0" err="1" smtClean="0"/>
              <a:t>ecx</a:t>
            </a:r>
            <a:r>
              <a:rPr lang="en-US" sz="1400" dirty="0" smtClean="0"/>
              <a:t> with the </a:t>
            </a:r>
            <a:r>
              <a:rPr lang="en-US" sz="1400" dirty="0" err="1" smtClean="0"/>
              <a:t>eip</a:t>
            </a:r>
            <a:r>
              <a:rPr lang="en-US" sz="1400" dirty="0" smtClean="0"/>
              <a:t> of the next</a:t>
            </a:r>
            <a:br>
              <a:rPr lang="en-US" sz="1400" dirty="0" smtClean="0"/>
            </a:br>
            <a:r>
              <a:rPr lang="en-US" sz="1400" dirty="0" smtClean="0"/>
              <a:t>instruction. </a:t>
            </a:r>
            <a:br>
              <a:rPr lang="en-US" sz="1400" dirty="0" smtClean="0"/>
            </a:br>
            <a:r>
              <a:rPr lang="en-US" sz="1400" dirty="0" smtClean="0"/>
              <a:t>Why do we need this indirect way of doing this?</a:t>
            </a:r>
          </a:p>
          <a:p>
            <a:r>
              <a:rPr lang="en-US" sz="1400" dirty="0" smtClean="0"/>
              <a:t>In this case what will %</a:t>
            </a:r>
            <a:r>
              <a:rPr lang="en-US" sz="1400" dirty="0" err="1" smtClean="0"/>
              <a:t>ecx</a:t>
            </a:r>
            <a:r>
              <a:rPr lang="en-US" sz="1400" dirty="0" smtClean="0"/>
              <a:t> contain?</a:t>
            </a:r>
            <a:endParaRPr lang="en-US" sz="14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551680" y="4144098"/>
            <a:ext cx="29172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420874" y="2089554"/>
            <a:ext cx="1048064" cy="361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68938" y="2089553"/>
            <a:ext cx="3538874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/>
              <a:t>The macro for the GOT is known by the linker.</a:t>
            </a:r>
          </a:p>
          <a:p>
            <a:r>
              <a:rPr lang="en-US" sz="1400" dirty="0" smtClean="0"/>
              <a:t>%</a:t>
            </a:r>
            <a:r>
              <a:rPr lang="en-US" sz="1400" dirty="0" err="1" smtClean="0"/>
              <a:t>ecx</a:t>
            </a:r>
            <a:r>
              <a:rPr lang="en-US" sz="1400" dirty="0" smtClean="0"/>
              <a:t> will now contain the offset to GOT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468938" y="2596268"/>
            <a:ext cx="3548430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/>
              <a:t>Load the absolute address of </a:t>
            </a:r>
            <a:r>
              <a:rPr lang="en-US" sz="1400" dirty="0" err="1" smtClean="0"/>
              <a:t>myglob</a:t>
            </a:r>
            <a:r>
              <a:rPr lang="en-US" sz="1400" dirty="0" smtClean="0"/>
              <a:t> from the</a:t>
            </a:r>
            <a:br>
              <a:rPr lang="en-US" sz="1400" dirty="0" smtClean="0"/>
            </a:br>
            <a:r>
              <a:rPr lang="en-US" sz="1400" dirty="0" smtClean="0"/>
              <a:t>GOT into %</a:t>
            </a:r>
            <a:r>
              <a:rPr lang="en-US" sz="1400" dirty="0" err="1" smtClean="0"/>
              <a:t>eax</a:t>
            </a:r>
            <a:endParaRPr lang="en-US" sz="14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896842" y="2596268"/>
            <a:ext cx="15720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80222" y="321733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0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33" y="1088171"/>
            <a:ext cx="7315200" cy="351472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0909" y="4303178"/>
            <a:ext cx="5503156" cy="158737"/>
          </a:xfrm>
          <a:prstGeom prst="roundRect">
            <a:avLst/>
          </a:prstGeom>
          <a:noFill/>
          <a:ln w="28575" cmpd="sng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730868" y="2001843"/>
            <a:ext cx="6417954" cy="2033304"/>
            <a:chOff x="2730868" y="2669123"/>
            <a:chExt cx="6417954" cy="2711072"/>
          </a:xfrm>
        </p:grpSpPr>
        <p:sp>
          <p:nvSpPr>
            <p:cNvPr id="10" name="Rectangle 9"/>
            <p:cNvSpPr/>
            <p:nvPr/>
          </p:nvSpPr>
          <p:spPr>
            <a:xfrm>
              <a:off x="2730868" y="2669123"/>
              <a:ext cx="6415940" cy="186956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488" y="2798439"/>
              <a:ext cx="6108700" cy="1612900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sp>
          <p:nvSpPr>
            <p:cNvPr id="3" name="Rounded Rectangle 2"/>
            <p:cNvSpPr/>
            <p:nvPr/>
          </p:nvSpPr>
          <p:spPr>
            <a:xfrm>
              <a:off x="2884488" y="4021322"/>
              <a:ext cx="4982204" cy="211649"/>
            </a:xfrm>
            <a:prstGeom prst="roundRect">
              <a:avLst/>
            </a:prstGeom>
            <a:noFill/>
            <a:ln w="28575" cmpd="sng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0169" y="4682568"/>
              <a:ext cx="1378653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offset of </a:t>
              </a:r>
              <a:r>
                <a:rPr lang="en-US" sz="1400" dirty="0" err="1" smtClean="0"/>
                <a:t>myglob</a:t>
              </a:r>
              <a:r>
                <a:rPr lang="en-US" sz="1400" dirty="0" smtClean="0"/>
                <a:t/>
              </a:r>
              <a:br>
                <a:rPr lang="en-US" sz="1400" dirty="0" smtClean="0"/>
              </a:br>
              <a:r>
                <a:rPr lang="en-US" sz="1400" dirty="0" smtClean="0"/>
                <a:t>in GOT</a:t>
              </a:r>
              <a:endParaRPr lang="en-US" sz="1400" dirty="0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7589520" y="4232971"/>
              <a:ext cx="277172" cy="57270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7772977" y="4106971"/>
            <a:ext cx="704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GOT it! </a:t>
            </a:r>
            <a:endParaRPr lang="en-US" sz="1400" dirty="0"/>
          </a:p>
        </p:txBody>
      </p:sp>
      <p:cxnSp>
        <p:nvCxnSpPr>
          <p:cNvPr id="15" name="Straight Arrow Connector 14"/>
          <p:cNvCxnSpPr>
            <a:stCxn id="13" idx="1"/>
          </p:cNvCxnSpPr>
          <p:nvPr/>
        </p:nvCxnSpPr>
        <p:spPr>
          <a:xfrm flipH="1">
            <a:off x="6057077" y="4260860"/>
            <a:ext cx="1715900" cy="12503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9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Deep Within the Kernel </a:t>
            </a:r>
            <a:br>
              <a:rPr lang="en-US" sz="3200" dirty="0" smtClean="0"/>
            </a:br>
            <a:r>
              <a:rPr lang="en-US" sz="3200" dirty="0" smtClean="0"/>
              <a:t>(randomizing the data section)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79" y="1063229"/>
            <a:ext cx="6020262" cy="1805855"/>
          </a:xfrm>
          <a:prstGeom prst="rect">
            <a:avLst/>
          </a:prstGeom>
          <a:ln>
            <a:solidFill>
              <a:srgbClr val="660066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4" y="2734605"/>
            <a:ext cx="6112638" cy="762000"/>
          </a:xfrm>
          <a:prstGeom prst="rect">
            <a:avLst/>
          </a:prstGeom>
          <a:ln>
            <a:solidFill>
              <a:srgbClr val="660066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60432"/>
            <a:ext cx="7856110" cy="1266825"/>
          </a:xfrm>
          <a:prstGeom prst="rect">
            <a:avLst/>
          </a:prstGeom>
          <a:ln>
            <a:solidFill>
              <a:srgbClr val="66006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40382" y="845428"/>
            <a:ext cx="2340017" cy="307777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loading the executable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678591" y="1423678"/>
            <a:ext cx="2340017" cy="523220"/>
          </a:xfrm>
          <a:prstGeom prst="rect">
            <a:avLst/>
          </a:prstGeom>
          <a:noFill/>
          <a:ln>
            <a:solidFill>
              <a:srgbClr val="E6B9B8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Check if </a:t>
            </a:r>
            <a:r>
              <a:rPr lang="en-US" sz="1400" dirty="0" err="1" smtClean="0"/>
              <a:t>randomize_va_space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is &gt; 1 (it can be 1 or 2)</a:t>
            </a:r>
            <a:endParaRPr lang="en-US" sz="1400" dirty="0"/>
          </a:p>
        </p:txBody>
      </p:sp>
      <p:cxnSp>
        <p:nvCxnSpPr>
          <p:cNvPr id="16" name="Curved Connector 15"/>
          <p:cNvCxnSpPr>
            <a:endCxn id="14" idx="1"/>
          </p:cNvCxnSpPr>
          <p:nvPr/>
        </p:nvCxnSpPr>
        <p:spPr>
          <a:xfrm flipV="1">
            <a:off x="5820647" y="1685288"/>
            <a:ext cx="857944" cy="130807"/>
          </a:xfrm>
          <a:prstGeom prst="curvedConnector3">
            <a:avLst>
              <a:gd name="adj1" fmla="val 50000"/>
            </a:avLst>
          </a:prstGeom>
          <a:ln>
            <a:solidFill>
              <a:srgbClr val="E6B9B8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32012" y="2734605"/>
            <a:ext cx="2340017" cy="523220"/>
          </a:xfrm>
          <a:prstGeom prst="rect">
            <a:avLst/>
          </a:prstGeom>
          <a:noFill/>
          <a:ln>
            <a:solidFill>
              <a:srgbClr val="E6B9B8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Compute the end of the data segment (m-&gt;</a:t>
            </a:r>
            <a:r>
              <a:rPr lang="en-US" sz="1400" dirty="0" err="1" smtClean="0"/>
              <a:t>brk</a:t>
            </a:r>
            <a:r>
              <a:rPr lang="en-US" sz="1400" dirty="0" smtClean="0"/>
              <a:t> + 0x20)	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632012" y="3912010"/>
            <a:ext cx="2340017" cy="307777"/>
          </a:xfrm>
          <a:prstGeom prst="rect">
            <a:avLst/>
          </a:prstGeom>
          <a:noFill/>
          <a:ln>
            <a:solidFill>
              <a:srgbClr val="E6B9B8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Finally Randomize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9302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Calls in 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Theoretically could be done similar with the data</a:t>
            </a:r>
            <a:r>
              <a:rPr lang="is-IS" sz="2400" dirty="0" smtClean="0"/>
              <a:t>…</a:t>
            </a:r>
          </a:p>
          <a:p>
            <a:pPr lvl="1"/>
            <a:r>
              <a:rPr lang="en-US" sz="2000" dirty="0" smtClean="0"/>
              <a:t>call instruction gets location from GOT entry that is filled in during load time (this process is called binding)</a:t>
            </a:r>
          </a:p>
          <a:p>
            <a:pPr lvl="1"/>
            <a:r>
              <a:rPr lang="en-US" sz="2000" dirty="0" smtClean="0"/>
              <a:t>In practice, this is time consuming. Much more functions than global variables. Most functions in libraries are unused</a:t>
            </a:r>
          </a:p>
          <a:p>
            <a:r>
              <a:rPr lang="en-US" sz="2400" dirty="0" smtClean="0"/>
              <a:t>Lazy binding scheme</a:t>
            </a:r>
          </a:p>
          <a:p>
            <a:pPr lvl="1"/>
            <a:r>
              <a:rPr lang="en-US" sz="2000" dirty="0" smtClean="0"/>
              <a:t>Delay binding till invocation of the function</a:t>
            </a:r>
          </a:p>
          <a:p>
            <a:pPr lvl="1"/>
            <a:r>
              <a:rPr lang="en-US" sz="2000" dirty="0" smtClean="0"/>
              <a:t>Uses a double indirection – PLT – </a:t>
            </a:r>
            <a:r>
              <a:rPr lang="en-US" sz="2000" b="1" dirty="0" smtClean="0"/>
              <a:t>p</a:t>
            </a:r>
            <a:r>
              <a:rPr lang="en-US" sz="2000" dirty="0" smtClean="0"/>
              <a:t>rocedure </a:t>
            </a:r>
            <a:r>
              <a:rPr lang="en-US" sz="2000" b="1" dirty="0" smtClean="0"/>
              <a:t>l</a:t>
            </a:r>
            <a:r>
              <a:rPr lang="en-US" sz="2000" dirty="0" smtClean="0"/>
              <a:t>inkage </a:t>
            </a:r>
            <a:r>
              <a:rPr lang="en-US" sz="2000" b="1" dirty="0" smtClean="0"/>
              <a:t>t</a:t>
            </a:r>
            <a:r>
              <a:rPr lang="en-US" sz="2000" dirty="0" smtClean="0"/>
              <a:t>able in addition to GOT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7" y="1902895"/>
            <a:ext cx="6057900" cy="29337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400781" y="2032000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91000" y="1095509"/>
            <a:ext cx="4896556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 smtClean="0"/>
              <a:t>Instead of directly calling </a:t>
            </a:r>
            <a:r>
              <a:rPr lang="en-US" sz="1400" dirty="0" err="1" smtClean="0"/>
              <a:t>func</a:t>
            </a:r>
            <a:r>
              <a:rPr lang="en-US" sz="1400" dirty="0" smtClean="0"/>
              <a:t>, invoke an offset in the PLT instead.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/>
              <a:t>PLT is part of the executable text section, and consists of one entry for each external function the shared library calls.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/>
              <a:t>Each PLT entry has </a:t>
            </a:r>
            <a:br>
              <a:rPr lang="en-US" sz="1400" dirty="0" smtClean="0"/>
            </a:br>
            <a:r>
              <a:rPr lang="en-US" sz="1400" dirty="0" smtClean="0"/>
              <a:t>	a jump location to a specific GOT entry</a:t>
            </a:r>
          </a:p>
          <a:p>
            <a:pPr lvl="1"/>
            <a:r>
              <a:rPr lang="en-US" sz="1400" dirty="0" smtClean="0"/>
              <a:t>Preparation of arguments for a ‘resolver’ </a:t>
            </a:r>
          </a:p>
          <a:p>
            <a:pPr lvl="1"/>
            <a:r>
              <a:rPr lang="en-US" sz="1400" dirty="0" smtClean="0"/>
              <a:t>Call to resolver function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2750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Invocation of </a:t>
            </a:r>
            <a:r>
              <a:rPr lang="en-US" dirty="0" err="1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First Invocation of </a:t>
            </a:r>
            <a:r>
              <a:rPr lang="en-US" sz="2400" dirty="0" err="1" smtClean="0"/>
              <a:t>func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1881729"/>
            <a:ext cx="6057900" cy="29337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769559" y="2042584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879625" y="3278718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249336" y="1326238"/>
            <a:ext cx="2939907" cy="954107"/>
          </a:xfrm>
          <a:prstGeom prst="rect">
            <a:avLst/>
          </a:prstGeom>
          <a:noFill/>
          <a:ln>
            <a:solidFill>
              <a:srgbClr val="E6B9B8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/>
              <a:t>(steps 2 and 3)</a:t>
            </a:r>
          </a:p>
          <a:p>
            <a:r>
              <a:rPr lang="en-US" sz="1400" dirty="0" smtClean="0"/>
              <a:t>On first invocation of </a:t>
            </a:r>
            <a:r>
              <a:rPr lang="en-US" sz="1400" dirty="0" err="1" smtClean="0"/>
              <a:t>func</a:t>
            </a:r>
            <a:r>
              <a:rPr lang="en-US" sz="1400" dirty="0" smtClean="0"/>
              <a:t>, PLT[n]</a:t>
            </a:r>
            <a:br>
              <a:rPr lang="en-US" sz="1400" dirty="0" smtClean="0"/>
            </a:br>
            <a:r>
              <a:rPr lang="en-US" sz="1400" dirty="0" smtClean="0"/>
              <a:t>jumps to GOT[n],  which simply jumps</a:t>
            </a:r>
          </a:p>
          <a:p>
            <a:r>
              <a:rPr lang="en-US" sz="1400" dirty="0" smtClean="0"/>
              <a:t>back to PLT[n]</a:t>
            </a:r>
            <a:endParaRPr lang="en-US" sz="1400" dirty="0"/>
          </a:p>
        </p:txBody>
      </p:sp>
      <p:sp>
        <p:nvSpPr>
          <p:cNvPr id="10" name="Oval 9"/>
          <p:cNvSpPr/>
          <p:nvPr/>
        </p:nvSpPr>
        <p:spPr>
          <a:xfrm>
            <a:off x="6920092" y="3848101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0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Invocation of </a:t>
            </a:r>
            <a:r>
              <a:rPr lang="en-US" dirty="0" err="1" smtClean="0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89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89" y="1881729"/>
            <a:ext cx="6057900" cy="29337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802948" y="2042584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913014" y="3278718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71534" y="894427"/>
            <a:ext cx="3784601" cy="2123658"/>
          </a:xfrm>
          <a:prstGeom prst="rect">
            <a:avLst/>
          </a:prstGeom>
          <a:noFill/>
          <a:ln>
            <a:solidFill>
              <a:srgbClr val="E6B9B8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(step 4)</a:t>
            </a:r>
            <a:r>
              <a:rPr lang="en-US" sz="1200" dirty="0" smtClean="0"/>
              <a:t>. Invoke resolver, which </a:t>
            </a:r>
            <a:r>
              <a:rPr lang="en-US" sz="1200" b="1" dirty="0" smtClean="0"/>
              <a:t>resolves</a:t>
            </a:r>
            <a:r>
              <a:rPr lang="en-US" sz="1200" dirty="0" smtClean="0"/>
              <a:t> the actual of </a:t>
            </a:r>
            <a:r>
              <a:rPr lang="en-US" sz="1200" dirty="0" err="1" smtClean="0"/>
              <a:t>func</a:t>
            </a:r>
            <a:r>
              <a:rPr lang="en-US" sz="1200" dirty="0" smtClean="0"/>
              <a:t>, </a:t>
            </a:r>
            <a:br>
              <a:rPr lang="en-US" sz="1200" dirty="0" smtClean="0"/>
            </a:br>
            <a:r>
              <a:rPr lang="en-US" sz="1200" dirty="0" smtClean="0"/>
              <a:t>places this actual address into GOT</a:t>
            </a:r>
          </a:p>
          <a:p>
            <a:r>
              <a:rPr lang="en-US" sz="1200" dirty="0" smtClean="0"/>
              <a:t>and then invokes </a:t>
            </a:r>
            <a:r>
              <a:rPr lang="en-US" sz="1200" dirty="0" err="1" smtClean="0"/>
              <a:t>func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The arguments passed to resolver, that helps to do symbol resolution</a:t>
            </a:r>
          </a:p>
          <a:p>
            <a:endParaRPr lang="en-US" sz="1200" dirty="0"/>
          </a:p>
          <a:p>
            <a:r>
              <a:rPr lang="en-US" sz="1200" dirty="0" smtClean="0"/>
              <a:t>Note that the contents of GOT is now</a:t>
            </a:r>
            <a:br>
              <a:rPr lang="en-US" sz="1200" dirty="0" smtClean="0"/>
            </a:br>
            <a:r>
              <a:rPr lang="en-US" sz="1200" dirty="0" smtClean="0"/>
              <a:t>changed to point to the actual address</a:t>
            </a:r>
            <a:br>
              <a:rPr lang="en-US" sz="1200" dirty="0" smtClean="0"/>
            </a:br>
            <a:r>
              <a:rPr lang="en-US" sz="1200" dirty="0" smtClean="0"/>
              <a:t>of </a:t>
            </a:r>
            <a:r>
              <a:rPr lang="en-US" sz="1200" dirty="0" err="1" smtClean="0"/>
              <a:t>func</a:t>
            </a:r>
            <a:endParaRPr lang="en-US" sz="1200" dirty="0"/>
          </a:p>
        </p:txBody>
      </p:sp>
      <p:sp>
        <p:nvSpPr>
          <p:cNvPr id="10" name="Oval 9"/>
          <p:cNvSpPr/>
          <p:nvPr/>
        </p:nvSpPr>
        <p:spPr>
          <a:xfrm>
            <a:off x="5953481" y="3848101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57203" y="3824818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7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845" y="1063228"/>
            <a:ext cx="5524500" cy="3362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Subsequent invocations of </a:t>
            </a:r>
            <a:r>
              <a:rPr lang="en-US" dirty="0" err="1" smtClean="0"/>
              <a:t>Func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90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191005" y="1481667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134560" y="3382434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412092" y="3107267"/>
            <a:ext cx="479777" cy="2751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3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3" y="1063229"/>
            <a:ext cx="2933279" cy="1946118"/>
          </a:xfrm>
          <a:prstGeom prst="rect">
            <a:avLst/>
          </a:prstGeom>
          <a:ln w="38100" cmpd="sng">
            <a:solidFill>
              <a:srgbClr val="0000FF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587" y="1227970"/>
            <a:ext cx="4013200" cy="4286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5663" y="4775939"/>
            <a:ext cx="7029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://chetrebeiro@bitbucket.org/casl/</a:t>
            </a:r>
            <a:r>
              <a:rPr lang="en-US" dirty="0" smtClean="0">
                <a:hlinkClick r:id="rId4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plt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21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3" y="1063229"/>
            <a:ext cx="2933279" cy="1946118"/>
          </a:xfrm>
          <a:prstGeom prst="rect">
            <a:avLst/>
          </a:prstGeom>
          <a:ln w="38100" cmpd="sng">
            <a:solidFill>
              <a:srgbClr val="0000FF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514" y="2519666"/>
            <a:ext cx="6146800" cy="2200275"/>
          </a:xfrm>
          <a:prstGeom prst="rect">
            <a:avLst/>
          </a:prstGeom>
          <a:ln w="38100" cmpd="sng">
            <a:solidFill>
              <a:srgbClr val="0000FF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824561" y="1731096"/>
            <a:ext cx="4211835" cy="646331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Compiler converts the call to </a:t>
            </a:r>
            <a:r>
              <a:rPr lang="en-US" dirty="0" err="1" smtClean="0"/>
              <a:t>set_mylib_int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into </a:t>
            </a:r>
            <a:r>
              <a:rPr lang="en-US" dirty="0" err="1" smtClean="0"/>
              <a:t>set_mylib_int@plt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587" y="1227970"/>
            <a:ext cx="4013200" cy="428625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3" idx="2"/>
          </p:cNvCxnSpPr>
          <p:nvPr/>
        </p:nvCxnSpPr>
        <p:spPr>
          <a:xfrm>
            <a:off x="5930479" y="2377427"/>
            <a:ext cx="1278395" cy="1684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5663" y="4775939"/>
            <a:ext cx="7029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Refer </a:t>
            </a:r>
            <a:r>
              <a:rPr lang="en-US" dirty="0" smtClean="0">
                <a:hlinkClick r:id="rId5"/>
              </a:rPr>
              <a:t>https</a:t>
            </a:r>
            <a:r>
              <a:rPr lang="en-US" dirty="0">
                <a:hlinkClick r:id="rId5"/>
              </a:rPr>
              <a:t>://chetrebeiro@bitbucket.org/casl/</a:t>
            </a:r>
            <a:r>
              <a:rPr lang="en-US" dirty="0" smtClean="0">
                <a:hlinkClick r:id="rId5"/>
              </a:rPr>
              <a:t>sse.git</a:t>
            </a:r>
            <a:r>
              <a:rPr lang="en-US" dirty="0" smtClean="0"/>
              <a:t>     (directory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plt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43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14942"/>
            <a:ext cx="6096000" cy="752475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6823"/>
            <a:ext cx="5003800" cy="3038475"/>
          </a:xfrm>
          <a:prstGeom prst="rect">
            <a:avLst/>
          </a:prstGeom>
          <a:ln>
            <a:solidFill>
              <a:srgbClr val="00009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918200" y="976822"/>
            <a:ext cx="2540084" cy="1077218"/>
          </a:xfrm>
          <a:prstGeom prst="rect">
            <a:avLst/>
          </a:prstGeom>
          <a:noFill/>
          <a:ln>
            <a:solidFill>
              <a:srgbClr val="660066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ebx</a:t>
            </a:r>
            <a:r>
              <a:rPr lang="en-US" sz="1600" dirty="0" smtClean="0"/>
              <a:t> points to the GOT table</a:t>
            </a:r>
            <a:br>
              <a:rPr lang="en-US" sz="1600" dirty="0" smtClean="0"/>
            </a:br>
            <a:r>
              <a:rPr lang="en-US" sz="1600" dirty="0" err="1" smtClean="0"/>
              <a:t>ebx</a:t>
            </a:r>
            <a:r>
              <a:rPr lang="en-US" sz="1600" dirty="0" smtClean="0"/>
              <a:t> + 0x10 is the offset corresponding</a:t>
            </a:r>
            <a:br>
              <a:rPr lang="en-US" sz="1600" dirty="0" smtClean="0"/>
            </a:br>
            <a:r>
              <a:rPr lang="en-US" sz="1600" dirty="0" smtClean="0"/>
              <a:t>to </a:t>
            </a:r>
            <a:r>
              <a:rPr lang="en-US" sz="1600" dirty="0" err="1" smtClean="0"/>
              <a:t>set_mylib_int</a:t>
            </a:r>
            <a:endParaRPr lang="en-US" sz="1600" dirty="0"/>
          </a:p>
        </p:txBody>
      </p:sp>
      <p:cxnSp>
        <p:nvCxnSpPr>
          <p:cNvPr id="11" name="Straight Arrow Connector 10"/>
          <p:cNvCxnSpPr>
            <a:endCxn id="9" idx="1"/>
          </p:cNvCxnSpPr>
          <p:nvPr/>
        </p:nvCxnSpPr>
        <p:spPr>
          <a:xfrm flipV="1">
            <a:off x="4877702" y="1515431"/>
            <a:ext cx="1040498" cy="141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026746" y="4886357"/>
            <a:ext cx="4999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18200" y="2928286"/>
            <a:ext cx="2941638" cy="1077218"/>
          </a:xfrm>
          <a:prstGeom prst="rect">
            <a:avLst/>
          </a:prstGeom>
          <a:noFill/>
          <a:ln>
            <a:solidFill>
              <a:srgbClr val="660066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Offset of </a:t>
            </a:r>
            <a:r>
              <a:rPr lang="en-US" sz="1600" dirty="0" err="1" smtClean="0"/>
              <a:t>set_mylib_int</a:t>
            </a:r>
            <a:r>
              <a:rPr lang="en-US" sz="1600" dirty="0" smtClean="0"/>
              <a:t> in the GOT (+0x10).</a:t>
            </a:r>
          </a:p>
          <a:p>
            <a:r>
              <a:rPr lang="en-US" sz="1600" dirty="0" smtClean="0"/>
              <a:t>It contains the address of the next instruction (</a:t>
            </a:r>
            <a:r>
              <a:rPr lang="en-US" sz="1600" dirty="0" err="1" smtClean="0"/>
              <a:t>ie</a:t>
            </a:r>
            <a:r>
              <a:rPr lang="en-US" sz="1600" dirty="0" smtClean="0"/>
              <a:t>. 0x3c2)</a:t>
            </a:r>
            <a:endParaRPr lang="en-US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526674" y="3736201"/>
            <a:ext cx="3499516" cy="10528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85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PLT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6823"/>
            <a:ext cx="5003800" cy="3038475"/>
          </a:xfrm>
          <a:prstGeom prst="rect">
            <a:avLst/>
          </a:prstGeom>
          <a:ln>
            <a:solidFill>
              <a:srgbClr val="00009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918200" y="2354840"/>
            <a:ext cx="2540084" cy="584776"/>
          </a:xfrm>
          <a:prstGeom prst="rect">
            <a:avLst/>
          </a:prstGeom>
          <a:noFill/>
          <a:ln>
            <a:solidFill>
              <a:srgbClr val="660066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Push arguments for the resolver.</a:t>
            </a:r>
            <a:endParaRPr lang="en-US" sz="1600" dirty="0"/>
          </a:p>
        </p:txBody>
      </p:sp>
      <p:cxnSp>
        <p:nvCxnSpPr>
          <p:cNvPr id="11" name="Straight Arrow Connector 10"/>
          <p:cNvCxnSpPr>
            <a:endCxn id="9" idx="1"/>
          </p:cNvCxnSpPr>
          <p:nvPr/>
        </p:nvCxnSpPr>
        <p:spPr>
          <a:xfrm flipV="1">
            <a:off x="4918236" y="2647228"/>
            <a:ext cx="999964" cy="28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18200" y="2928287"/>
            <a:ext cx="2941638" cy="584776"/>
          </a:xfrm>
          <a:prstGeom prst="rect">
            <a:avLst/>
          </a:prstGeom>
          <a:noFill/>
          <a:ln>
            <a:solidFill>
              <a:srgbClr val="660066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Jump to the first entry of the PLT</a:t>
            </a:r>
          </a:p>
          <a:p>
            <a:r>
              <a:rPr lang="en-US" sz="1600" dirty="0" err="1" smtClean="0"/>
              <a:t>Ie</a:t>
            </a:r>
            <a:r>
              <a:rPr lang="en-US" sz="1600" dirty="0" smtClean="0"/>
              <a:t>. PLT[0]</a:t>
            </a:r>
            <a:endParaRPr lang="en-US" sz="1600" dirty="0"/>
          </a:p>
        </p:txBody>
      </p:sp>
      <p:cxnSp>
        <p:nvCxnSpPr>
          <p:cNvPr id="16" name="Straight Arrow Connector 15"/>
          <p:cNvCxnSpPr>
            <a:endCxn id="15" idx="1"/>
          </p:cNvCxnSpPr>
          <p:nvPr/>
        </p:nvCxnSpPr>
        <p:spPr>
          <a:xfrm flipV="1">
            <a:off x="5364120" y="3220675"/>
            <a:ext cx="554080" cy="318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18200" y="1063228"/>
            <a:ext cx="2540084" cy="1077218"/>
          </a:xfrm>
          <a:prstGeom prst="rect">
            <a:avLst/>
          </a:prstGeom>
          <a:noFill/>
          <a:ln>
            <a:solidFill>
              <a:srgbClr val="660066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Jump to the resolver, which resolves the actual address of </a:t>
            </a:r>
            <a:r>
              <a:rPr lang="en-US" sz="1600" dirty="0" err="1" smtClean="0"/>
              <a:t>set_mylib_int</a:t>
            </a:r>
            <a:r>
              <a:rPr lang="en-US" sz="1600" dirty="0" smtClean="0"/>
              <a:t> and fills it into the GOT</a:t>
            </a:r>
            <a:endParaRPr lang="en-US" sz="1600" dirty="0"/>
          </a:p>
        </p:txBody>
      </p:sp>
      <p:cxnSp>
        <p:nvCxnSpPr>
          <p:cNvPr id="18" name="Straight Arrow Connector 17"/>
          <p:cNvCxnSpPr>
            <a:endCxn id="17" idx="1"/>
          </p:cNvCxnSpPr>
          <p:nvPr/>
        </p:nvCxnSpPr>
        <p:spPr>
          <a:xfrm flipV="1">
            <a:off x="4864138" y="1601837"/>
            <a:ext cx="1054062" cy="120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59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Functions are </a:t>
            </a:r>
            <a:r>
              <a:rPr lang="en-US" sz="2800" dirty="0" err="1" smtClean="0"/>
              <a:t>relocatable</a:t>
            </a:r>
            <a:r>
              <a:rPr lang="en-US" sz="2800" dirty="0" smtClean="0"/>
              <a:t>, therefore good for ASLR</a:t>
            </a:r>
          </a:p>
          <a:p>
            <a:r>
              <a:rPr lang="en-US" sz="2800" dirty="0" smtClean="0"/>
              <a:t>Functions resolved only on need, therefore saves time during the load phase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Bypassing ASLR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Brute force</a:t>
            </a:r>
          </a:p>
          <a:p>
            <a:r>
              <a:rPr lang="en-US" dirty="0" smtClean="0"/>
              <a:t>Return-to-PLT</a:t>
            </a:r>
          </a:p>
          <a:p>
            <a:r>
              <a:rPr lang="en-US" dirty="0" smtClean="0"/>
              <a:t>Overwriting the GOT</a:t>
            </a:r>
          </a:p>
          <a:p>
            <a:r>
              <a:rPr lang="en-US" dirty="0" smtClean="0"/>
              <a:t>Timing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9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6396"/>
            <a:ext cx="8229600" cy="13074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Safer Programming Languages,</a:t>
            </a:r>
            <a:br>
              <a:rPr lang="en-US" dirty="0" smtClean="0"/>
            </a:br>
            <a:r>
              <a:rPr lang="en-US" dirty="0" smtClean="0"/>
              <a:t>and Compiler Techniques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7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Arial" charset="0"/>
              </a:rPr>
              <a:t>Other Precautions for buffer overflows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000" dirty="0" smtClean="0">
                <a:latin typeface="Arial" charset="0"/>
              </a:rPr>
              <a:t>Enforce memory safety in programming language</a:t>
            </a:r>
            <a:endParaRPr lang="en-US" sz="2000" dirty="0">
              <a:latin typeface="Arial" charset="0"/>
            </a:endParaRPr>
          </a:p>
          <a:p>
            <a:pPr lvl="1" eaLnBrk="1" hangingPunct="1"/>
            <a:r>
              <a:rPr lang="en-US" sz="1800" dirty="0">
                <a:latin typeface="Arial" charset="0"/>
                <a:cs typeface="Arial" charset="0"/>
              </a:rPr>
              <a:t>Example </a:t>
            </a:r>
            <a:r>
              <a:rPr lang="en-US" sz="1800" dirty="0" smtClean="0">
                <a:latin typeface="Arial" charset="0"/>
                <a:cs typeface="Arial" charset="0"/>
              </a:rPr>
              <a:t>java, C# (slow and not feasible for system programming)</a:t>
            </a:r>
          </a:p>
          <a:p>
            <a:pPr lvl="2"/>
            <a:r>
              <a:rPr lang="en-US" sz="1400" dirty="0" smtClean="0">
                <a:latin typeface="Arial" charset="0"/>
                <a:cs typeface="Arial" charset="0"/>
              </a:rPr>
              <a:t>Cannot replace C and C++. </a:t>
            </a:r>
            <a:br>
              <a:rPr lang="en-US" sz="1400" dirty="0" smtClean="0">
                <a:latin typeface="Arial" charset="0"/>
                <a:cs typeface="Arial" charset="0"/>
              </a:rPr>
            </a:br>
            <a:r>
              <a:rPr lang="en-US" sz="1400" dirty="0" smtClean="0">
                <a:latin typeface="Arial" charset="0"/>
                <a:cs typeface="Arial" charset="0"/>
              </a:rPr>
              <a:t>(Too much software already developed in C / C++)</a:t>
            </a:r>
          </a:p>
          <a:p>
            <a:pPr marL="914400" lvl="2" indent="0">
              <a:buNone/>
            </a:pPr>
            <a:endParaRPr lang="en-US" sz="1400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en-US" sz="1800" dirty="0" smtClean="0">
                <a:latin typeface="Arial" charset="0"/>
                <a:cs typeface="Arial" charset="0"/>
              </a:rPr>
              <a:t>Newer languages like Rust seem promising</a:t>
            </a:r>
          </a:p>
          <a:p>
            <a:pPr marL="457200" lvl="1" indent="0" eaLnBrk="1" hangingPunct="1">
              <a:buNone/>
            </a:pPr>
            <a:endParaRPr lang="en-US" sz="1800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sz="2000" dirty="0">
                <a:latin typeface="Arial" charset="0"/>
              </a:rPr>
              <a:t>Use securer libraries. For example C11 annex K, </a:t>
            </a:r>
            <a:r>
              <a:rPr lang="en-US" sz="2000" dirty="0" err="1">
                <a:latin typeface="Arial" charset="0"/>
              </a:rPr>
              <a:t>gets_s</a:t>
            </a:r>
            <a:r>
              <a:rPr lang="en-US" sz="2000" dirty="0">
                <a:latin typeface="Arial" charset="0"/>
              </a:rPr>
              <a:t>, </a:t>
            </a:r>
            <a:r>
              <a:rPr lang="en-US" sz="2000" dirty="0" err="1">
                <a:latin typeface="Arial" charset="0"/>
              </a:rPr>
              <a:t>strcpy_s</a:t>
            </a:r>
            <a:r>
              <a:rPr lang="en-US" sz="2000" dirty="0">
                <a:latin typeface="Arial" charset="0"/>
              </a:rPr>
              <a:t>, </a:t>
            </a:r>
            <a:r>
              <a:rPr lang="en-US" sz="2000" dirty="0" err="1">
                <a:latin typeface="Arial" charset="0"/>
              </a:rPr>
              <a:t>strncpy_s</a:t>
            </a:r>
            <a:r>
              <a:rPr lang="en-US" sz="2000" dirty="0">
                <a:latin typeface="Arial" charset="0"/>
              </a:rPr>
              <a:t>, etc.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Arial" charset="0"/>
              </a:rPr>
              <a:t>   (_s is for secure</a:t>
            </a:r>
            <a:r>
              <a:rPr lang="en-US" sz="2000" dirty="0" smtClean="0">
                <a:latin typeface="Arial" charset="0"/>
              </a:rPr>
              <a:t>)</a:t>
            </a: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>
              <a:buFontTx/>
              <a:buNone/>
            </a:pPr>
            <a:endParaRPr lang="en-US" sz="2000" dirty="0">
              <a:latin typeface="Arial" charset="0"/>
            </a:endParaRPr>
          </a:p>
          <a:p>
            <a:pPr eaLnBrk="1" hangingPunct="1"/>
            <a:endParaRPr lang="en-US" sz="2000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Compile Bounds </a:t>
            </a:r>
            <a:r>
              <a:rPr lang="en-US" dirty="0">
                <a:latin typeface="Arial" charset="0"/>
              </a:rPr>
              <a:t>Checking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Arial" charset="0"/>
              </a:rPr>
              <a:t>Check accesses to each buffer so that it cannot be beyond the bounds</a:t>
            </a:r>
          </a:p>
          <a:p>
            <a:pPr eaLnBrk="1" hangingPunct="1"/>
            <a:r>
              <a:rPr lang="en-US" sz="2000" dirty="0">
                <a:latin typeface="Arial" charset="0"/>
              </a:rPr>
              <a:t>In C and C++, bound checking performed at pointer calculation time or dereference time.</a:t>
            </a:r>
          </a:p>
          <a:p>
            <a:pPr eaLnBrk="1" hangingPunct="1"/>
            <a:r>
              <a:rPr lang="en-US" sz="2000" dirty="0">
                <a:latin typeface="Arial" charset="0"/>
              </a:rPr>
              <a:t>Requires run-time bound information for each allocated block</a:t>
            </a:r>
            <a:r>
              <a:rPr lang="en-US" sz="2000" dirty="0" smtClean="0">
                <a:latin typeface="Arial" charset="0"/>
              </a:rPr>
              <a:t>.</a:t>
            </a:r>
          </a:p>
          <a:p>
            <a:pPr eaLnBrk="1" hangingPunct="1"/>
            <a:r>
              <a:rPr lang="en-US" sz="2000" dirty="0" smtClean="0">
                <a:latin typeface="Arial" charset="0"/>
              </a:rPr>
              <a:t>Two methodologies</a:t>
            </a:r>
          </a:p>
          <a:p>
            <a:pPr lvl="1"/>
            <a:r>
              <a:rPr lang="en-US" sz="1600" dirty="0" smtClean="0">
                <a:latin typeface="Arial" charset="0"/>
              </a:rPr>
              <a:t>Object based techniques</a:t>
            </a:r>
          </a:p>
          <a:p>
            <a:pPr lvl="1"/>
            <a:r>
              <a:rPr lang="en-US" sz="1600" dirty="0" smtClean="0">
                <a:latin typeface="Arial" charset="0"/>
              </a:rPr>
              <a:t>Pointer based techniques	</a:t>
            </a:r>
            <a:endParaRPr lang="en-US" sz="1600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99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4573056"/>
            <a:ext cx="8229600" cy="646331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Softbound : Highly Compatible and Complete Spatial Memory Safety for C</a:t>
            </a:r>
          </a:p>
          <a:p>
            <a:r>
              <a:rPr lang="en-US" dirty="0" err="1" smtClean="0"/>
              <a:t>Santosh</a:t>
            </a:r>
            <a:r>
              <a:rPr lang="en-US" dirty="0" smtClean="0"/>
              <a:t> </a:t>
            </a:r>
            <a:r>
              <a:rPr lang="en-US" dirty="0" err="1" smtClean="0"/>
              <a:t>Nagarakatte</a:t>
            </a:r>
            <a:r>
              <a:rPr lang="en-US" dirty="0" smtClean="0"/>
              <a:t>, </a:t>
            </a:r>
            <a:r>
              <a:rPr lang="en-US" dirty="0" err="1" smtClean="0"/>
              <a:t>Jianzhou</a:t>
            </a:r>
            <a:r>
              <a:rPr lang="en-US" dirty="0" smtClean="0"/>
              <a:t> Zhao, Milo M. K. Martin, and Steve </a:t>
            </a:r>
            <a:r>
              <a:rPr lang="en-US" dirty="0" err="1" smtClean="0"/>
              <a:t>Zdancewic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53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Softbound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Every pointer in the program is associated with a base and bound</a:t>
            </a:r>
          </a:p>
          <a:p>
            <a:r>
              <a:rPr lang="en-US" sz="2000" dirty="0" smtClean="0"/>
              <a:t>Before every pointer dereference to verify to verify if the dereference is legally permitted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These checks are automatically inserted at compile time for all pointer variables. For non-pointers, this check is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100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447" y="2001440"/>
            <a:ext cx="5015089" cy="1619063"/>
          </a:xfrm>
          <a:prstGeom prst="rect">
            <a:avLst/>
          </a:prstGeom>
          <a:ln>
            <a:solidFill>
              <a:srgbClr val="660066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3" y="2000567"/>
            <a:ext cx="3372557" cy="664950"/>
          </a:xfrm>
          <a:prstGeom prst="rect">
            <a:avLst/>
          </a:prstGeom>
          <a:ln>
            <a:solidFill>
              <a:srgbClr val="660066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44" y="2823062"/>
            <a:ext cx="2880078" cy="797441"/>
          </a:xfrm>
          <a:prstGeom prst="rect">
            <a:avLst/>
          </a:prstGeom>
          <a:ln>
            <a:solidFill>
              <a:srgbClr val="660066"/>
            </a:solidFill>
          </a:ln>
        </p:spPr>
      </p:pic>
    </p:spTree>
    <p:extLst>
      <p:ext uri="{BB962C8B-B14F-4D97-AF65-F5344CB8AC3E}">
        <p14:creationId xmlns:p14="http://schemas.microsoft.com/office/powerpoint/2010/main" val="164942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Softbound – more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pointer arithmetic and assignment</a:t>
            </a:r>
            <a:br>
              <a:rPr lang="en-US" sz="2400" b="1" dirty="0" smtClean="0"/>
            </a:br>
            <a:r>
              <a:rPr lang="en-US" sz="2400" dirty="0" smtClean="0"/>
              <a:t>The new pointer inherits the base and bound of the original pointer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No specific checks are required, until dereferencing is done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101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131484"/>
            <a:ext cx="5981700" cy="828675"/>
          </a:xfrm>
          <a:prstGeom prst="rect">
            <a:avLst/>
          </a:prstGeom>
          <a:ln>
            <a:solidFill>
              <a:srgbClr val="660066"/>
            </a:solidFill>
          </a:ln>
        </p:spPr>
      </p:pic>
    </p:spTree>
    <p:extLst>
      <p:ext uri="{BB962C8B-B14F-4D97-AF65-F5344CB8AC3E}">
        <p14:creationId xmlns:p14="http://schemas.microsoft.com/office/powerpoint/2010/main" val="227553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Storing Metadata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Table maintained for metadata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102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4" y="1566335"/>
            <a:ext cx="4921250" cy="1190625"/>
          </a:xfrm>
          <a:prstGeom prst="rect">
            <a:avLst/>
          </a:prstGeom>
          <a:ln>
            <a:solidFill>
              <a:srgbClr val="660066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84" y="3000376"/>
            <a:ext cx="4347634" cy="1084781"/>
          </a:xfrm>
          <a:prstGeom prst="rect">
            <a:avLst/>
          </a:prstGeom>
          <a:ln>
            <a:solidFill>
              <a:srgbClr val="660066"/>
            </a:solidFill>
          </a:ln>
        </p:spPr>
      </p:pic>
    </p:spTree>
    <p:extLst>
      <p:ext uri="{BB962C8B-B14F-4D97-AF65-F5344CB8AC3E}">
        <p14:creationId xmlns:p14="http://schemas.microsoft.com/office/powerpoint/2010/main" val="332487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Softbound – more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Pointers passed to functions</a:t>
            </a:r>
          </a:p>
          <a:p>
            <a:pPr lvl="1"/>
            <a:r>
              <a:rPr lang="en-US" sz="2000" dirty="0" smtClean="0"/>
              <a:t>If pointers are </a:t>
            </a:r>
            <a:r>
              <a:rPr lang="en-US" sz="2000" b="1" dirty="0" smtClean="0"/>
              <a:t>passed by the stack</a:t>
            </a:r>
            <a:br>
              <a:rPr lang="en-US" sz="2000" b="1" dirty="0" smtClean="0"/>
            </a:br>
            <a:r>
              <a:rPr lang="en-US" sz="2000" dirty="0" smtClean="0"/>
              <a:t>no issues. The compiler can put information related to metadata onto the stack</a:t>
            </a:r>
          </a:p>
          <a:p>
            <a:pPr lvl="1"/>
            <a:r>
              <a:rPr lang="en-US" sz="2000" dirty="0" smtClean="0"/>
              <a:t>If pointers </a:t>
            </a:r>
            <a:r>
              <a:rPr lang="en-US" sz="2000" b="1" dirty="0" smtClean="0"/>
              <a:t>passed by registers.</a:t>
            </a:r>
          </a:p>
          <a:p>
            <a:pPr marL="457200" lvl="1" indent="0">
              <a:buNone/>
            </a:pPr>
            <a:r>
              <a:rPr lang="en-US" sz="2000" dirty="0" smtClean="0"/>
              <a:t>   Compiler modifies every function declaration to    </a:t>
            </a:r>
          </a:p>
          <a:p>
            <a:pPr marL="457200" lvl="1" indent="0">
              <a:buNone/>
            </a:pPr>
            <a:r>
              <a:rPr lang="en-US" sz="2000" dirty="0" smtClean="0"/>
              <a:t>   add more arguments related to metadata </a:t>
            </a:r>
          </a:p>
          <a:p>
            <a:pPr marL="457200" lvl="1" indent="0">
              <a:buNone/>
            </a:pPr>
            <a:r>
              <a:rPr lang="en-US" sz="2000" dirty="0" smtClean="0"/>
              <a:t>   For each function parameter that is a pointer, the corresponding base   </a:t>
            </a:r>
          </a:p>
          <a:p>
            <a:pPr marL="457200" lvl="1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and bound values are also sent to the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A548-B2ED-8C42-9E64-DB4B1D814103}" type="slidenum">
              <a:rPr lang="en-US" smtClean="0"/>
              <a:t>103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91" y="3738307"/>
            <a:ext cx="2503311" cy="1077122"/>
          </a:xfrm>
          <a:prstGeom prst="rect">
            <a:avLst/>
          </a:prstGeom>
          <a:ln>
            <a:solidFill>
              <a:srgbClr val="660066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572" y="3735916"/>
            <a:ext cx="5508987" cy="1086908"/>
          </a:xfrm>
          <a:prstGeom prst="rect">
            <a:avLst/>
          </a:prstGeom>
          <a:ln>
            <a:solidFill>
              <a:srgbClr val="660066"/>
            </a:solidFill>
          </a:ln>
        </p:spPr>
      </p:pic>
      <p:sp>
        <p:nvSpPr>
          <p:cNvPr id="10" name="Right Arrow 9"/>
          <p:cNvSpPr/>
          <p:nvPr/>
        </p:nvSpPr>
        <p:spPr>
          <a:xfrm>
            <a:off x="2921000" y="4138083"/>
            <a:ext cx="508000" cy="201084"/>
          </a:xfrm>
          <a:prstGeom prst="rightArrow">
            <a:avLst/>
          </a:prstGeom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8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47422</TotalTime>
  <Words>4053</Words>
  <Application>Microsoft Office PowerPoint</Application>
  <PresentationFormat>On-screen Show (16:9)</PresentationFormat>
  <Paragraphs>1124</Paragraphs>
  <Slides>103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1" baseType="lpstr">
      <vt:lpstr>ＭＳ Ｐゴシック</vt:lpstr>
      <vt:lpstr>Apple Chancery</vt:lpstr>
      <vt:lpstr>Arial</vt:lpstr>
      <vt:lpstr>Calibri</vt:lpstr>
      <vt:lpstr>Courier New</vt:lpstr>
      <vt:lpstr>Mangal</vt:lpstr>
      <vt:lpstr>Wingdings</vt:lpstr>
      <vt:lpstr>Office Theme</vt:lpstr>
      <vt:lpstr>Secure Systems Engineering  Binary Exploitation 1 </vt:lpstr>
      <vt:lpstr>Parts of Malware</vt:lpstr>
      <vt:lpstr>Parts of Malware</vt:lpstr>
      <vt:lpstr>Subvert Execution</vt:lpstr>
      <vt:lpstr>Buffer Overflows in the Stack</vt:lpstr>
      <vt:lpstr>Stack in a Program (when function is executing)</vt:lpstr>
      <vt:lpstr>Stack in a Program (when function is executing)</vt:lpstr>
      <vt:lpstr>Stack Usage (example)</vt:lpstr>
      <vt:lpstr>Stack Usage</vt:lpstr>
      <vt:lpstr>Modifying the Return Address</vt:lpstr>
      <vt:lpstr>Big Picture of the exploit (execute an arbitrary payload)</vt:lpstr>
      <vt:lpstr>Payload</vt:lpstr>
      <vt:lpstr>Step 1 : Get machine codes</vt:lpstr>
      <vt:lpstr>Step 2: Find Buffer overflow in an application</vt:lpstr>
      <vt:lpstr>Step 3 : Put Machine Code in Large String</vt:lpstr>
      <vt:lpstr>Step 3 (contd) :  Fill up Large String with BA</vt:lpstr>
      <vt:lpstr>Final state of Stack</vt:lpstr>
      <vt:lpstr>Putting it all together</vt:lpstr>
      <vt:lpstr>Buffer overflow in the Wild</vt:lpstr>
      <vt:lpstr>CODERED Worm</vt:lpstr>
      <vt:lpstr>Some Defense Mechanisms already Incorporated</vt:lpstr>
      <vt:lpstr>Some Defense Mechanisms already Incorporated</vt:lpstr>
      <vt:lpstr>Defenses</vt:lpstr>
      <vt:lpstr>Points to Ponder</vt:lpstr>
      <vt:lpstr>Preventing Buffer Overflows with Canaries and W^X</vt:lpstr>
      <vt:lpstr>Canaries</vt:lpstr>
      <vt:lpstr>Canaries and gcc</vt:lpstr>
      <vt:lpstr>Canaries Example</vt:lpstr>
      <vt:lpstr>Canaries Example</vt:lpstr>
      <vt:lpstr>Canaries Example</vt:lpstr>
      <vt:lpstr>Canary Internals</vt:lpstr>
      <vt:lpstr>Non Executable Stacks (W^X)</vt:lpstr>
      <vt:lpstr>Some Defense Mechanisms already Incorporated</vt:lpstr>
      <vt:lpstr>Points to Ponder</vt:lpstr>
      <vt:lpstr>PowerPoint Presentation</vt:lpstr>
      <vt:lpstr>libc</vt:lpstr>
      <vt:lpstr>Return to Libc (replace return address to point to a function within libc)</vt:lpstr>
      <vt:lpstr>F1 = system()</vt:lpstr>
      <vt:lpstr>The return-to-libc attack</vt:lpstr>
      <vt:lpstr>Find address of system in the executable</vt:lpstr>
      <vt:lpstr>Find address of /bin/bash</vt:lpstr>
      <vt:lpstr>The final exploit Stack</vt:lpstr>
      <vt:lpstr>A clean exit</vt:lpstr>
      <vt:lpstr>Limitation of ret2libc</vt:lpstr>
      <vt:lpstr>Return Oriented Programming (ROP)</vt:lpstr>
      <vt:lpstr>Return Oriented Programming Attacks</vt:lpstr>
      <vt:lpstr>Target Payload</vt:lpstr>
      <vt:lpstr>Step 1: Find Gadgets</vt:lpstr>
      <vt:lpstr>Step 2: Stitching</vt:lpstr>
      <vt:lpstr>Step 3: Construct the Stack</vt:lpstr>
      <vt:lpstr>Step 3: Construct the Stack</vt:lpstr>
      <vt:lpstr>Step 3: Construct the Stack</vt:lpstr>
      <vt:lpstr>Step 3: Construct the Stack</vt:lpstr>
      <vt:lpstr>Finding Gadgets</vt:lpstr>
      <vt:lpstr>Finding Gadgets</vt:lpstr>
      <vt:lpstr>Intended vs Unintended Instructions</vt:lpstr>
      <vt:lpstr>More about Gadgets</vt:lpstr>
      <vt:lpstr>Stitching Gadgets</vt:lpstr>
      <vt:lpstr>Store Gadget</vt:lpstr>
      <vt:lpstr>Gadget for addition</vt:lpstr>
      <vt:lpstr>Gadget for addition (put 0xc3 into %edi)</vt:lpstr>
      <vt:lpstr>Unconditional Branch in ROP</vt:lpstr>
      <vt:lpstr>Tools</vt:lpstr>
      <vt:lpstr>Address Space Layout Randomization (ASLR)</vt:lpstr>
      <vt:lpstr>The Attacker’s Plan</vt:lpstr>
      <vt:lpstr>ROP Attack</vt:lpstr>
      <vt:lpstr>Address Space Randomization</vt:lpstr>
      <vt:lpstr>ASLR in the Linux Kernel</vt:lpstr>
      <vt:lpstr>ASLR in Action</vt:lpstr>
      <vt:lpstr>ASLR in the Linux Kernel</vt:lpstr>
      <vt:lpstr>Internals : Making code relocatable</vt:lpstr>
      <vt:lpstr>Load Time Relocatable</vt:lpstr>
      <vt:lpstr>Load Time Relocatable</vt:lpstr>
      <vt:lpstr>Load Time Relocatable</vt:lpstr>
      <vt:lpstr>Load Time Relocatable</vt:lpstr>
      <vt:lpstr>Load Time Relocatable</vt:lpstr>
      <vt:lpstr>PIC Internals</vt:lpstr>
      <vt:lpstr>Global Offset Table (GOT)</vt:lpstr>
      <vt:lpstr>Enforcing Relative Addressing (example)</vt:lpstr>
      <vt:lpstr>Enforcing Relative Addressing (example)</vt:lpstr>
      <vt:lpstr>Advantage of the GOT</vt:lpstr>
      <vt:lpstr>An Example of working with GOT</vt:lpstr>
      <vt:lpstr>PowerPoint Presentation</vt:lpstr>
      <vt:lpstr>More</vt:lpstr>
      <vt:lpstr>Deep Within the Kernel  (randomizing the data section)</vt:lpstr>
      <vt:lpstr>Function Calls in PIC</vt:lpstr>
      <vt:lpstr>The PLT</vt:lpstr>
      <vt:lpstr>First Invocation of Func</vt:lpstr>
      <vt:lpstr>First Invocation of Func</vt:lpstr>
      <vt:lpstr>Subsequent invocations of Func</vt:lpstr>
      <vt:lpstr>Example of PLT</vt:lpstr>
      <vt:lpstr>Example of PLT</vt:lpstr>
      <vt:lpstr>Example of PLT</vt:lpstr>
      <vt:lpstr>Example of PLT</vt:lpstr>
      <vt:lpstr>Advantages</vt:lpstr>
      <vt:lpstr>Bypassing ASLR</vt:lpstr>
      <vt:lpstr>Safer Programming Languages, and Compiler Techniques</vt:lpstr>
      <vt:lpstr>Other Precautions for buffer overflows</vt:lpstr>
      <vt:lpstr>Compile Bounds Checking</vt:lpstr>
      <vt:lpstr>Softbound</vt:lpstr>
      <vt:lpstr>Softbound – more details</vt:lpstr>
      <vt:lpstr>Storing Metadata</vt:lpstr>
      <vt:lpstr>Softbound – more details</vt:lpstr>
    </vt:vector>
  </TitlesOfParts>
  <Manager/>
  <Company>IIT Madras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Systems Engineering</dc:title>
  <dc:subject>Buffer Overflow : Threats and Mitigations</dc:subject>
  <dc:creator>Chester Rebeiro</dc:creator>
  <cp:keywords/>
  <dc:description/>
  <cp:lastModifiedBy>NPTEL_MSB203</cp:lastModifiedBy>
  <cp:revision>291</cp:revision>
  <cp:lastPrinted>2017-08-17T14:59:19Z</cp:lastPrinted>
  <dcterms:created xsi:type="dcterms:W3CDTF">2017-05-23T06:29:27Z</dcterms:created>
  <dcterms:modified xsi:type="dcterms:W3CDTF">2018-09-15T07:38:27Z</dcterms:modified>
  <cp:category/>
</cp:coreProperties>
</file>